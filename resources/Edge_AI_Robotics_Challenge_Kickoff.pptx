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60" r:id="rId5"/>
    <p:sldId id="273" r:id="rId6"/>
    <p:sldId id="261" r:id="rId7"/>
    <p:sldId id="274" r:id="rId8"/>
    <p:sldId id="263" r:id="rId9"/>
    <p:sldId id="264" r:id="rId10"/>
    <p:sldId id="266" r:id="rId11"/>
    <p:sldId id="275" r:id="rId12"/>
    <p:sldId id="259" r:id="rId13"/>
    <p:sldId id="277" r:id="rId14"/>
    <p:sldId id="276" r:id="rId15"/>
    <p:sldId id="268" r:id="rId16"/>
    <p:sldId id="269"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1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075" autoAdjust="0"/>
  </p:normalViewPr>
  <p:slideViewPr>
    <p:cSldViewPr snapToGrid="0">
      <p:cViewPr varScale="1">
        <p:scale>
          <a:sx n="83" d="100"/>
          <a:sy n="83" d="100"/>
        </p:scale>
        <p:origin x="89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effectLst/>
              </a:rPr>
              <a:t>Good afternoon everyone, and thank you for joining the kick-off meeting. My name is Jingwei Dong. I am a postdoc of NSE department.</a:t>
            </a:r>
            <a:endParaRPr lang="zh-CN" altLang="zh-CN" sz="1200" kern="1200" dirty="0">
              <a:effectLst/>
            </a:endParaRPr>
          </a:p>
          <a:p>
            <a:r>
              <a:rPr lang="en-US" altLang="zh-CN" sz="1200" kern="1200" dirty="0">
                <a:effectLst/>
              </a:rPr>
              <a:t>Today, I will first give you an overview of the challenge, explain the competition tasks, then introduce the robot platform and development environment, and finally go through the expected development timeline and next steps.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effectLst/>
              </a:rPr>
              <a:t>Here is a brief overview of the challenge. </a:t>
            </a:r>
            <a:endParaRPr lang="zh-CN" altLang="zh-CN" sz="1200" kern="1200" dirty="0">
              <a:effectLst/>
            </a:endParaRPr>
          </a:p>
          <a:p>
            <a:r>
              <a:rPr lang="en-US" altLang="zh-CN" sz="1200" kern="1200" dirty="0">
                <a:effectLst/>
              </a:rPr>
              <a:t>In this challenge, each team will work with a group of approximately four wheeled mobile robots operating in an initially unknown indoor environment. The overall scenario is inspired by search-and-rescue applications, where the robots need to explore the environment, identify targets, and then cooperate to complete different rescue tasks. </a:t>
            </a:r>
            <a:endParaRPr lang="zh-CN" altLang="zh-CN" sz="1200" kern="1200" dirty="0">
              <a:effectLst/>
            </a:endParaRPr>
          </a:p>
          <a:p>
            <a:r>
              <a:rPr lang="en-US" altLang="zh-CN" sz="1200" kern="1200" dirty="0">
                <a:effectLst/>
              </a:rPr>
              <a:t>During the mission, the robots will need to build up information about the environment, detect and localize different targets, and share this information with each other and with the edge node. </a:t>
            </a:r>
            <a:endParaRPr lang="zh-CN" altLang="zh-CN" sz="1200" kern="1200" dirty="0">
              <a:effectLst/>
            </a:endParaRPr>
          </a:p>
          <a:p>
            <a:r>
              <a:rPr lang="en-US" altLang="zh-CN" sz="1200" kern="1200" dirty="0">
                <a:effectLst/>
              </a:rPr>
              <a:t>Based on the current system state, the team will also need to decide how tasks should be allocated among the robots and, in some cases, how multiple robots should cooperate to complete one task. </a:t>
            </a:r>
            <a:endParaRPr lang="zh-CN" altLang="zh-CN" sz="1200" kern="1200" dirty="0">
              <a:effectLst/>
            </a:endParaRPr>
          </a:p>
          <a:p>
            <a:r>
              <a:rPr lang="en-US" altLang="zh-CN" sz="1200" kern="1200" dirty="0">
                <a:effectLst/>
              </a:rPr>
              <a:t>Later in the challenge, the mission may also be updated, so the system should be able to adapt its behavior accordingly. At the same time, computation, communication, or energy consumption are also part of the overall system design. </a:t>
            </a:r>
            <a:endParaRPr lang="zh-CN" altLang="zh-CN" sz="1200" kern="1200" dirty="0">
              <a:effectLst/>
            </a:endParaRPr>
          </a:p>
          <a:p>
            <a:r>
              <a:rPr lang="en-US" altLang="zh-CN" sz="1200" kern="1200" dirty="0">
                <a:effectLst/>
              </a:rPr>
              <a:t>So the challenge is not only about robotics. The main idea is to bring together </a:t>
            </a:r>
            <a:r>
              <a:rPr lang="en-US" altLang="zh-CN" sz="1200" b="1" kern="1200" dirty="0">
                <a:effectLst/>
              </a:rPr>
              <a:t>AI, robotics, edge computing, communication, and control</a:t>
            </a:r>
            <a:r>
              <a:rPr lang="en-US" altLang="zh-CN" sz="1200" kern="1200" dirty="0">
                <a:effectLst/>
              </a:rPr>
              <a:t> in one integrated multi-robot system.</a:t>
            </a:r>
            <a:endParaRPr lang="zh-CN" altLang="zh-CN" sz="1200" kern="1200" dirty="0">
              <a:effectLst/>
            </a:endParaRP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effectLst/>
              </a:rPr>
              <a:t>This is the overall system architecture of the challenge. </a:t>
            </a:r>
            <a:endParaRPr lang="zh-CN" altLang="zh-CN" sz="1200" kern="1200" dirty="0">
              <a:effectLst/>
            </a:endParaRPr>
          </a:p>
          <a:p>
            <a:r>
              <a:rPr lang="en-US" altLang="zh-CN" sz="1200" kern="1200" dirty="0">
                <a:effectLst/>
              </a:rPr>
              <a:t>The system mainly consists of three parts: the mobile robot team, the edge computing node, and the human operator together with the LLM-based mission interface. </a:t>
            </a:r>
            <a:endParaRPr lang="zh-CN" altLang="zh-CN" sz="1200" kern="1200" dirty="0">
              <a:effectLst/>
            </a:endParaRPr>
          </a:p>
          <a:p>
            <a:r>
              <a:rPr lang="en-US" altLang="zh-CN" sz="1200" kern="1200" dirty="0">
                <a:effectLst/>
              </a:rPr>
              <a:t>First, the robots are responsible for the local physical interaction with the environment. They perform sensing, local computation, motion control, exploration, and autonomous navigation. They can also exchange local information with each other when needed. </a:t>
            </a:r>
            <a:endParaRPr lang="zh-CN" altLang="zh-CN" sz="1200" kern="1200" dirty="0">
              <a:effectLst/>
            </a:endParaRPr>
          </a:p>
          <a:p>
            <a:r>
              <a:rPr lang="en-US" altLang="zh-CN" sz="1200" kern="1200" dirty="0">
                <a:effectLst/>
              </a:rPr>
              <a:t>Second, each team will have access to one edge computing node. The edge node can be used as a </a:t>
            </a:r>
            <a:r>
              <a:rPr lang="en-US" altLang="zh-CN" sz="1200" b="1" kern="1200" dirty="0">
                <a:effectLst/>
              </a:rPr>
              <a:t>shared computing and coordination platform</a:t>
            </a:r>
            <a:r>
              <a:rPr lang="en-US" altLang="zh-CN" sz="1200" kern="1200" dirty="0">
                <a:effectLst/>
              </a:rPr>
              <a:t>. For example, teams may use it for multi-robot coordination, map or state aggregation, task allocation, perception, or other computation that they do not want to run directly onboard the robots. </a:t>
            </a:r>
            <a:endParaRPr lang="zh-CN" altLang="zh-CN" sz="1200" kern="1200" dirty="0">
              <a:effectLst/>
            </a:endParaRPr>
          </a:p>
          <a:p>
            <a:r>
              <a:rPr lang="en-US" altLang="zh-CN" sz="1200" kern="1200" dirty="0">
                <a:effectLst/>
              </a:rPr>
              <a:t>We do not want to prescribe a fixed architecture here. Teams can decide what should run onboard the robots and what should be executed on the edge node. </a:t>
            </a:r>
            <a:endParaRPr lang="zh-CN" altLang="zh-CN" sz="1200" kern="1200" dirty="0">
              <a:effectLst/>
            </a:endParaRPr>
          </a:p>
          <a:p>
            <a:r>
              <a:rPr lang="en-US" altLang="zh-CN" sz="1200" kern="1200" dirty="0">
                <a:effectLst/>
              </a:rPr>
              <a:t>Finally, in the LLM-guided part of the challenge, the human operator can provide high-level mission updates in natural language. The LLM then interprets these instructions and converts them into a form that can be used by the multi-robot system. </a:t>
            </a:r>
            <a:endParaRPr lang="zh-CN" altLang="zh-CN" sz="1200" kern="1200" dirty="0">
              <a:effectLst/>
            </a:endParaRPr>
          </a:p>
          <a:p>
            <a:r>
              <a:rPr lang="en-US" altLang="zh-CN" sz="1200" kern="1200" dirty="0">
                <a:effectLst/>
              </a:rPr>
              <a:t>So, at a high level, the robots handle local sensing and execution, the edge node supports shared computation and coordination, and the operator provides high-level mission input.</a:t>
            </a:r>
            <a:endParaRPr lang="zh-CN" altLang="zh-CN" sz="1200" kern="1200" dirty="0">
              <a:effectLst/>
            </a:endParaRP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effectLst/>
              </a:rPr>
              <a:t>This slide shows an illustrative version of the competition environment. </a:t>
            </a:r>
            <a:endParaRPr lang="zh-CN" altLang="zh-CN" sz="1200" kern="1200" dirty="0">
              <a:effectLst/>
            </a:endParaRPr>
          </a:p>
          <a:p>
            <a:r>
              <a:rPr lang="en-US" altLang="zh-CN" sz="1200" kern="1200" dirty="0">
                <a:effectLst/>
              </a:rPr>
              <a:t>The arena will be an indoor, flat-floor environment of approximately five by five meters, although the exact dimensions are still to be finalized. The arena will contain rooms, walls, and several static obstacles. </a:t>
            </a:r>
          </a:p>
          <a:p>
            <a:r>
              <a:rPr lang="en-US" altLang="zh-CN" sz="1200" kern="1200" dirty="0">
                <a:effectLst/>
              </a:rPr>
              <a:t>The exact layout used in the competition will not be known to the teams in advance. </a:t>
            </a:r>
            <a:endParaRPr lang="zh-CN" altLang="zh-CN" sz="1200" kern="1200" dirty="0">
              <a:effectLst/>
            </a:endParaRPr>
          </a:p>
          <a:p>
            <a:r>
              <a:rPr lang="en-US" altLang="zh-CN" sz="1200" kern="1200" dirty="0">
                <a:effectLst/>
              </a:rPr>
              <a:t>The rescue targets will be represented by </a:t>
            </a:r>
            <a:r>
              <a:rPr lang="en-US" altLang="zh-CN" sz="1200" kern="1200" dirty="0" err="1">
                <a:effectLst/>
              </a:rPr>
              <a:t>ArUco</a:t>
            </a:r>
            <a:r>
              <a:rPr lang="en-US" altLang="zh-CN" sz="1200" kern="1200" dirty="0">
                <a:effectLst/>
              </a:rPr>
              <a:t> markers. We consider two types of targets: </a:t>
            </a:r>
            <a:r>
              <a:rPr lang="en-US" altLang="zh-CN" sz="1200" b="1" kern="1200" dirty="0">
                <a:effectLst/>
              </a:rPr>
              <a:t>Normal Targets</a:t>
            </a:r>
            <a:r>
              <a:rPr lang="en-US" altLang="zh-CN" sz="1200" kern="1200" dirty="0">
                <a:effectLst/>
              </a:rPr>
              <a:t> and </a:t>
            </a:r>
            <a:r>
              <a:rPr lang="en-US" altLang="zh-CN" sz="1200" b="1" kern="1200" dirty="0">
                <a:effectLst/>
              </a:rPr>
              <a:t>Cooperative Targets</a:t>
            </a:r>
            <a:r>
              <a:rPr lang="en-US" altLang="zh-CN" sz="1200" kern="1200" dirty="0">
                <a:effectLst/>
              </a:rPr>
              <a:t>. </a:t>
            </a:r>
            <a:endParaRPr lang="zh-CN" altLang="zh-CN" sz="1200" kern="1200" dirty="0">
              <a:effectLst/>
            </a:endParaRPr>
          </a:p>
          <a:p>
            <a:r>
              <a:rPr lang="en-US" altLang="zh-CN" sz="1200" kern="1200" dirty="0">
                <a:effectLst/>
              </a:rPr>
              <a:t>Each target is associated with one or more predefined Rescue Zones. For a Normal Target, there is one Rescue Zone. For a Cooperative Target, there are two Rescue Zones, because two different robots will need to cooperate to complete the task. </a:t>
            </a:r>
            <a:endParaRPr lang="zh-CN" altLang="zh-CN" sz="1200" kern="1200" dirty="0">
              <a:effectLst/>
            </a:endParaRPr>
          </a:p>
          <a:p>
            <a:r>
              <a:rPr lang="en-US" altLang="zh-CN" sz="1200" kern="1200" dirty="0">
                <a:effectLst/>
              </a:rPr>
              <a:t>A rescue is considered complete when the required robot, or robots, enter the corresponding Rescue Zone and remain there continuously for a specified duration. </a:t>
            </a:r>
            <a:endParaRPr lang="zh-CN" altLang="zh-CN" sz="1200" kern="1200" dirty="0">
              <a:effectLst/>
            </a:endParaRPr>
          </a:p>
          <a:p>
            <a:r>
              <a:rPr lang="en-US" altLang="zh-CN" sz="1200" kern="1200" dirty="0">
                <a:effectLst/>
              </a:rPr>
              <a:t>So the arena itself is relatively simple, but the main difficulty comes from exploring an unknown layout, detecting and localizing the targets, and then coordinating the robots to complete the rescue tasks.</a:t>
            </a:r>
            <a:endParaRPr lang="zh-CN" altLang="zh-CN" sz="120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5CE0C-214C-1FD9-1617-56BF5AE08A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49D064-C945-14D3-CC0A-3DCB35E007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7DD4DB-A58D-4E06-83FB-D1790C781F41}"/>
              </a:ext>
            </a:extLst>
          </p:cNvPr>
          <p:cNvSpPr>
            <a:spLocks noGrp="1"/>
          </p:cNvSpPr>
          <p:nvPr>
            <p:ph type="body" idx="1"/>
          </p:nvPr>
        </p:nvSpPr>
        <p:spPr/>
        <p:txBody>
          <a:bodyPr/>
          <a:lstStyle/>
          <a:p>
            <a:r>
              <a:rPr lang="en-US" altLang="zh-CN" sz="1200" kern="1200" dirty="0">
                <a:effectLst/>
              </a:rPr>
              <a:t>This slide shows the overall competition flow. The challenge is divided into two main tasks. </a:t>
            </a:r>
            <a:endParaRPr lang="zh-CN" altLang="zh-CN" sz="1200" kern="1200" dirty="0">
              <a:effectLst/>
            </a:endParaRPr>
          </a:p>
          <a:p>
            <a:r>
              <a:rPr lang="en-US" altLang="zh-CN" sz="1200" kern="1200" dirty="0">
                <a:effectLst/>
              </a:rPr>
              <a:t>In </a:t>
            </a:r>
            <a:r>
              <a:rPr lang="en-US" altLang="zh-CN" sz="1200" b="1" kern="1200" dirty="0">
                <a:effectLst/>
              </a:rPr>
              <a:t>Task 1</a:t>
            </a:r>
            <a:r>
              <a:rPr lang="en-US" altLang="zh-CN" sz="1200" kern="1200" dirty="0">
                <a:effectLst/>
              </a:rPr>
              <a:t>, the robots first explore the unknown environment, build a map, and detect and localize the rescue targets. At the end of Task 1, the team needs to save the outputs, including the map and the target information. </a:t>
            </a:r>
            <a:endParaRPr lang="zh-CN" altLang="zh-CN" sz="1200" kern="1200" dirty="0">
              <a:effectLst/>
            </a:endParaRPr>
          </a:p>
          <a:p>
            <a:r>
              <a:rPr lang="en-US" altLang="zh-CN" sz="1200" kern="1200" dirty="0">
                <a:effectLst/>
              </a:rPr>
              <a:t>These outputs are then handed over to </a:t>
            </a:r>
            <a:r>
              <a:rPr lang="en-US" altLang="zh-CN" sz="1200" b="1" kern="1200" dirty="0">
                <a:effectLst/>
              </a:rPr>
              <a:t>Task 2A</a:t>
            </a:r>
            <a:r>
              <a:rPr lang="en-US" altLang="zh-CN" sz="1200" kern="1200" dirty="0">
                <a:effectLst/>
              </a:rPr>
              <a:t>, where the robots perform autonomous rescue based on the information obtained in Task 1. This is the main multi-robot coordination and rescue stage. </a:t>
            </a:r>
            <a:endParaRPr lang="zh-CN" altLang="zh-CN" sz="1200" kern="1200" dirty="0">
              <a:effectLst/>
            </a:endParaRPr>
          </a:p>
          <a:p>
            <a:r>
              <a:rPr lang="en-US" altLang="zh-CN" sz="1200" kern="1200" dirty="0">
                <a:effectLst/>
              </a:rPr>
              <a:t>After Task 2A, the system enters a short </a:t>
            </a:r>
            <a:r>
              <a:rPr lang="en-US" altLang="zh-CN" sz="1200" b="1" kern="1200" dirty="0">
                <a:effectLst/>
              </a:rPr>
              <a:t>Safe Mode</a:t>
            </a:r>
            <a:r>
              <a:rPr lang="en-US" altLang="zh-CN" sz="1200" kern="1200" dirty="0">
                <a:effectLst/>
              </a:rPr>
              <a:t>. During this stage, the results are checked and the robots are repositioned to standardized starting positions for the next part, while the previously obtained map and target information are preserved. </a:t>
            </a:r>
            <a:endParaRPr lang="zh-CN" altLang="zh-CN" sz="1200" kern="1200" dirty="0">
              <a:effectLst/>
            </a:endParaRPr>
          </a:p>
          <a:p>
            <a:r>
              <a:rPr lang="en-US" altLang="zh-CN" sz="1200" kern="1200" dirty="0">
                <a:effectLst/>
              </a:rPr>
              <a:t>Then we move to </a:t>
            </a:r>
            <a:r>
              <a:rPr lang="en-US" altLang="zh-CN" sz="1200" b="1" kern="1200" dirty="0">
                <a:effectLst/>
              </a:rPr>
              <a:t>Task 2B</a:t>
            </a:r>
            <a:r>
              <a:rPr lang="en-US" altLang="zh-CN" sz="1200" kern="1200" dirty="0">
                <a:effectLst/>
              </a:rPr>
              <a:t>, where an LLM-guided mission is introduced. The robots still use the same underlying multi-robot system, but the mission objectives and constraints are now provided through a natural-language instruction. </a:t>
            </a:r>
            <a:endParaRPr lang="zh-CN" altLang="zh-CN" sz="1200" kern="1200" dirty="0">
              <a:effectLst/>
            </a:endParaRPr>
          </a:p>
        </p:txBody>
      </p:sp>
      <p:sp>
        <p:nvSpPr>
          <p:cNvPr id="4" name="Slide Number Placeholder 3">
            <a:extLst>
              <a:ext uri="{FF2B5EF4-FFF2-40B4-BE49-F238E27FC236}">
                <a16:creationId xmlns:a16="http://schemas.microsoft.com/office/drawing/2014/main" id="{DBF04AA4-6A5E-6118-7048-CE95E8803C0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865241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effectLst/>
              </a:rPr>
              <a:t>Now let’s look at Task 1 in more detail. </a:t>
            </a:r>
          </a:p>
          <a:p>
            <a:r>
              <a:rPr lang="en-US" altLang="zh-CN" sz="1200" kern="1200" dirty="0">
                <a:effectLst/>
              </a:rPr>
              <a:t>In Task 1, each team may use up to two robots. The robots start from a start zone and need to autonomously explore the initially unknown environment within a limited amount of time. </a:t>
            </a:r>
            <a:endParaRPr lang="zh-CN" altLang="zh-CN" sz="1200" kern="1200" dirty="0">
              <a:effectLst/>
            </a:endParaRPr>
          </a:p>
          <a:p>
            <a:r>
              <a:rPr lang="en-US" altLang="zh-CN" sz="1200" kern="1200" dirty="0">
                <a:effectLst/>
              </a:rPr>
              <a:t>The main goal is to build a unified 2D occupancy-grid map of the arena. At the same time, the robots should also detect and localize the rescue targets they encounter during exploration. </a:t>
            </a:r>
            <a:endParaRPr lang="zh-CN" altLang="zh-CN" sz="1200" kern="1200" dirty="0">
              <a:effectLst/>
            </a:endParaRPr>
          </a:p>
          <a:p>
            <a:r>
              <a:rPr lang="en-US" altLang="zh-CN" sz="1200" kern="1200" dirty="0">
                <a:effectLst/>
              </a:rPr>
              <a:t>One important point here is autonomy. The robots should make navigation decisions based on the current map and sensor information. This includes deciding where to go, planning a path, avoiding obstacles, and executing the motion without manual control. </a:t>
            </a:r>
            <a:endParaRPr lang="zh-CN" altLang="zh-CN" sz="1200" kern="1200" dirty="0">
              <a:effectLst/>
            </a:endParaRPr>
          </a:p>
          <a:p>
            <a:r>
              <a:rPr lang="en-US" altLang="zh-CN" sz="1200" kern="1200" dirty="0">
                <a:effectLst/>
              </a:rPr>
              <a:t>Existing ROS 2 SLAM, navigation, and other open-source packages are allowed. </a:t>
            </a:r>
          </a:p>
          <a:p>
            <a:r>
              <a:rPr lang="en-US" altLang="zh-CN" sz="1200" kern="1200" dirty="0">
                <a:effectLst/>
              </a:rPr>
              <a:t>The challenge is more about how you integrate these components into a reliable autonomous exploration system. </a:t>
            </a:r>
            <a:endParaRPr lang="zh-CN" altLang="zh-CN" sz="1200" kern="1200" dirty="0">
              <a:effectLst/>
            </a:endParaRPr>
          </a:p>
          <a:p>
            <a:r>
              <a:rPr lang="en-US" altLang="zh-CN" sz="1200" kern="1200" dirty="0">
                <a:effectLst/>
              </a:rPr>
              <a:t>If two robots are used, they should contribute to a common understanding of the environment and eventually produce one unified map and one unified target list.</a:t>
            </a:r>
            <a:endParaRPr lang="zh-CN" altLang="zh-CN" sz="120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EF335-6592-CE7D-3064-575A9E434B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B45E09-BF87-313A-9395-0839BD4AC4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9D9BC1-EBEE-DF15-9342-7C23C2710FC3}"/>
              </a:ext>
            </a:extLst>
          </p:cNvPr>
          <p:cNvSpPr>
            <a:spLocks noGrp="1"/>
          </p:cNvSpPr>
          <p:nvPr>
            <p:ph type="body" idx="1"/>
          </p:nvPr>
        </p:nvSpPr>
        <p:spPr/>
        <p:txBody>
          <a:bodyPr/>
          <a:lstStyle/>
          <a:p>
            <a:r>
              <a:rPr lang="en-US" altLang="zh-CN" sz="1200" kern="1200" dirty="0">
                <a:effectLst/>
              </a:rPr>
              <a:t>At the same time, robots also need to detect and localize rescue targets. We use </a:t>
            </a:r>
            <a:r>
              <a:rPr lang="en-US" altLang="zh-CN" sz="1200" kern="1200" dirty="0" err="1">
                <a:effectLst/>
              </a:rPr>
              <a:t>ArUco</a:t>
            </a:r>
            <a:r>
              <a:rPr lang="en-US" altLang="zh-CN" sz="1200" kern="1200" dirty="0">
                <a:effectLst/>
              </a:rPr>
              <a:t> markers for this purpose. The basic pipeline is shown here: </a:t>
            </a:r>
          </a:p>
          <a:p>
            <a:r>
              <a:rPr lang="en-US" altLang="zh-CN" sz="1200" kern="1200" dirty="0">
                <a:effectLst/>
              </a:rPr>
              <a:t>first observe the marker, then identify the target ID and target type, estimate its relative position with respect to the robot or camera, transform that pose into the global map frame, and finally update the shared target list. </a:t>
            </a:r>
            <a:endParaRPr lang="zh-CN" altLang="zh-CN" sz="1200" kern="1200" dirty="0">
              <a:effectLst/>
            </a:endParaRPr>
          </a:p>
          <a:p>
            <a:r>
              <a:rPr lang="en-US" altLang="zh-CN" sz="1200" kern="1200" dirty="0">
                <a:effectLst/>
              </a:rPr>
              <a:t>So Task 1 has two main outputs. The first one is the </a:t>
            </a:r>
            <a:r>
              <a:rPr lang="en-US" altLang="zh-CN" sz="1200" b="1" kern="1200" dirty="0">
                <a:effectLst/>
              </a:rPr>
              <a:t>unified 2D occupancy map</a:t>
            </a:r>
            <a:r>
              <a:rPr lang="en-US" altLang="zh-CN" sz="1200" kern="1200" dirty="0">
                <a:effectLst/>
              </a:rPr>
              <a:t>, and the second one is the </a:t>
            </a:r>
            <a:r>
              <a:rPr lang="en-US" altLang="zh-CN" sz="1200" b="1" kern="1200" dirty="0">
                <a:effectLst/>
              </a:rPr>
              <a:t>target list</a:t>
            </a:r>
            <a:r>
              <a:rPr lang="en-US" altLang="zh-CN" sz="1200" kern="1200" dirty="0">
                <a:effectLst/>
              </a:rPr>
              <a:t>, which contains the detected targets and their locations in the map. </a:t>
            </a:r>
            <a:endParaRPr lang="zh-CN" altLang="zh-CN" sz="1200" kern="1200" dirty="0">
              <a:effectLst/>
            </a:endParaRPr>
          </a:p>
          <a:p>
            <a:r>
              <a:rPr lang="en-US" altLang="zh-CN" sz="1200" kern="1200" dirty="0">
                <a:effectLst/>
              </a:rPr>
              <a:t>These outputs will be saved at the end of Task 1 and used directly in Task 2.</a:t>
            </a:r>
            <a:endParaRPr lang="zh-CN" altLang="zh-CN" sz="1200" kern="1200" dirty="0">
              <a:effectLst/>
            </a:endParaRPr>
          </a:p>
        </p:txBody>
      </p:sp>
      <p:sp>
        <p:nvSpPr>
          <p:cNvPr id="4" name="Slide Number Placeholder 3">
            <a:extLst>
              <a:ext uri="{FF2B5EF4-FFF2-40B4-BE49-F238E27FC236}">
                <a16:creationId xmlns:a16="http://schemas.microsoft.com/office/drawing/2014/main" id="{87B176F1-ECA0-38CD-360E-DDBA537EEDC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3072980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effectLst/>
              </a:rPr>
              <a:t>Now we move to Task 2A, which is the multi-robot rescue stage. </a:t>
            </a:r>
            <a:endParaRPr lang="zh-CN" altLang="zh-CN" sz="1200" kern="1200" dirty="0">
              <a:effectLst/>
            </a:endParaRPr>
          </a:p>
          <a:p>
            <a:r>
              <a:rPr lang="en-US" altLang="zh-CN" sz="1200" kern="1200" dirty="0">
                <a:effectLst/>
              </a:rPr>
              <a:t>Task 2A starts from the outputs generated in Task 1, mainly the unified map and the target list. Based on this information, the team can use up to four robots to complete the rescue tasks. </a:t>
            </a:r>
            <a:endParaRPr lang="zh-CN" altLang="zh-CN" sz="1200" kern="1200" dirty="0">
              <a:effectLst/>
            </a:endParaRPr>
          </a:p>
          <a:p>
            <a:r>
              <a:rPr lang="en-US" altLang="zh-CN" sz="1200" kern="1200" dirty="0">
                <a:effectLst/>
              </a:rPr>
              <a:t>The edge node acts as the main shared coordination platform. It collects the current robot and target states, keeps track of the global mission progress, and supports task planning, robot allocation, and multi-robot coordination. </a:t>
            </a:r>
            <a:endParaRPr lang="zh-CN" altLang="zh-CN" sz="1200" kern="1200" dirty="0">
              <a:effectLst/>
            </a:endParaRPr>
          </a:p>
          <a:p>
            <a:r>
              <a:rPr lang="en-US" altLang="zh-CN" sz="1200" kern="1200" dirty="0">
                <a:effectLst/>
              </a:rPr>
              <a:t>For example, the system needs to decide which target should be handled next, which robot or robots should be assigned to that target, and, for cooperative targets, how different robots should coordinate with each other. </a:t>
            </a:r>
            <a:endParaRPr lang="zh-CN" altLang="zh-CN" sz="1200" kern="1200" dirty="0">
              <a:effectLst/>
            </a:endParaRPr>
          </a:p>
          <a:p>
            <a:r>
              <a:rPr lang="en-US" altLang="zh-CN" sz="1200" kern="1200" dirty="0">
                <a:effectLst/>
              </a:rPr>
              <a:t>The edge node then sends task assignments to the robots. The robots themselves execute the assigned tasks through autonomous navigation, including path planning, obstacle avoidance, and motion control. </a:t>
            </a:r>
          </a:p>
          <a:p>
            <a:r>
              <a:rPr lang="en-US" altLang="zh-CN" sz="1200" kern="1200" dirty="0">
                <a:effectLst/>
              </a:rPr>
              <a:t>At the same time, they continuously send their state and task progress back to the edge node, so the global plan can be updated when necessary. </a:t>
            </a:r>
            <a:endParaRPr lang="zh-CN" altLang="zh-CN" sz="1200" kern="1200" dirty="0">
              <a:effectLst/>
            </a:endParaRPr>
          </a:p>
          <a:p>
            <a:r>
              <a:rPr lang="en-US" altLang="zh-CN" sz="1200" kern="1200" dirty="0">
                <a:effectLst/>
              </a:rPr>
              <a:t> </a:t>
            </a:r>
            <a:endParaRPr lang="zh-CN" altLang="zh-CN" sz="1200" kern="1200" dirty="0">
              <a:effectLst/>
            </a:endParaRPr>
          </a:p>
          <a:p>
            <a:r>
              <a:rPr lang="en-US" altLang="zh-CN" sz="1200" kern="1200" dirty="0">
                <a:effectLst/>
              </a:rPr>
              <a:t>From the team-development perspective, you are expected to build this integration layer. This includes designing the robot–edge communication interface, maintaining global robot and target states, developing the task-planning and robot-allocation strategy, implementing multi-robot coordination, and connecting the high-level task assignments to autonomous navigation and rescue execution. </a:t>
            </a:r>
            <a:endParaRPr lang="zh-CN" altLang="zh-CN" sz="120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effectLst/>
              </a:rPr>
              <a:t>As mentioned before, in Task 2A, we consider two different types of rescue targets: </a:t>
            </a:r>
            <a:r>
              <a:rPr lang="en-US" altLang="zh-CN" sz="1200" b="1" kern="1200" dirty="0">
                <a:effectLst/>
              </a:rPr>
              <a:t>Normal Targets</a:t>
            </a:r>
            <a:r>
              <a:rPr lang="en-US" altLang="zh-CN" sz="1200" kern="1200" dirty="0">
                <a:effectLst/>
              </a:rPr>
              <a:t> and </a:t>
            </a:r>
            <a:r>
              <a:rPr lang="en-US" altLang="zh-CN" sz="1200" b="1" kern="1200" dirty="0">
                <a:effectLst/>
              </a:rPr>
              <a:t>Cooperative Targets</a:t>
            </a:r>
            <a:r>
              <a:rPr lang="en-US" altLang="zh-CN" sz="1200" kern="1200" dirty="0">
                <a:effectLst/>
              </a:rPr>
              <a:t>. </a:t>
            </a:r>
            <a:endParaRPr lang="zh-CN" altLang="zh-CN" sz="1200" kern="1200" dirty="0">
              <a:effectLst/>
            </a:endParaRPr>
          </a:p>
          <a:p>
            <a:r>
              <a:rPr lang="en-US" altLang="zh-CN" sz="1200" kern="1200" dirty="0">
                <a:effectLst/>
              </a:rPr>
              <a:t>For a Normal Target, one robot needs to enter the corresponding Rescue Zone and remain there continuously for the required dwell time.</a:t>
            </a:r>
            <a:endParaRPr lang="zh-CN" altLang="zh-CN" sz="1200" kern="1200" dirty="0">
              <a:effectLst/>
            </a:endParaRPr>
          </a:p>
          <a:p>
            <a:r>
              <a:rPr lang="en-US" altLang="zh-CN" sz="1200" kern="1200" dirty="0">
                <a:effectLst/>
              </a:rPr>
              <a:t>For a Cooperative Target, two different robots are required. Each robot must occupy one of the two predefined rescue zones, Zone A and Zone B, and both robots need to satisfy the dwell condition at the same time. The cooperative rescue is only completed when both robots are simultaneously in position for the required duration. </a:t>
            </a:r>
            <a:endParaRPr lang="zh-CN" altLang="zh-CN" sz="1200" kern="1200" dirty="0">
              <a:effectLst/>
            </a:endParaRPr>
          </a:p>
          <a:p>
            <a:r>
              <a:rPr lang="en-US" altLang="zh-CN" sz="1200" kern="1200" dirty="0">
                <a:effectLst/>
              </a:rPr>
              <a:t>The rescue-zone locations will be determined from the </a:t>
            </a:r>
            <a:r>
              <a:rPr lang="en-US" altLang="zh-CN" sz="1200" kern="1200" dirty="0" err="1">
                <a:effectLst/>
              </a:rPr>
              <a:t>ArUco</a:t>
            </a:r>
            <a:r>
              <a:rPr lang="en-US" altLang="zh-CN" sz="1200" kern="1200" dirty="0">
                <a:effectLst/>
              </a:rPr>
              <a:t> marker pose using a unified geometric rule.</a:t>
            </a:r>
            <a:endParaRPr lang="zh-CN" altLang="zh-CN" sz="1200" kern="1200" dirty="0">
              <a:effectLst/>
            </a:endParaRPr>
          </a:p>
          <a:p>
            <a:r>
              <a:rPr lang="en-US" altLang="zh-CN" sz="1200" kern="1200" dirty="0">
                <a:effectLst/>
              </a:rPr>
              <a:t>Task 2A is also time-limited. It ends when the time limit is reached, when all valid rescue targets have been completed, or when the referee terminates the run for safety or technical reasons. </a:t>
            </a:r>
            <a:endParaRPr lang="zh-CN" altLang="zh-CN" sz="1200" kern="1200" dirty="0">
              <a:effectLst/>
            </a:endParaRPr>
          </a:p>
          <a:p>
            <a:r>
              <a:rPr lang="en-US" altLang="zh-CN" sz="1200" kern="1200" dirty="0">
                <a:effectLst/>
              </a:rPr>
              <a:t>After Task 2A, we will verify the results and reposition the robots to predefined starting positions for Task 2B. The map, target list, and previously obtained environment information are retained.</a:t>
            </a:r>
            <a:endParaRPr lang="zh-CN" altLang="zh-CN" sz="120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effectLst/>
              </a:rPr>
              <a:t>Task 2B builds directly on top of the Task 2A framework. </a:t>
            </a:r>
            <a:endParaRPr lang="zh-CN" altLang="zh-CN" sz="1200" kern="1200" dirty="0">
              <a:effectLst/>
            </a:endParaRPr>
          </a:p>
          <a:p>
            <a:r>
              <a:rPr lang="en-US" altLang="zh-CN" sz="1200" kern="1200" dirty="0">
                <a:effectLst/>
              </a:rPr>
              <a:t>The main new element is the LLM-based mission interpretation layer. Instead of using only a predefined rescue objective, the operator now provides a natural-language mission instruction. </a:t>
            </a:r>
            <a:endParaRPr lang="zh-CN" altLang="zh-CN" sz="1200" kern="1200" dirty="0">
              <a:effectLst/>
            </a:endParaRPr>
          </a:p>
          <a:p>
            <a:r>
              <a:rPr lang="en-US" altLang="zh-CN" sz="1200" kern="1200" dirty="0">
                <a:effectLst/>
              </a:rPr>
              <a:t>For example, the instruction could specify which target should be rescued first, which targets may be handled in parallel, or which target must be completed last. </a:t>
            </a:r>
            <a:endParaRPr lang="zh-CN" altLang="zh-CN" sz="1200" kern="1200" dirty="0">
              <a:effectLst/>
            </a:endParaRPr>
          </a:p>
          <a:p>
            <a:r>
              <a:rPr lang="en-US" altLang="zh-CN" sz="1200" kern="1200" dirty="0">
                <a:effectLst/>
              </a:rPr>
              <a:t>The LLM running on the edge node interprets this natural-language instruction, extracts the mission objectives and high-level constraints, and converts them into a structured mission plan. </a:t>
            </a:r>
            <a:endParaRPr lang="zh-CN" altLang="zh-CN" sz="1200" kern="1200" dirty="0">
              <a:effectLst/>
            </a:endParaRPr>
          </a:p>
          <a:p>
            <a:r>
              <a:rPr lang="en-US" altLang="zh-CN" sz="1200" kern="1200" dirty="0">
                <a:effectLst/>
              </a:rPr>
              <a:t>This structured mission plan is then passed to the same multi-robot coordinator that was already used in Task 2A. The coordinator is still responsible for execution planning, robot allocation, coordination, and global state management. </a:t>
            </a:r>
            <a:endParaRPr lang="zh-CN" altLang="zh-CN" sz="1200" kern="1200" dirty="0">
              <a:effectLst/>
            </a:endParaRPr>
          </a:p>
          <a:p>
            <a:r>
              <a:rPr lang="en-US" altLang="zh-CN" sz="1200" kern="1200" dirty="0">
                <a:effectLst/>
              </a:rPr>
              <a:t>The robots themselves still perform autonomous navigation and rescue execution.</a:t>
            </a:r>
          </a:p>
          <a:p>
            <a:endParaRPr lang="en-US" altLang="zh-CN" sz="1200" kern="1200" dirty="0">
              <a:effectLst/>
            </a:endParaRPr>
          </a:p>
          <a:p>
            <a:r>
              <a:rPr lang="en-US" altLang="zh-CN" sz="1200" kern="1200" dirty="0">
                <a:effectLst/>
              </a:rPr>
              <a:t>From the team side, the additional work is mainly to build the natural-language mission interface, design the LLM prompting and mission interpretation process, define a structured mission-plan representation, and integrate this LLM layer with the existing Task 2A coordination framework.</a:t>
            </a:r>
            <a:endParaRPr lang="zh-CN" altLang="zh-CN" sz="120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B4DC9-0BE8-8EA2-C914-FDD425B7FC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01BB78-38FE-2A42-C3DF-4891D62CC5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E1E341-6DD8-8516-1885-632E07253E06}"/>
              </a:ext>
            </a:extLst>
          </p:cNvPr>
          <p:cNvSpPr>
            <a:spLocks noGrp="1"/>
          </p:cNvSpPr>
          <p:nvPr>
            <p:ph type="body" idx="1"/>
          </p:nvPr>
        </p:nvSpPr>
        <p:spPr/>
        <p:txBody>
          <a:bodyPr/>
          <a:lstStyle/>
          <a:p>
            <a:r>
              <a:rPr lang="en-US" altLang="zh-CN" sz="1200" kern="1200" dirty="0">
                <a:effectLst/>
              </a:rPr>
              <a:t>Here is a simple example of how the LLM-guided mission works. </a:t>
            </a:r>
            <a:endParaRPr lang="zh-CN" altLang="zh-CN" sz="1200" kern="1200" dirty="0">
              <a:effectLst/>
            </a:endParaRPr>
          </a:p>
          <a:p>
            <a:r>
              <a:rPr lang="en-US" altLang="zh-CN" sz="1200" kern="1200" dirty="0">
                <a:effectLst/>
              </a:rPr>
              <a:t>Suppose the operator gives the instruction: “Rescue T2 first. Then rescue T1 and T3. Complete TC1 last.” </a:t>
            </a:r>
            <a:endParaRPr lang="zh-CN" altLang="zh-CN" sz="1200" kern="1200" dirty="0">
              <a:effectLst/>
            </a:endParaRPr>
          </a:p>
          <a:p>
            <a:r>
              <a:rPr lang="en-US" altLang="zh-CN" sz="1200" kern="1200" dirty="0">
                <a:effectLst/>
              </a:rPr>
              <a:t>The LLM interprets this instruction and converts it into a structured mission plan. </a:t>
            </a:r>
            <a:endParaRPr lang="zh-CN" altLang="zh-CN" sz="1200" kern="1200" dirty="0">
              <a:effectLst/>
            </a:endParaRPr>
          </a:p>
          <a:p>
            <a:r>
              <a:rPr lang="en-US" altLang="zh-CN" sz="1200" kern="1200" dirty="0">
                <a:effectLst/>
              </a:rPr>
              <a:t>The coordinator then uses this structured plan to decide the actual robot assignments and execution sequence. The robots still handle navigation, coordination, and rescue execution in the same way as in Task 2A. </a:t>
            </a:r>
            <a:endParaRPr lang="zh-CN" altLang="zh-CN" sz="1200" kern="1200" dirty="0">
              <a:effectLst/>
            </a:endParaRPr>
          </a:p>
          <a:p>
            <a:r>
              <a:rPr lang="en-US" altLang="zh-CN" sz="1200" kern="1200" dirty="0">
                <a:effectLst/>
              </a:rPr>
              <a:t>So the LLM provides the mission-level logic, while the coordinator and robots carry out the mission.</a:t>
            </a:r>
            <a:endParaRPr lang="zh-CN" altLang="zh-CN" sz="1200" kern="1200" dirty="0">
              <a:effectLst/>
            </a:endParaRPr>
          </a:p>
        </p:txBody>
      </p:sp>
      <p:sp>
        <p:nvSpPr>
          <p:cNvPr id="4" name="Slide Number Placeholder 3">
            <a:extLst>
              <a:ext uri="{FF2B5EF4-FFF2-40B4-BE49-F238E27FC236}">
                <a16:creationId xmlns:a16="http://schemas.microsoft.com/office/drawing/2014/main" id="{49336F94-5F7C-906A-B76F-92487D3057D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3195503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effectLst/>
              </a:rPr>
              <a:t>Now I would like to briefly introduce the robot platform that will be used in the challenge. </a:t>
            </a:r>
            <a:endParaRPr lang="zh-CN" altLang="zh-CN" sz="1200" kern="1200" dirty="0">
              <a:effectLst/>
            </a:endParaRPr>
          </a:p>
          <a:p>
            <a:r>
              <a:rPr lang="en-US" altLang="zh-CN" sz="1200" kern="1200" dirty="0">
                <a:effectLst/>
              </a:rPr>
              <a:t>The competition uses differential-drive wheeled mobile robots. Each robot is equipped with wheel encoders and an onboard computer and sensors including RPLIDAR for mapping and obstacle sensing, and a camera used for marker detection. </a:t>
            </a:r>
            <a:endParaRPr lang="zh-CN" altLang="zh-CN" sz="1200" kern="1200" dirty="0">
              <a:effectLst/>
            </a:endParaRPr>
          </a:p>
          <a:p>
            <a:r>
              <a:rPr lang="en-US" altLang="zh-CN" sz="1200" kern="1200" dirty="0">
                <a:effectLst/>
              </a:rPr>
              <a:t>More detailed information about the robot hardware is available through the KTH course material shown here. </a:t>
            </a:r>
          </a:p>
          <a:p>
            <a:endParaRPr lang="zh-CN" altLang="zh-CN" sz="1200" kern="1200" dirty="0">
              <a:effectLst/>
            </a:endParaRPr>
          </a:p>
          <a:p>
            <a:r>
              <a:rPr lang="en-US" altLang="zh-CN" sz="1200" kern="1200" dirty="0">
                <a:effectLst/>
              </a:rPr>
              <a:t>The exact hardware specification and runtime environment of the edge node are still being finalized, and we will announce those details later.</a:t>
            </a:r>
            <a:endParaRPr lang="zh-CN" altLang="zh-CN" sz="120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8CC78-002F-1F9F-11E4-D0C95F1270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7C972-331F-7E4E-A4CB-E7EDA0991F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9FB7F0-F388-3D13-ECD5-35AE441EA383}"/>
              </a:ext>
            </a:extLst>
          </p:cNvPr>
          <p:cNvSpPr>
            <a:spLocks noGrp="1"/>
          </p:cNvSpPr>
          <p:nvPr>
            <p:ph type="body" idx="1"/>
          </p:nvPr>
        </p:nvSpPr>
        <p:spPr/>
        <p:txBody>
          <a:bodyPr/>
          <a:lstStyle/>
          <a:p>
            <a:r>
              <a:rPr lang="en-US" altLang="zh-CN" sz="1200" kern="1200" dirty="0">
                <a:effectLst/>
              </a:rPr>
              <a:t>This slide summarizes the common development environment that will be used throughout the challenge. I will not go into details here, because these are quite standard robotic systems development tools.</a:t>
            </a:r>
          </a:p>
          <a:p>
            <a:endParaRPr lang="zh-CN" altLang="zh-CN" sz="1200" kern="1200" dirty="0">
              <a:effectLst/>
            </a:endParaRPr>
          </a:p>
          <a:p>
            <a:r>
              <a:rPr lang="en-US" altLang="zh-CN" sz="1200" kern="1200" dirty="0">
                <a:effectLst/>
              </a:rPr>
              <a:t>For Task 2B, we also plan to provide an LLM inference runtime on the edge node, but the exact backend and model are still being finalized and will be announced later.</a:t>
            </a:r>
            <a:endParaRPr lang="zh-CN" altLang="zh-CN" sz="1200" kern="1200" dirty="0">
              <a:effectLst/>
            </a:endParaRPr>
          </a:p>
        </p:txBody>
      </p:sp>
      <p:sp>
        <p:nvSpPr>
          <p:cNvPr id="4" name="Slide Number Placeholder 3">
            <a:extLst>
              <a:ext uri="{FF2B5EF4-FFF2-40B4-BE49-F238E27FC236}">
                <a16:creationId xmlns:a16="http://schemas.microsoft.com/office/drawing/2014/main" id="{950DA130-998C-77F4-D7DB-0F7D59E9186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0955633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6BC0A-C286-132C-7850-1797EAAECE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DCAD4A-8065-097D-A632-C17A1A1F35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FA260F-5CE5-1D3E-426C-BBED6ED2E49D}"/>
              </a:ext>
            </a:extLst>
          </p:cNvPr>
          <p:cNvSpPr>
            <a:spLocks noGrp="1"/>
          </p:cNvSpPr>
          <p:nvPr>
            <p:ph type="body" idx="1"/>
          </p:nvPr>
        </p:nvSpPr>
        <p:spPr/>
        <p:txBody>
          <a:bodyPr/>
          <a:lstStyle/>
          <a:p>
            <a:r>
              <a:rPr lang="en-US" altLang="zh-CN" sz="1200" kern="1200" dirty="0">
                <a:effectLst/>
              </a:rPr>
              <a:t>This slide clarifies the boundary between what the organizers will provide and what each team is expected to develop. </a:t>
            </a:r>
            <a:endParaRPr lang="zh-CN" altLang="zh-CN" sz="1200" kern="1200" dirty="0">
              <a:effectLst/>
            </a:endParaRPr>
          </a:p>
          <a:p>
            <a:r>
              <a:rPr lang="en-US" altLang="zh-CN" sz="1200" kern="1200" dirty="0">
                <a:effectLst/>
              </a:rPr>
              <a:t>On the left, you can see the current status of the organizer-side baseline. Some parts are already available. For example, the robot platform and onboard hardware are ready, the ROS 2 and Gazebo development environment is available, and we already have a basic robot model for simulation. </a:t>
            </a:r>
            <a:endParaRPr lang="zh-CN" altLang="zh-CN" sz="1200" kern="1200" dirty="0">
              <a:effectLst/>
            </a:endParaRPr>
          </a:p>
          <a:p>
            <a:r>
              <a:rPr lang="en-US" altLang="zh-CN" sz="1200" kern="1200" dirty="0">
                <a:effectLst/>
              </a:rPr>
              <a:t>Some other parts are still being completed. These include the basic setup and simulation tutorial, as well as the final competition task, arena, and target specifications. </a:t>
            </a:r>
            <a:endParaRPr lang="zh-CN" altLang="zh-CN" sz="1200" kern="1200" dirty="0">
              <a:effectLst/>
            </a:endParaRPr>
          </a:p>
          <a:p>
            <a:r>
              <a:rPr lang="en-US" altLang="zh-CN" sz="1200" kern="1200" dirty="0">
                <a:effectLst/>
              </a:rPr>
              <a:t>There are also several items that are still to be finished before the full development phase starts, such as the real-robot ROS 2 I/O interface, the basic network connectivity between the robots and the edge node, and the base runtime environment for the edge node and the LLM. </a:t>
            </a:r>
            <a:endParaRPr lang="zh-CN" altLang="zh-CN" sz="1200" kern="1200" dirty="0">
              <a:effectLst/>
            </a:endParaRPr>
          </a:p>
          <a:p>
            <a:r>
              <a:rPr lang="en-US" altLang="zh-CN" sz="1200" kern="1200" dirty="0">
                <a:effectLst/>
              </a:rPr>
              <a:t>The right-hand side shows the main parts that each team is expected to develop. </a:t>
            </a:r>
            <a:endParaRPr lang="zh-CN" altLang="zh-CN" sz="1200" kern="1200" dirty="0">
              <a:effectLst/>
            </a:endParaRPr>
          </a:p>
          <a:p>
            <a:r>
              <a:rPr lang="en-US" altLang="zh-CN" sz="1200" kern="1200" dirty="0">
                <a:effectLst/>
              </a:rPr>
              <a:t>This includes autonomous exploration and navigation integration, target detection and localization, robot–edge communication and information sharing, global robot and task-state management, task planning and robot allocation, and multi-robot coordination. </a:t>
            </a:r>
            <a:endParaRPr lang="zh-CN" altLang="zh-CN" sz="1200" kern="1200" dirty="0">
              <a:effectLst/>
            </a:endParaRPr>
          </a:p>
          <a:p>
            <a:r>
              <a:rPr lang="en-US" altLang="zh-CN" sz="1200" kern="1200" dirty="0">
                <a:effectLst/>
              </a:rPr>
              <a:t>Teams will also need to handle feedback, failures, and replanning, and for Task 2B, integrate the LLM-based mission interpretation layer. </a:t>
            </a:r>
            <a:endParaRPr lang="zh-CN" altLang="zh-CN" sz="1200" kern="1200" dirty="0">
              <a:effectLst/>
            </a:endParaRPr>
          </a:p>
          <a:p>
            <a:r>
              <a:rPr lang="en-US" altLang="zh-CN" sz="1200" kern="1200" dirty="0">
                <a:effectLst/>
              </a:rPr>
              <a:t>Finally, the whole system needs to be integrated and tested as one complete multi-robot solution.</a:t>
            </a:r>
            <a:endParaRPr lang="zh-CN" altLang="zh-CN" sz="1200" kern="1200" dirty="0">
              <a:effectLst/>
            </a:endParaRPr>
          </a:p>
        </p:txBody>
      </p:sp>
      <p:sp>
        <p:nvSpPr>
          <p:cNvPr id="4" name="Slide Number Placeholder 3">
            <a:extLst>
              <a:ext uri="{FF2B5EF4-FFF2-40B4-BE49-F238E27FC236}">
                <a16:creationId xmlns:a16="http://schemas.microsoft.com/office/drawing/2014/main" id="{F1909749-EE08-F2AF-BA6F-D8A473E3209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322342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effectLst/>
              </a:rPr>
              <a:t>This slide shows the development timeline and the mid-term milestone. </a:t>
            </a:r>
            <a:endParaRPr lang="zh-CN" altLang="zh-CN" sz="1200" kern="1200" dirty="0">
              <a:effectLst/>
            </a:endParaRPr>
          </a:p>
          <a:p>
            <a:r>
              <a:rPr lang="en-US" altLang="zh-CN" sz="1200" kern="1200" dirty="0">
                <a:effectLst/>
              </a:rPr>
              <a:t>We currently plan an eight-week development period, with one main milestone around Week 4. </a:t>
            </a:r>
          </a:p>
          <a:p>
            <a:r>
              <a:rPr lang="en-US" altLang="zh-CN" sz="1200" kern="1200" dirty="0">
                <a:effectLst/>
              </a:rPr>
              <a:t>The purpose of this milestone is to check whether each team has established a working end-to-end autonomous rescue baseline. </a:t>
            </a:r>
            <a:endParaRPr lang="zh-CN" altLang="zh-CN" sz="1200" kern="1200" dirty="0">
              <a:effectLst/>
            </a:endParaRPr>
          </a:p>
          <a:p>
            <a:r>
              <a:rPr lang="en-US" altLang="zh-CN" sz="1200" kern="1200" dirty="0">
                <a:effectLst/>
              </a:rPr>
              <a:t>For the milestone, a </a:t>
            </a:r>
            <a:r>
              <a:rPr lang="en-US" altLang="zh-CN" sz="1200" b="1" kern="1200" dirty="0">
                <a:effectLst/>
              </a:rPr>
              <a:t>simulation demo is sufficient.</a:t>
            </a:r>
            <a:r>
              <a:rPr lang="en-US" altLang="zh-CN" sz="1200" kern="1200" dirty="0">
                <a:effectLst/>
              </a:rPr>
              <a:t> </a:t>
            </a:r>
          </a:p>
          <a:p>
            <a:r>
              <a:rPr lang="en-US" altLang="zh-CN" sz="1200" kern="1200" dirty="0">
                <a:effectLst/>
              </a:rPr>
              <a:t>We expect teams to demonstrate autonomous exploration, marker detection and localization, autonomous map-based navigation, and at least one Normal Rescue and one Cooperative Rescue. </a:t>
            </a:r>
            <a:endParaRPr lang="zh-CN" altLang="zh-CN" sz="1200" kern="1200" dirty="0">
              <a:effectLst/>
            </a:endParaRPr>
          </a:p>
          <a:p>
            <a:r>
              <a:rPr lang="en-US" altLang="zh-CN" sz="1200" kern="1200" dirty="0">
                <a:effectLst/>
              </a:rPr>
              <a:t>We would also like to see that at least two robots can be represented in the system, with their states available, and that some basic robot–edge communication has been established, for example the edge node being able to receive robot-state information. And achieve basic task planning and robot allocation.</a:t>
            </a:r>
          </a:p>
          <a:p>
            <a:endParaRPr lang="zh-CN" altLang="zh-CN" sz="1200" kern="1200" dirty="0">
              <a:effectLst/>
            </a:endParaRPr>
          </a:p>
          <a:p>
            <a:r>
              <a:rPr lang="en-US" altLang="zh-CN" sz="1200" kern="1200" dirty="0">
                <a:effectLst/>
              </a:rPr>
              <a:t>During the first half of the development period, we strongly recommend that teams focus mainly on the Gazebo simulation environment. This is the best place to develop and debug exploration, SLAM, navigation, target detection, and the first version of multi-robot coordination. </a:t>
            </a:r>
            <a:endParaRPr lang="zh-CN" altLang="zh-CN" sz="1200" kern="1200" dirty="0">
              <a:effectLst/>
            </a:endParaRPr>
          </a:p>
          <a:p>
            <a:r>
              <a:rPr lang="en-US" altLang="zh-CN" sz="1200" kern="1200" dirty="0">
                <a:effectLst/>
              </a:rPr>
              <a:t>After the mid-term milestone, the focus should gradually move toward system integration and real-robot validation. The physical robots are mainly intended for validation rather than being the primary development platform. </a:t>
            </a:r>
            <a:endParaRPr lang="zh-CN" altLang="zh-CN" sz="1200" kern="1200" dirty="0">
              <a:effectLst/>
            </a:endParaRPr>
          </a:p>
          <a:p>
            <a:r>
              <a:rPr lang="en-US" altLang="zh-CN" sz="1200" kern="1200" dirty="0">
                <a:effectLst/>
              </a:rPr>
              <a:t>Because the number of physical robots and testing slots is limited, teams that need real-robot testing should book a time slot in advance. Ideally, you should already have a working simulation baseline before coming to the hardware test.</a:t>
            </a:r>
            <a:endParaRPr lang="zh-CN" altLang="zh-CN" sz="120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effectLst/>
              </a:rPr>
              <a:t>Finally, I would like to summarize the resources and the immediate next steps after this meeting. </a:t>
            </a:r>
            <a:endParaRPr lang="zh-CN" altLang="zh-CN" sz="1200" kern="1200" dirty="0">
              <a:effectLst/>
            </a:endParaRPr>
          </a:p>
          <a:p>
            <a:r>
              <a:rPr lang="en-US" altLang="zh-CN" sz="1200" kern="1200" dirty="0">
                <a:effectLst/>
              </a:rPr>
              <a:t>We will provide the initial version of the rulebook, the robot setup and technical tutorial, as well as the ROS 2 workspace and Gazebo resources. Some of these materials are still being refined, so please treat the current rulebook as an initial version, and we will update the details as the challenge progresses. </a:t>
            </a:r>
            <a:endParaRPr lang="zh-CN" altLang="zh-CN" sz="1200" kern="1200" dirty="0">
              <a:effectLst/>
            </a:endParaRPr>
          </a:p>
          <a:p>
            <a:r>
              <a:rPr lang="en-US" altLang="zh-CN" sz="1200" kern="1200" dirty="0">
                <a:effectLst/>
              </a:rPr>
              <a:t>After this meeting, the first thing I recommend is to set up and run the simulation environment successfully. Then, check the available robot interfaces and the SLAM baseline, and make sure you understand how the basic system works. </a:t>
            </a:r>
            <a:endParaRPr lang="zh-CN" altLang="zh-CN" sz="1200" kern="1200" dirty="0">
              <a:effectLst/>
            </a:endParaRPr>
          </a:p>
          <a:p>
            <a:r>
              <a:rPr lang="en-US" altLang="zh-CN" sz="1200" kern="1200" dirty="0">
                <a:effectLst/>
              </a:rPr>
              <a:t>After that, you can start implementing autonomous exploration and, within your team, divide the responsibilities for different parts such as perception, navigation, communication, coordination, and system integration. </a:t>
            </a:r>
            <a:endParaRPr lang="zh-CN" altLang="zh-CN" sz="1200" kern="1200" dirty="0">
              <a:effectLst/>
            </a:endParaRPr>
          </a:p>
          <a:p>
            <a:r>
              <a:rPr lang="en-US" altLang="zh-CN" sz="1200" kern="1200" dirty="0">
                <a:effectLst/>
              </a:rPr>
              <a:t>The main goal at this stage is not to solve everything immediately, but to get the basic development environment running and establish a clear team structure and technical plan. </a:t>
            </a:r>
            <a:endParaRPr lang="zh-CN" altLang="zh-CN" sz="1200" kern="1200" dirty="0">
              <a:effectLst/>
            </a:endParaRPr>
          </a:p>
          <a:p>
            <a:r>
              <a:rPr lang="en-US" altLang="zh-CN" sz="1200" kern="1200" dirty="0">
                <a:effectLst/>
              </a:rPr>
              <a:t>That is all from my side for today. Thank you again for joining, and now we can move to questions and discussion.</a:t>
            </a:r>
            <a:endParaRPr lang="zh-CN" altLang="zh-CN" sz="120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283B"/>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97923EB-8DA1-449C-A59A-A69DF448369C}"/>
              </a:ext>
            </a:extLst>
          </p:cNvPr>
          <p:cNvSpPr>
            <a:spLocks noGrp="1"/>
          </p:cNvSpPr>
          <p:nvPr/>
        </p:nvSpPr>
        <p:spPr>
          <a:xfrm>
            <a:off x="619125" y="1190625"/>
            <a:ext cx="7334250" cy="1762125"/>
          </a:xfrm>
          <a:prstGeom prst="rect">
            <a:avLst/>
          </a:prstGeom>
          <a:noFill/>
          <a:ln w="9525">
            <a:noFill/>
          </a:ln>
        </p:spPr>
        <p:txBody>
          <a:bodyPr>
            <a:noAutofit/>
          </a:bodyPr>
          <a:lstStyle/>
          <a:p>
            <a:pPr>
              <a:defRPr sz="4650" b="1">
                <a:solidFill>
                  <a:srgbClr val="FFFFFF"/>
                </a:solidFill>
                <a:latin typeface="Arial"/>
                <a:ea typeface="Arial"/>
                <a:cs typeface="Arial"/>
              </a:defRPr>
            </a:pPr>
            <a:r>
              <a:rPr lang="en-US" altLang="zh-CN" sz="4650" b="1" dirty="0">
                <a:solidFill>
                  <a:srgbClr val="FFFFFF"/>
                </a:solidFill>
                <a:latin typeface="Arial"/>
                <a:ea typeface="Arial"/>
                <a:cs typeface="Arial"/>
              </a:rPr>
              <a:t>KTH </a:t>
            </a:r>
            <a:r>
              <a:rPr sz="4650" b="1" dirty="0">
                <a:solidFill>
                  <a:srgbClr val="FFFFFF"/>
                </a:solidFill>
                <a:latin typeface="Arial"/>
                <a:ea typeface="Arial"/>
                <a:cs typeface="Arial"/>
              </a:rPr>
              <a:t>Edge AI</a:t>
            </a:r>
          </a:p>
          <a:p>
            <a:pPr>
              <a:defRPr sz="4650" b="1">
                <a:solidFill>
                  <a:srgbClr val="FFFFFF"/>
                </a:solidFill>
                <a:latin typeface="Arial"/>
                <a:ea typeface="Arial"/>
                <a:cs typeface="Arial"/>
              </a:defRPr>
            </a:pPr>
            <a:r>
              <a:rPr sz="4650" b="1" dirty="0">
                <a:solidFill>
                  <a:srgbClr val="FFFFFF"/>
                </a:solidFill>
                <a:latin typeface="Arial"/>
                <a:ea typeface="Arial"/>
                <a:cs typeface="Arial"/>
              </a:rPr>
              <a:t>Robotics Challenge</a:t>
            </a:r>
          </a:p>
        </p:txBody>
      </p:sp>
      <p:sp>
        <p:nvSpPr>
          <p:cNvPr id="2" name="Rectangle 1">
            <a:extLst>
              <a:ext uri="{FF2B5EF4-FFF2-40B4-BE49-F238E27FC236}">
                <a16:creationId xmlns:a16="http://schemas.microsoft.com/office/drawing/2014/main" id="{065EC6EF-10A7-4048-AB13-9F6AB83BCB3D}"/>
              </a:ext>
            </a:extLst>
          </p:cNvPr>
          <p:cNvSpPr>
            <a:spLocks noGrp="1"/>
          </p:cNvSpPr>
          <p:nvPr/>
        </p:nvSpPr>
        <p:spPr>
          <a:xfrm>
            <a:off x="666750" y="3286125"/>
            <a:ext cx="6667500" cy="523875"/>
          </a:xfrm>
          <a:prstGeom prst="rect">
            <a:avLst/>
          </a:prstGeom>
          <a:noFill/>
          <a:ln w="9525">
            <a:noFill/>
          </a:ln>
        </p:spPr>
        <p:txBody>
          <a:bodyPr>
            <a:noAutofit/>
          </a:bodyPr>
          <a:lstStyle/>
          <a:p>
            <a:pPr>
              <a:defRPr sz="2250" b="0">
                <a:solidFill>
                  <a:srgbClr val="79D8D2"/>
                </a:solidFill>
                <a:latin typeface="Arial"/>
                <a:ea typeface="Arial"/>
                <a:cs typeface="Arial"/>
              </a:defRPr>
            </a:pPr>
            <a:r>
              <a:rPr sz="2250" b="0">
                <a:solidFill>
                  <a:srgbClr val="79D8D2"/>
                </a:solidFill>
                <a:latin typeface="Arial"/>
                <a:ea typeface="Arial"/>
                <a:cs typeface="Arial"/>
              </a:rPr>
              <a:t>Kick-off meeting</a:t>
            </a:r>
          </a:p>
        </p:txBody>
      </p:sp>
      <p:sp>
        <p:nvSpPr>
          <p:cNvPr id="3" name="Rectangle 2">
            <a:extLst>
              <a:ext uri="{FF2B5EF4-FFF2-40B4-BE49-F238E27FC236}">
                <a16:creationId xmlns:a16="http://schemas.microsoft.com/office/drawing/2014/main" id="{EB598D12-27B8-4480-8A90-371D616DAB9B}"/>
              </a:ext>
            </a:extLst>
          </p:cNvPr>
          <p:cNvSpPr>
            <a:spLocks noGrp="1"/>
          </p:cNvSpPr>
          <p:nvPr/>
        </p:nvSpPr>
        <p:spPr>
          <a:xfrm>
            <a:off x="666750" y="3833812"/>
            <a:ext cx="6667500" cy="952500"/>
          </a:xfrm>
          <a:prstGeom prst="rect">
            <a:avLst/>
          </a:prstGeom>
          <a:noFill/>
          <a:ln w="9525">
            <a:noFill/>
          </a:ln>
        </p:spPr>
        <p:txBody>
          <a:bodyPr>
            <a:noAutofit/>
          </a:bodyPr>
          <a:lstStyle/>
          <a:p>
            <a:pPr>
              <a:defRPr sz="2100" b="0">
                <a:solidFill>
                  <a:srgbClr val="FFFFFF"/>
                </a:solidFill>
                <a:latin typeface="Arial"/>
                <a:ea typeface="Arial"/>
                <a:cs typeface="Arial"/>
              </a:defRPr>
            </a:pPr>
            <a:r>
              <a:rPr lang="en-US" sz="2100" b="0" dirty="0">
                <a:solidFill>
                  <a:srgbClr val="FFFFFF"/>
                </a:solidFill>
                <a:latin typeface="Arial"/>
                <a:ea typeface="Arial"/>
                <a:cs typeface="Arial"/>
              </a:rPr>
              <a:t>2026.10.07</a:t>
            </a:r>
            <a:endParaRPr sz="2100" b="0" dirty="0">
              <a:solidFill>
                <a:srgbClr val="FFFFFF"/>
              </a:solidFill>
              <a:latin typeface="Arial"/>
              <a:ea typeface="Arial"/>
              <a:cs typeface="Arial"/>
            </a:endParaRPr>
          </a:p>
        </p:txBody>
      </p:sp>
      <p:sp>
        <p:nvSpPr>
          <p:cNvPr id="4" name="Rectangle 3">
            <a:extLst>
              <a:ext uri="{FF2B5EF4-FFF2-40B4-BE49-F238E27FC236}">
                <a16:creationId xmlns:a16="http://schemas.microsoft.com/office/drawing/2014/main" id="{82CA99E1-F668-4B8C-9FDC-847CC499798D}"/>
              </a:ext>
            </a:extLst>
          </p:cNvPr>
          <p:cNvSpPr>
            <a:spLocks noGrp="1"/>
          </p:cNvSpPr>
          <p:nvPr/>
        </p:nvSpPr>
        <p:spPr>
          <a:xfrm>
            <a:off x="8477250" y="1619250"/>
            <a:ext cx="2714625" cy="3190875"/>
          </a:xfrm>
          <a:prstGeom prst="rect">
            <a:avLst/>
          </a:prstGeom>
          <a:noFill/>
          <a:ln w="9525">
            <a:solidFill>
              <a:srgbClr val="64818E"/>
            </a:solidFill>
          </a:ln>
        </p:spPr>
        <p:txBody>
          <a:bodyPr/>
          <a:lstStyle/>
          <a:p>
            <a:endParaRPr lang="zh-CN" altLang="en-US"/>
          </a:p>
        </p:txBody>
      </p:sp>
      <p:sp>
        <p:nvSpPr>
          <p:cNvPr id="5" name="Rectangle 4">
            <a:extLst>
              <a:ext uri="{FF2B5EF4-FFF2-40B4-BE49-F238E27FC236}">
                <a16:creationId xmlns:a16="http://schemas.microsoft.com/office/drawing/2014/main" id="{E0ED86CC-D291-4288-9307-FD0593C7AE70}"/>
              </a:ext>
            </a:extLst>
          </p:cNvPr>
          <p:cNvSpPr>
            <a:spLocks noGrp="1"/>
          </p:cNvSpPr>
          <p:nvPr/>
        </p:nvSpPr>
        <p:spPr>
          <a:xfrm>
            <a:off x="8477250" y="2952750"/>
            <a:ext cx="1047750" cy="66675"/>
          </a:xfrm>
          <a:prstGeom prst="rect">
            <a:avLst/>
          </a:prstGeom>
          <a:solidFill>
            <a:srgbClr val="64818E"/>
          </a:solidFill>
          <a:ln w="9525">
            <a:solidFill>
              <a:srgbClr val="64818E"/>
            </a:solidFill>
          </a:ln>
        </p:spPr>
        <p:txBody>
          <a:bodyPr/>
          <a:lstStyle/>
          <a:p>
            <a:endParaRPr lang="zh-CN" altLang="en-US"/>
          </a:p>
        </p:txBody>
      </p:sp>
      <p:sp>
        <p:nvSpPr>
          <p:cNvPr id="6" name="Rectangle 5">
            <a:extLst>
              <a:ext uri="{FF2B5EF4-FFF2-40B4-BE49-F238E27FC236}">
                <a16:creationId xmlns:a16="http://schemas.microsoft.com/office/drawing/2014/main" id="{35EFB098-6606-4EFF-955E-B6A643B67B6F}"/>
              </a:ext>
            </a:extLst>
          </p:cNvPr>
          <p:cNvSpPr>
            <a:spLocks noGrp="1"/>
          </p:cNvSpPr>
          <p:nvPr/>
        </p:nvSpPr>
        <p:spPr>
          <a:xfrm>
            <a:off x="10048875" y="1619250"/>
            <a:ext cx="66675" cy="1333500"/>
          </a:xfrm>
          <a:prstGeom prst="rect">
            <a:avLst/>
          </a:prstGeom>
          <a:solidFill>
            <a:srgbClr val="64818E"/>
          </a:solidFill>
          <a:ln w="9525">
            <a:solidFill>
              <a:srgbClr val="64818E"/>
            </a:solidFill>
          </a:ln>
        </p:spPr>
        <p:txBody>
          <a:bodyPr/>
          <a:lstStyle/>
          <a:p>
            <a:endParaRPr lang="zh-CN" altLang="en-US"/>
          </a:p>
        </p:txBody>
      </p:sp>
      <p:sp>
        <p:nvSpPr>
          <p:cNvPr id="7" name="Rectangle 6">
            <a:extLst>
              <a:ext uri="{FF2B5EF4-FFF2-40B4-BE49-F238E27FC236}">
                <a16:creationId xmlns:a16="http://schemas.microsoft.com/office/drawing/2014/main" id="{45417372-7258-4D99-88FB-A3BD8F76EB1D}"/>
              </a:ext>
            </a:extLst>
          </p:cNvPr>
          <p:cNvSpPr>
            <a:spLocks noGrp="1"/>
          </p:cNvSpPr>
          <p:nvPr/>
        </p:nvSpPr>
        <p:spPr>
          <a:xfrm>
            <a:off x="9858375" y="3810000"/>
            <a:ext cx="1333500" cy="66675"/>
          </a:xfrm>
          <a:prstGeom prst="rect">
            <a:avLst/>
          </a:prstGeom>
          <a:solidFill>
            <a:srgbClr val="64818E"/>
          </a:solidFill>
          <a:ln w="9525">
            <a:solidFill>
              <a:srgbClr val="64818E"/>
            </a:solidFill>
          </a:ln>
        </p:spPr>
        <p:txBody>
          <a:bodyPr/>
          <a:lstStyle/>
          <a:p>
            <a:endParaRPr lang="zh-CN" altLang="en-US"/>
          </a:p>
        </p:txBody>
      </p:sp>
      <p:sp>
        <p:nvSpPr>
          <p:cNvPr id="8" name="Rectangle: Rounded Corners 7">
            <a:extLst>
              <a:ext uri="{FF2B5EF4-FFF2-40B4-BE49-F238E27FC236}">
                <a16:creationId xmlns:a16="http://schemas.microsoft.com/office/drawing/2014/main" id="{55C2E025-111B-4C09-A3CA-90523D64FD19}"/>
              </a:ext>
            </a:extLst>
          </p:cNvPr>
          <p:cNvSpPr>
            <a:spLocks noGrp="1"/>
          </p:cNvSpPr>
          <p:nvPr/>
        </p:nvSpPr>
        <p:spPr>
          <a:xfrm>
            <a:off x="9151939" y="3636169"/>
            <a:ext cx="314325" cy="285750"/>
          </a:xfrm>
          <a:prstGeom prst="roundRect">
            <a:avLst>
              <a:gd name="adj" fmla="val 15385"/>
            </a:avLst>
          </a:prstGeom>
          <a:solidFill>
            <a:srgbClr val="55C6C1"/>
          </a:solidFill>
          <a:ln w="9525">
            <a:solidFill>
              <a:srgbClr val="55C6C1"/>
            </a:solidFill>
          </a:ln>
        </p:spPr>
        <p:txBody>
          <a:bodyPr/>
          <a:lstStyle/>
          <a:p>
            <a:endParaRPr lang="zh-CN" altLang="en-US"/>
          </a:p>
        </p:txBody>
      </p:sp>
      <p:sp>
        <p:nvSpPr>
          <p:cNvPr id="10" name="Rectangle 9">
            <a:extLst>
              <a:ext uri="{FF2B5EF4-FFF2-40B4-BE49-F238E27FC236}">
                <a16:creationId xmlns:a16="http://schemas.microsoft.com/office/drawing/2014/main" id="{320C92F4-78B4-4AF7-964A-48F38F2C47B1}"/>
              </a:ext>
            </a:extLst>
          </p:cNvPr>
          <p:cNvSpPr>
            <a:spLocks noGrp="1"/>
          </p:cNvSpPr>
          <p:nvPr/>
        </p:nvSpPr>
        <p:spPr>
          <a:xfrm>
            <a:off x="9151939" y="4010025"/>
            <a:ext cx="85725" cy="342900"/>
          </a:xfrm>
          <a:prstGeom prst="rect">
            <a:avLst/>
          </a:prstGeom>
          <a:solidFill>
            <a:srgbClr val="12283B"/>
          </a:solidFill>
          <a:ln w="9525">
            <a:solidFill>
              <a:srgbClr val="12283B"/>
            </a:solidFill>
          </a:ln>
        </p:spPr>
        <p:txBody>
          <a:bodyPr/>
          <a:lstStyle/>
          <a:p>
            <a:endParaRPr lang="zh-CN" altLang="en-US"/>
          </a:p>
        </p:txBody>
      </p:sp>
      <p:sp>
        <p:nvSpPr>
          <p:cNvPr id="11" name="Oval 10">
            <a:extLst>
              <a:ext uri="{FF2B5EF4-FFF2-40B4-BE49-F238E27FC236}">
                <a16:creationId xmlns:a16="http://schemas.microsoft.com/office/drawing/2014/main" id="{0D081DC9-27B4-4F4F-B11C-D8BC354D601E}"/>
              </a:ext>
            </a:extLst>
          </p:cNvPr>
          <p:cNvSpPr>
            <a:spLocks noGrp="1"/>
          </p:cNvSpPr>
          <p:nvPr/>
        </p:nvSpPr>
        <p:spPr>
          <a:xfrm>
            <a:off x="9261476" y="3593306"/>
            <a:ext cx="95250" cy="85726"/>
          </a:xfrm>
          <a:prstGeom prst="ellipse">
            <a:avLst/>
          </a:prstGeom>
          <a:solidFill>
            <a:srgbClr val="FFFFFF"/>
          </a:solidFill>
          <a:ln w="9525">
            <a:solidFill>
              <a:srgbClr val="FFFFFF"/>
            </a:solidFill>
          </a:ln>
        </p:spPr>
        <p:txBody>
          <a:bodyPr/>
          <a:lstStyle/>
          <a:p>
            <a:endParaRPr lang="zh-CN" altLang="en-US"/>
          </a:p>
        </p:txBody>
      </p:sp>
      <p:sp>
        <p:nvSpPr>
          <p:cNvPr id="12" name="Rectangle 11">
            <a:extLst>
              <a:ext uri="{FF2B5EF4-FFF2-40B4-BE49-F238E27FC236}">
                <a16:creationId xmlns:a16="http://schemas.microsoft.com/office/drawing/2014/main" id="{5EC62898-0CB5-4921-8377-8930BBAFA948}"/>
              </a:ext>
            </a:extLst>
          </p:cNvPr>
          <p:cNvSpPr>
            <a:spLocks noGrp="1"/>
          </p:cNvSpPr>
          <p:nvPr/>
        </p:nvSpPr>
        <p:spPr>
          <a:xfrm>
            <a:off x="8696325" y="4324350"/>
            <a:ext cx="952500" cy="285750"/>
          </a:xfrm>
          <a:prstGeom prst="rect">
            <a:avLst/>
          </a:prstGeom>
          <a:noFill/>
          <a:ln w="9525">
            <a:noFill/>
          </a:ln>
        </p:spPr>
        <p:txBody>
          <a:bodyPr>
            <a:noAutofit/>
          </a:bodyPr>
          <a:lstStyle/>
          <a:p>
            <a:endParaRPr/>
          </a:p>
        </p:txBody>
      </p:sp>
      <p:sp>
        <p:nvSpPr>
          <p:cNvPr id="13" name="Rectangle 12">
            <a:extLst>
              <a:ext uri="{FF2B5EF4-FFF2-40B4-BE49-F238E27FC236}">
                <a16:creationId xmlns:a16="http://schemas.microsoft.com/office/drawing/2014/main" id="{FC988AD9-8674-4C64-9472-5123C3AD5449}"/>
              </a:ext>
            </a:extLst>
          </p:cNvPr>
          <p:cNvSpPr>
            <a:spLocks noGrp="1"/>
          </p:cNvSpPr>
          <p:nvPr/>
        </p:nvSpPr>
        <p:spPr>
          <a:xfrm>
            <a:off x="10334625" y="2143125"/>
            <a:ext cx="514350" cy="514350"/>
          </a:xfrm>
          <a:prstGeom prst="rect">
            <a:avLst/>
          </a:prstGeom>
          <a:solidFill>
            <a:srgbClr val="12283B"/>
          </a:solidFill>
          <a:ln w="9525">
            <a:solidFill>
              <a:srgbClr val="12283B"/>
            </a:solidFill>
          </a:ln>
        </p:spPr>
        <p:txBody>
          <a:bodyPr/>
          <a:lstStyle/>
          <a:p>
            <a:endParaRPr lang="zh-CN" altLang="en-US"/>
          </a:p>
        </p:txBody>
      </p:sp>
      <p:sp>
        <p:nvSpPr>
          <p:cNvPr id="14" name="Rectangle 13">
            <a:extLst>
              <a:ext uri="{FF2B5EF4-FFF2-40B4-BE49-F238E27FC236}">
                <a16:creationId xmlns:a16="http://schemas.microsoft.com/office/drawing/2014/main" id="{0F034634-41FE-40CE-8A07-FF59B902D0F9}"/>
              </a:ext>
            </a:extLst>
          </p:cNvPr>
          <p:cNvSpPr>
            <a:spLocks noGrp="1"/>
          </p:cNvSpPr>
          <p:nvPr/>
        </p:nvSpPr>
        <p:spPr>
          <a:xfrm>
            <a:off x="10401300" y="2209800"/>
            <a:ext cx="381000" cy="381000"/>
          </a:xfrm>
          <a:prstGeom prst="rect">
            <a:avLst/>
          </a:prstGeom>
          <a:solidFill>
            <a:srgbClr val="FFFFFF"/>
          </a:solidFill>
          <a:ln w="9525">
            <a:solidFill>
              <a:srgbClr val="FFFFFF"/>
            </a:solidFill>
          </a:ln>
        </p:spPr>
        <p:txBody>
          <a:bodyPr/>
          <a:lstStyle/>
          <a:p>
            <a:endParaRPr lang="zh-CN" altLang="en-US"/>
          </a:p>
        </p:txBody>
      </p:sp>
      <p:sp>
        <p:nvSpPr>
          <p:cNvPr id="15" name="Rectangle 14">
            <a:extLst>
              <a:ext uri="{FF2B5EF4-FFF2-40B4-BE49-F238E27FC236}">
                <a16:creationId xmlns:a16="http://schemas.microsoft.com/office/drawing/2014/main" id="{77531630-764C-46F8-B5AC-9AE987180891}"/>
              </a:ext>
            </a:extLst>
          </p:cNvPr>
          <p:cNvSpPr>
            <a:spLocks noGrp="1"/>
          </p:cNvSpPr>
          <p:nvPr/>
        </p:nvSpPr>
        <p:spPr>
          <a:xfrm>
            <a:off x="10429875" y="2238375"/>
            <a:ext cx="95250" cy="95250"/>
          </a:xfrm>
          <a:prstGeom prst="rect">
            <a:avLst/>
          </a:prstGeom>
          <a:solidFill>
            <a:srgbClr val="12283B"/>
          </a:solidFill>
          <a:ln w="9525">
            <a:solidFill>
              <a:srgbClr val="12283B"/>
            </a:solidFill>
          </a:ln>
        </p:spPr>
        <p:txBody>
          <a:bodyPr/>
          <a:lstStyle/>
          <a:p>
            <a:endParaRPr lang="zh-CN" altLang="en-US"/>
          </a:p>
        </p:txBody>
      </p:sp>
      <p:sp>
        <p:nvSpPr>
          <p:cNvPr id="16" name="Rectangle 15">
            <a:extLst>
              <a:ext uri="{FF2B5EF4-FFF2-40B4-BE49-F238E27FC236}">
                <a16:creationId xmlns:a16="http://schemas.microsoft.com/office/drawing/2014/main" id="{99403996-E06E-4966-B1E6-8C716A20D127}"/>
              </a:ext>
            </a:extLst>
          </p:cNvPr>
          <p:cNvSpPr>
            <a:spLocks noGrp="1"/>
          </p:cNvSpPr>
          <p:nvPr/>
        </p:nvSpPr>
        <p:spPr>
          <a:xfrm>
            <a:off x="10534650" y="2238375"/>
            <a:ext cx="95250" cy="95250"/>
          </a:xfrm>
          <a:prstGeom prst="rect">
            <a:avLst/>
          </a:prstGeom>
          <a:solidFill>
            <a:srgbClr val="12283B"/>
          </a:solidFill>
          <a:ln w="9525">
            <a:solidFill>
              <a:srgbClr val="12283B"/>
            </a:solidFill>
          </a:ln>
        </p:spPr>
        <p:txBody>
          <a:bodyPr/>
          <a:lstStyle/>
          <a:p>
            <a:endParaRPr lang="zh-CN" altLang="en-US"/>
          </a:p>
        </p:txBody>
      </p:sp>
      <p:sp>
        <p:nvSpPr>
          <p:cNvPr id="17" name="Rectangle 16">
            <a:extLst>
              <a:ext uri="{FF2B5EF4-FFF2-40B4-BE49-F238E27FC236}">
                <a16:creationId xmlns:a16="http://schemas.microsoft.com/office/drawing/2014/main" id="{D9B475FC-583B-4D6D-B659-1569B0A2AEB2}"/>
              </a:ext>
            </a:extLst>
          </p:cNvPr>
          <p:cNvSpPr>
            <a:spLocks noGrp="1"/>
          </p:cNvSpPr>
          <p:nvPr/>
        </p:nvSpPr>
        <p:spPr>
          <a:xfrm>
            <a:off x="10639425" y="2343150"/>
            <a:ext cx="95250" cy="95250"/>
          </a:xfrm>
          <a:prstGeom prst="rect">
            <a:avLst/>
          </a:prstGeom>
          <a:solidFill>
            <a:srgbClr val="12283B"/>
          </a:solidFill>
          <a:ln w="9525">
            <a:solidFill>
              <a:srgbClr val="12283B"/>
            </a:solidFill>
          </a:ln>
        </p:spPr>
        <p:txBody>
          <a:bodyPr/>
          <a:lstStyle/>
          <a:p>
            <a:endParaRPr lang="zh-CN" altLang="en-US"/>
          </a:p>
        </p:txBody>
      </p:sp>
      <p:sp>
        <p:nvSpPr>
          <p:cNvPr id="18" name="Rectangle 17">
            <a:extLst>
              <a:ext uri="{FF2B5EF4-FFF2-40B4-BE49-F238E27FC236}">
                <a16:creationId xmlns:a16="http://schemas.microsoft.com/office/drawing/2014/main" id="{B501291C-E4EA-4118-BD57-C5CF68E58363}"/>
              </a:ext>
            </a:extLst>
          </p:cNvPr>
          <p:cNvSpPr>
            <a:spLocks noGrp="1"/>
          </p:cNvSpPr>
          <p:nvPr/>
        </p:nvSpPr>
        <p:spPr>
          <a:xfrm>
            <a:off x="10429875" y="2447925"/>
            <a:ext cx="95250" cy="95250"/>
          </a:xfrm>
          <a:prstGeom prst="rect">
            <a:avLst/>
          </a:prstGeom>
          <a:solidFill>
            <a:srgbClr val="12283B"/>
          </a:solidFill>
          <a:ln w="9525">
            <a:solidFill>
              <a:srgbClr val="12283B"/>
            </a:solidFill>
          </a:ln>
        </p:spPr>
        <p:txBody>
          <a:bodyPr/>
          <a:lstStyle/>
          <a:p>
            <a:endParaRPr lang="zh-CN" altLang="en-US"/>
          </a:p>
        </p:txBody>
      </p:sp>
      <p:sp>
        <p:nvSpPr>
          <p:cNvPr id="19" name="Rectangle 18">
            <a:extLst>
              <a:ext uri="{FF2B5EF4-FFF2-40B4-BE49-F238E27FC236}">
                <a16:creationId xmlns:a16="http://schemas.microsoft.com/office/drawing/2014/main" id="{F1801E32-2A80-441B-8C4A-92573D04553B}"/>
              </a:ext>
            </a:extLst>
          </p:cNvPr>
          <p:cNvSpPr>
            <a:spLocks noGrp="1"/>
          </p:cNvSpPr>
          <p:nvPr/>
        </p:nvSpPr>
        <p:spPr>
          <a:xfrm>
            <a:off x="10639425" y="2447925"/>
            <a:ext cx="95250" cy="95250"/>
          </a:xfrm>
          <a:prstGeom prst="rect">
            <a:avLst/>
          </a:prstGeom>
          <a:solidFill>
            <a:srgbClr val="12283B"/>
          </a:solidFill>
          <a:ln w="9525">
            <a:solidFill>
              <a:srgbClr val="12283B"/>
            </a:solidFill>
          </a:ln>
        </p:spPr>
        <p:txBody>
          <a:bodyPr/>
          <a:lstStyle/>
          <a:p>
            <a:endParaRPr lang="zh-CN" altLang="en-US"/>
          </a:p>
        </p:txBody>
      </p:sp>
    </p:spTree>
    <p:extLst>
      <p:ext uri="{BB962C8B-B14F-4D97-AF65-F5344CB8AC3E}">
        <p14:creationId xmlns:p14="http://schemas.microsoft.com/office/powerpoint/2010/main" val="85258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767B56A-879F-4A7B-B40C-EC4AFDC6A972}"/>
              </a:ext>
            </a:extLst>
          </p:cNvPr>
          <p:cNvSpPr>
            <a:spLocks noGrp="1"/>
          </p:cNvSpPr>
          <p:nvPr/>
        </p:nvSpPr>
        <p:spPr>
          <a:xfrm>
            <a:off x="571500" y="409575"/>
            <a:ext cx="10953750" cy="762000"/>
          </a:xfrm>
          <a:prstGeom prst="rect">
            <a:avLst/>
          </a:prstGeom>
          <a:noFill/>
          <a:ln w="9525">
            <a:noFill/>
          </a:ln>
        </p:spPr>
        <p:txBody>
          <a:bodyPr>
            <a:noAutofit/>
          </a:bodyPr>
          <a:lstStyle/>
          <a:p>
            <a:pPr>
              <a:defRPr sz="3000" b="1">
                <a:solidFill>
                  <a:srgbClr val="12283B"/>
                </a:solidFill>
                <a:latin typeface="Arial"/>
                <a:ea typeface="Arial"/>
                <a:cs typeface="Arial"/>
              </a:defRPr>
            </a:pPr>
            <a:r>
              <a:rPr sz="3000" b="1" dirty="0">
                <a:solidFill>
                  <a:srgbClr val="12283B"/>
                </a:solidFill>
                <a:latin typeface="Arial"/>
                <a:ea typeface="Arial"/>
                <a:cs typeface="Arial"/>
              </a:rPr>
              <a:t>Challenge overview</a:t>
            </a:r>
          </a:p>
        </p:txBody>
      </p:sp>
      <p:sp>
        <p:nvSpPr>
          <p:cNvPr id="3" name="Rectangle 2">
            <a:extLst>
              <a:ext uri="{FF2B5EF4-FFF2-40B4-BE49-F238E27FC236}">
                <a16:creationId xmlns:a16="http://schemas.microsoft.com/office/drawing/2014/main" id="{A9F45745-8A72-4A90-87DB-5777C5CC6EBC}"/>
              </a:ext>
            </a:extLst>
          </p:cNvPr>
          <p:cNvSpPr>
            <a:spLocks noGrp="1"/>
          </p:cNvSpPr>
          <p:nvPr/>
        </p:nvSpPr>
        <p:spPr>
          <a:xfrm>
            <a:off x="11144250" y="6362700"/>
            <a:ext cx="571500" cy="238125"/>
          </a:xfrm>
          <a:prstGeom prst="rect">
            <a:avLst/>
          </a:prstGeom>
          <a:noFill/>
          <a:ln w="9525">
            <a:noFill/>
          </a:ln>
        </p:spPr>
        <p:txBody>
          <a:bodyPr>
            <a:noAutofit/>
          </a:bodyPr>
          <a:lstStyle/>
          <a:p>
            <a:pPr>
              <a:defRPr sz="1125" b="0">
                <a:solidFill>
                  <a:srgbClr val="4E6473"/>
                </a:solidFill>
                <a:latin typeface="Arial"/>
                <a:ea typeface="Arial"/>
                <a:cs typeface="Arial"/>
              </a:defRPr>
            </a:pPr>
            <a:r>
              <a:rPr sz="1125" b="0">
                <a:solidFill>
                  <a:srgbClr val="4E6473"/>
                </a:solidFill>
                <a:latin typeface="Arial"/>
                <a:ea typeface="Arial"/>
                <a:cs typeface="Arial"/>
              </a:rPr>
              <a:t>02</a:t>
            </a:r>
          </a:p>
        </p:txBody>
      </p:sp>
      <p:sp>
        <p:nvSpPr>
          <p:cNvPr id="4" name="Rectangle 3">
            <a:extLst>
              <a:ext uri="{FF2B5EF4-FFF2-40B4-BE49-F238E27FC236}">
                <a16:creationId xmlns:a16="http://schemas.microsoft.com/office/drawing/2014/main" id="{BB0592D6-41A8-497A-BA4D-FE0458D0831A}"/>
              </a:ext>
            </a:extLst>
          </p:cNvPr>
          <p:cNvSpPr>
            <a:spLocks noGrp="1"/>
          </p:cNvSpPr>
          <p:nvPr/>
        </p:nvSpPr>
        <p:spPr>
          <a:xfrm>
            <a:off x="502920" y="1171575"/>
            <a:ext cx="10858500" cy="619125"/>
          </a:xfrm>
          <a:prstGeom prst="rect">
            <a:avLst/>
          </a:prstGeom>
          <a:noFill/>
          <a:ln w="9525">
            <a:noFill/>
          </a:ln>
        </p:spPr>
        <p:txBody>
          <a:bodyPr>
            <a:noAutofit/>
          </a:bodyPr>
          <a:lstStyle/>
          <a:p>
            <a:pPr algn="just"/>
            <a:r>
              <a:rPr lang="zh-CN" altLang="zh-CN" sz="2000" dirty="0"/>
              <a:t>Each team will control a group of approximately </a:t>
            </a:r>
            <a:r>
              <a:rPr lang="zh-CN" altLang="zh-CN" sz="2000" b="1" dirty="0"/>
              <a:t>four wheeled mobile robots</a:t>
            </a:r>
            <a:r>
              <a:rPr lang="zh-CN" altLang="zh-CN" sz="2000" dirty="0"/>
              <a:t> operating in an unknown indoor environment.</a:t>
            </a:r>
            <a:r>
              <a:rPr lang="en-US" altLang="zh-CN" sz="2000" dirty="0"/>
              <a:t> </a:t>
            </a:r>
            <a:r>
              <a:rPr lang="zh-CN" altLang="zh-CN" sz="2000" dirty="0"/>
              <a:t>During the mission, the robots may need to:</a:t>
            </a:r>
            <a:endParaRPr lang="en-US" altLang="zh-CN" sz="2000" dirty="0"/>
          </a:p>
        </p:txBody>
      </p:sp>
      <p:sp>
        <p:nvSpPr>
          <p:cNvPr id="23" name="Shape 2">
            <a:extLst>
              <a:ext uri="{FF2B5EF4-FFF2-40B4-BE49-F238E27FC236}">
                <a16:creationId xmlns:a16="http://schemas.microsoft.com/office/drawing/2014/main" id="{AED314BA-42F8-F222-51DD-E1D5DA2FD4D3}"/>
              </a:ext>
            </a:extLst>
          </p:cNvPr>
          <p:cNvSpPr/>
          <p:nvPr/>
        </p:nvSpPr>
        <p:spPr>
          <a:xfrm>
            <a:off x="502920" y="1033272"/>
            <a:ext cx="11155680" cy="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5" name="Text 5">
            <a:extLst>
              <a:ext uri="{FF2B5EF4-FFF2-40B4-BE49-F238E27FC236}">
                <a16:creationId xmlns:a16="http://schemas.microsoft.com/office/drawing/2014/main" id="{A3E01473-C104-CC12-9269-AA17225E32A0}"/>
              </a:ext>
            </a:extLst>
          </p:cNvPr>
          <p:cNvSpPr/>
          <p:nvPr/>
        </p:nvSpPr>
        <p:spPr>
          <a:xfrm>
            <a:off x="617982" y="1709166"/>
            <a:ext cx="6544818" cy="3496817"/>
          </a:xfrm>
          <a:prstGeom prst="rect">
            <a:avLst/>
          </a:prstGeom>
          <a:noFill/>
          <a:ln/>
        </p:spPr>
        <p:txBody>
          <a:bodyPr wrap="square" lIns="508" tIns="508" rIns="508" bIns="508" rtlCol="0" anchor="ctr">
            <a:normAutofit/>
          </a:bodyPr>
          <a:lstStyle/>
          <a:p>
            <a:pPr marL="285750" lvl="0" indent="-285750">
              <a:spcAft>
                <a:spcPts val="1200"/>
              </a:spcAft>
              <a:buFont typeface="Wingdings" panose="05000000000000000000" pitchFamily="2" charset="2"/>
              <a:buChar char="l"/>
            </a:pPr>
            <a:r>
              <a:rPr lang="zh-CN" altLang="zh-CN" dirty="0"/>
              <a:t>Explore an initially unknown environment</a:t>
            </a:r>
          </a:p>
          <a:p>
            <a:pPr marL="285750" lvl="0" indent="-285750">
              <a:spcAft>
                <a:spcPts val="1200"/>
              </a:spcAft>
              <a:buFont typeface="Wingdings" panose="05000000000000000000" pitchFamily="2" charset="2"/>
              <a:buChar char="l"/>
            </a:pPr>
            <a:r>
              <a:rPr lang="zh-CN" altLang="zh-CN" dirty="0"/>
              <a:t>Detect</a:t>
            </a:r>
            <a:r>
              <a:rPr lang="en-US" altLang="zh-CN" dirty="0"/>
              <a:t>,</a:t>
            </a:r>
            <a:r>
              <a:rPr lang="zh-CN" altLang="en-US" dirty="0"/>
              <a:t> </a:t>
            </a:r>
            <a:r>
              <a:rPr lang="zh-CN" altLang="zh-CN" dirty="0"/>
              <a:t>identify</a:t>
            </a:r>
            <a:r>
              <a:rPr lang="en-US" altLang="zh-CN" dirty="0"/>
              <a:t>, and localize</a:t>
            </a:r>
            <a:r>
              <a:rPr lang="zh-CN" altLang="zh-CN" dirty="0"/>
              <a:t> different targets</a:t>
            </a:r>
          </a:p>
          <a:p>
            <a:pPr marL="285750" lvl="0" indent="-285750">
              <a:spcAft>
                <a:spcPts val="1200"/>
              </a:spcAft>
              <a:buFont typeface="Wingdings" panose="05000000000000000000" pitchFamily="2" charset="2"/>
              <a:buChar char="l"/>
            </a:pPr>
            <a:r>
              <a:rPr lang="zh-CN" altLang="zh-CN" dirty="0"/>
              <a:t>Share information between robots</a:t>
            </a:r>
            <a:r>
              <a:rPr lang="en-US" altLang="zh-CN" dirty="0"/>
              <a:t> and edge node</a:t>
            </a:r>
            <a:endParaRPr lang="zh-CN" altLang="zh-CN" dirty="0"/>
          </a:p>
          <a:p>
            <a:pPr marL="285750" lvl="0" indent="-285750">
              <a:spcAft>
                <a:spcPts val="1200"/>
              </a:spcAft>
              <a:buFont typeface="Wingdings" panose="05000000000000000000" pitchFamily="2" charset="2"/>
              <a:buChar char="l"/>
            </a:pPr>
            <a:r>
              <a:rPr lang="zh-CN" altLang="zh-CN" dirty="0"/>
              <a:t>Allocate tasks among robots</a:t>
            </a:r>
          </a:p>
          <a:p>
            <a:pPr marL="285750" lvl="0" indent="-285750">
              <a:spcAft>
                <a:spcPts val="1200"/>
              </a:spcAft>
              <a:buFont typeface="Wingdings" panose="05000000000000000000" pitchFamily="2" charset="2"/>
              <a:buChar char="l"/>
            </a:pPr>
            <a:r>
              <a:rPr lang="zh-CN" altLang="zh-CN" dirty="0"/>
              <a:t>Form robot groups to complete specific rescue tasks</a:t>
            </a:r>
          </a:p>
          <a:p>
            <a:pPr marL="285750" lvl="0" indent="-285750">
              <a:spcAft>
                <a:spcPts val="1200"/>
              </a:spcAft>
              <a:buFont typeface="Wingdings" panose="05000000000000000000" pitchFamily="2" charset="2"/>
              <a:buChar char="l"/>
            </a:pPr>
            <a:r>
              <a:rPr lang="zh-CN" altLang="zh-CN" dirty="0"/>
              <a:t>Adapt their behavior according to mission updates</a:t>
            </a:r>
          </a:p>
          <a:p>
            <a:pPr marL="285750" lvl="0" indent="-285750">
              <a:spcAft>
                <a:spcPts val="1200"/>
              </a:spcAft>
              <a:buFont typeface="Wingdings" panose="05000000000000000000" pitchFamily="2" charset="2"/>
              <a:buChar char="l"/>
            </a:pPr>
            <a:r>
              <a:rPr lang="zh-CN" altLang="zh-CN" dirty="0"/>
              <a:t>Manage computation, communication, </a:t>
            </a:r>
            <a:r>
              <a:rPr lang="en-US" altLang="zh-CN" dirty="0"/>
              <a:t>or</a:t>
            </a:r>
            <a:r>
              <a:rPr lang="zh-CN" altLang="zh-CN" dirty="0"/>
              <a:t> energy consumption</a:t>
            </a:r>
          </a:p>
        </p:txBody>
      </p:sp>
      <p:pic>
        <p:nvPicPr>
          <p:cNvPr id="27" name="Image 0" descr="/mnt/data/a_detailed_isometric_3d_rendered_indoor_scene_lik_batch_2.png">
            <a:extLst>
              <a:ext uri="{FF2B5EF4-FFF2-40B4-BE49-F238E27FC236}">
                <a16:creationId xmlns:a16="http://schemas.microsoft.com/office/drawing/2014/main" id="{3BBACCBE-A1C2-13D8-B9A5-62E500A73272}"/>
              </a:ext>
            </a:extLst>
          </p:cNvPr>
          <p:cNvPicPr>
            <a:picLocks noChangeAspect="1"/>
          </p:cNvPicPr>
          <p:nvPr/>
        </p:nvPicPr>
        <p:blipFill>
          <a:blip r:embed="rId3"/>
          <a:stretch>
            <a:fillRect/>
          </a:stretch>
        </p:blipFill>
        <p:spPr>
          <a:xfrm>
            <a:off x="7162800" y="2276867"/>
            <a:ext cx="4453542" cy="2506449"/>
          </a:xfrm>
          <a:prstGeom prst="rect">
            <a:avLst/>
          </a:prstGeom>
        </p:spPr>
      </p:pic>
      <p:sp>
        <p:nvSpPr>
          <p:cNvPr id="29" name="Shape 7">
            <a:extLst>
              <a:ext uri="{FF2B5EF4-FFF2-40B4-BE49-F238E27FC236}">
                <a16:creationId xmlns:a16="http://schemas.microsoft.com/office/drawing/2014/main" id="{84A3D629-EC96-CF4C-E024-A4CB044A3ACE}"/>
              </a:ext>
            </a:extLst>
          </p:cNvPr>
          <p:cNvSpPr/>
          <p:nvPr/>
        </p:nvSpPr>
        <p:spPr>
          <a:xfrm>
            <a:off x="3454469" y="5226484"/>
            <a:ext cx="6117399" cy="786384"/>
          </a:xfrm>
          <a:prstGeom prst="roundRect">
            <a:avLst>
              <a:gd name="adj" fmla="val 9302"/>
            </a:avLst>
          </a:prstGeom>
          <a:solidFill>
            <a:srgbClr val="0B1F3A">
              <a:alpha val="97000"/>
            </a:srgbClr>
          </a:solidFill>
          <a:ln w="12700">
            <a:solidFill>
              <a:srgbClr val="0B1F3A">
                <a:alpha val="0"/>
              </a:srgbClr>
            </a:solidFill>
            <a:prstDash val="solid"/>
          </a:ln>
        </p:spPr>
        <p:txBody>
          <a:bodyPr/>
          <a:lstStyle/>
          <a:p>
            <a:endParaRPr lang="zh-CN" altLang="en-US"/>
          </a:p>
        </p:txBody>
      </p:sp>
      <p:sp>
        <p:nvSpPr>
          <p:cNvPr id="31" name="Text 8">
            <a:extLst>
              <a:ext uri="{FF2B5EF4-FFF2-40B4-BE49-F238E27FC236}">
                <a16:creationId xmlns:a16="http://schemas.microsoft.com/office/drawing/2014/main" id="{D4C81126-269E-297E-83B7-FDE933AF4B5A}"/>
              </a:ext>
            </a:extLst>
          </p:cNvPr>
          <p:cNvSpPr/>
          <p:nvPr/>
        </p:nvSpPr>
        <p:spPr>
          <a:xfrm>
            <a:off x="3593299" y="5355128"/>
            <a:ext cx="5839738" cy="543755"/>
          </a:xfrm>
          <a:prstGeom prst="rect">
            <a:avLst/>
          </a:prstGeom>
          <a:noFill/>
          <a:ln/>
        </p:spPr>
        <p:txBody>
          <a:bodyPr wrap="square" lIns="0" tIns="0" rIns="0" bIns="0" rtlCol="0" anchor="ctr"/>
          <a:lstStyle/>
          <a:p>
            <a:pPr marL="0" indent="0" algn="ctr">
              <a:buNone/>
            </a:pPr>
            <a:r>
              <a:rPr lang="en-US" sz="1600" b="1" dirty="0">
                <a:solidFill>
                  <a:srgbClr val="FFFFFF"/>
                </a:solidFill>
              </a:rPr>
              <a:t>Core theme: AI + Robotics + Edge Computing + Communication + Control</a:t>
            </a:r>
            <a:endParaRPr lang="en-US" sz="1600" dirty="0"/>
          </a:p>
        </p:txBody>
      </p:sp>
    </p:spTree>
    <p:extLst>
      <p:ext uri="{BB962C8B-B14F-4D97-AF65-F5344CB8AC3E}">
        <p14:creationId xmlns:p14="http://schemas.microsoft.com/office/powerpoint/2010/main" val="470999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1E22037F-A429-47F3-809A-8A8105FE4039}"/>
              </a:ext>
            </a:extLst>
          </p:cNvPr>
          <p:cNvSpPr>
            <a:spLocks noGrp="1"/>
          </p:cNvSpPr>
          <p:nvPr/>
        </p:nvSpPr>
        <p:spPr>
          <a:xfrm>
            <a:off x="571500" y="409575"/>
            <a:ext cx="10953750" cy="762000"/>
          </a:xfrm>
          <a:prstGeom prst="rect">
            <a:avLst/>
          </a:prstGeom>
          <a:noFill/>
          <a:ln w="9525">
            <a:noFill/>
          </a:ln>
        </p:spPr>
        <p:txBody>
          <a:bodyPr>
            <a:noAutofit/>
          </a:bodyPr>
          <a:lstStyle/>
          <a:p>
            <a:pPr>
              <a:defRPr sz="3000" b="1">
                <a:solidFill>
                  <a:srgbClr val="12283B"/>
                </a:solidFill>
                <a:latin typeface="Arial"/>
                <a:ea typeface="Arial"/>
                <a:cs typeface="Arial"/>
              </a:defRPr>
            </a:pPr>
            <a:r>
              <a:rPr sz="3000" b="1" dirty="0">
                <a:solidFill>
                  <a:srgbClr val="12283B"/>
                </a:solidFill>
                <a:latin typeface="Arial"/>
                <a:ea typeface="Arial"/>
                <a:cs typeface="Arial"/>
              </a:rPr>
              <a:t>System </a:t>
            </a:r>
            <a:r>
              <a:rPr lang="en-US" sz="3000" b="1" dirty="0">
                <a:solidFill>
                  <a:srgbClr val="12283B"/>
                </a:solidFill>
                <a:latin typeface="Arial"/>
                <a:ea typeface="Arial"/>
                <a:cs typeface="Arial"/>
              </a:rPr>
              <a:t>architecture - overview</a:t>
            </a:r>
            <a:endParaRPr sz="3000" b="1" dirty="0">
              <a:solidFill>
                <a:srgbClr val="12283B"/>
              </a:solidFill>
              <a:latin typeface="Arial"/>
              <a:ea typeface="Arial"/>
              <a:cs typeface="Arial"/>
            </a:endParaRPr>
          </a:p>
        </p:txBody>
      </p:sp>
      <p:sp>
        <p:nvSpPr>
          <p:cNvPr id="3" name="Rectangle 2">
            <a:extLst>
              <a:ext uri="{FF2B5EF4-FFF2-40B4-BE49-F238E27FC236}">
                <a16:creationId xmlns:a16="http://schemas.microsoft.com/office/drawing/2014/main" id="{6613F31C-BB09-4B1F-85D2-BEC0BE9C9772}"/>
              </a:ext>
            </a:extLst>
          </p:cNvPr>
          <p:cNvSpPr>
            <a:spLocks noGrp="1"/>
          </p:cNvSpPr>
          <p:nvPr/>
        </p:nvSpPr>
        <p:spPr>
          <a:xfrm>
            <a:off x="11144250" y="6362700"/>
            <a:ext cx="571500" cy="238125"/>
          </a:xfrm>
          <a:prstGeom prst="rect">
            <a:avLst/>
          </a:prstGeom>
          <a:noFill/>
          <a:ln w="9525">
            <a:noFill/>
          </a:ln>
        </p:spPr>
        <p:txBody>
          <a:bodyPr>
            <a:noAutofit/>
          </a:bodyPr>
          <a:lstStyle/>
          <a:p>
            <a:pPr>
              <a:defRPr sz="1125" b="0">
                <a:solidFill>
                  <a:srgbClr val="4E6473"/>
                </a:solidFill>
                <a:latin typeface="Arial"/>
                <a:ea typeface="Arial"/>
                <a:cs typeface="Arial"/>
              </a:defRPr>
            </a:pPr>
            <a:r>
              <a:rPr sz="1125" b="0">
                <a:solidFill>
                  <a:srgbClr val="4E6473"/>
                </a:solidFill>
                <a:latin typeface="Arial"/>
                <a:ea typeface="Arial"/>
                <a:cs typeface="Arial"/>
              </a:rPr>
              <a:t>03</a:t>
            </a:r>
          </a:p>
        </p:txBody>
      </p:sp>
      <p:sp>
        <p:nvSpPr>
          <p:cNvPr id="36" name="Shape 2">
            <a:extLst>
              <a:ext uri="{FF2B5EF4-FFF2-40B4-BE49-F238E27FC236}">
                <a16:creationId xmlns:a16="http://schemas.microsoft.com/office/drawing/2014/main" id="{A8A03C93-8F94-224D-98C0-673217C322BF}"/>
              </a:ext>
            </a:extLst>
          </p:cNvPr>
          <p:cNvSpPr/>
          <p:nvPr/>
        </p:nvSpPr>
        <p:spPr>
          <a:xfrm>
            <a:off x="502920" y="1033272"/>
            <a:ext cx="11155680" cy="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38" name="Picture 37">
            <a:extLst>
              <a:ext uri="{FF2B5EF4-FFF2-40B4-BE49-F238E27FC236}">
                <a16:creationId xmlns:a16="http://schemas.microsoft.com/office/drawing/2014/main" id="{40A6B7D1-4149-C9AB-F123-94BA3435B4A7}"/>
              </a:ext>
            </a:extLst>
          </p:cNvPr>
          <p:cNvPicPr>
            <a:picLocks noChangeAspect="1"/>
          </p:cNvPicPr>
          <p:nvPr/>
        </p:nvPicPr>
        <p:blipFill>
          <a:blip r:embed="rId3"/>
          <a:srcRect b="27080"/>
          <a:stretch>
            <a:fillRect/>
          </a:stretch>
        </p:blipFill>
        <p:spPr>
          <a:xfrm>
            <a:off x="377914" y="1917546"/>
            <a:ext cx="6742221" cy="3118430"/>
          </a:xfrm>
          <a:prstGeom prst="rect">
            <a:avLst/>
          </a:prstGeom>
        </p:spPr>
      </p:pic>
      <p:sp>
        <p:nvSpPr>
          <p:cNvPr id="40" name="Shape 8">
            <a:extLst>
              <a:ext uri="{FF2B5EF4-FFF2-40B4-BE49-F238E27FC236}">
                <a16:creationId xmlns:a16="http://schemas.microsoft.com/office/drawing/2014/main" id="{D137B07C-13EB-7548-002C-A18E879D75A0}"/>
              </a:ext>
            </a:extLst>
          </p:cNvPr>
          <p:cNvSpPr/>
          <p:nvPr/>
        </p:nvSpPr>
        <p:spPr>
          <a:xfrm>
            <a:off x="7487611" y="1155641"/>
            <a:ext cx="4170988" cy="1402030"/>
          </a:xfrm>
          <a:prstGeom prst="roundRect">
            <a:avLst>
              <a:gd name="adj" fmla="val 5714"/>
            </a:avLst>
          </a:prstGeom>
          <a:solidFill>
            <a:srgbClr val="FFFFFF"/>
          </a:solidFill>
          <a:ln w="12700">
            <a:solidFill>
              <a:srgbClr val="D7E3F7"/>
            </a:solidFill>
            <a:prstDash val="solid"/>
          </a:ln>
        </p:spPr>
        <p:txBody>
          <a:bodyPr/>
          <a:lstStyle/>
          <a:p>
            <a:endParaRPr lang="zh-CN" altLang="en-US"/>
          </a:p>
        </p:txBody>
      </p:sp>
      <p:sp>
        <p:nvSpPr>
          <p:cNvPr id="42" name="Text 5">
            <a:extLst>
              <a:ext uri="{FF2B5EF4-FFF2-40B4-BE49-F238E27FC236}">
                <a16:creationId xmlns:a16="http://schemas.microsoft.com/office/drawing/2014/main" id="{E1602F5F-3152-F90E-7F67-CE5A95FBF316}"/>
              </a:ext>
            </a:extLst>
          </p:cNvPr>
          <p:cNvSpPr/>
          <p:nvPr/>
        </p:nvSpPr>
        <p:spPr>
          <a:xfrm>
            <a:off x="7651341" y="1280165"/>
            <a:ext cx="3246120" cy="201168"/>
          </a:xfrm>
          <a:prstGeom prst="rect">
            <a:avLst/>
          </a:prstGeom>
          <a:noFill/>
          <a:ln/>
        </p:spPr>
        <p:txBody>
          <a:bodyPr wrap="square" lIns="0" tIns="0" rIns="0" bIns="0" rtlCol="0" anchor="ctr"/>
          <a:lstStyle/>
          <a:p>
            <a:pPr marL="0" indent="0">
              <a:buNone/>
            </a:pPr>
            <a:r>
              <a:rPr lang="en-US" sz="1600" b="1" dirty="0">
                <a:solidFill>
                  <a:schemeClr val="accent1"/>
                </a:solidFill>
              </a:rPr>
              <a:t>1. </a:t>
            </a:r>
            <a:r>
              <a:rPr lang="en-US" altLang="zh-CN" sz="1600" b="1" dirty="0">
                <a:solidFill>
                  <a:schemeClr val="accent1"/>
                </a:solidFill>
              </a:rPr>
              <a:t>Mobile robot team</a:t>
            </a:r>
            <a:endParaRPr lang="en-US" sz="1600" dirty="0">
              <a:solidFill>
                <a:schemeClr val="accent1"/>
              </a:solidFill>
            </a:endParaRPr>
          </a:p>
        </p:txBody>
      </p:sp>
      <p:sp>
        <p:nvSpPr>
          <p:cNvPr id="44" name="Text 6">
            <a:extLst>
              <a:ext uri="{FF2B5EF4-FFF2-40B4-BE49-F238E27FC236}">
                <a16:creationId xmlns:a16="http://schemas.microsoft.com/office/drawing/2014/main" id="{09B72859-A991-B9BC-9042-01095B48887B}"/>
              </a:ext>
            </a:extLst>
          </p:cNvPr>
          <p:cNvSpPr/>
          <p:nvPr/>
        </p:nvSpPr>
        <p:spPr>
          <a:xfrm>
            <a:off x="7704350" y="1381609"/>
            <a:ext cx="3712530" cy="1228538"/>
          </a:xfrm>
          <a:prstGeom prst="rect">
            <a:avLst/>
          </a:prstGeom>
          <a:noFill/>
          <a:ln/>
        </p:spPr>
        <p:txBody>
          <a:bodyPr wrap="square" lIns="254" tIns="254" rIns="254" bIns="254" rtlCol="0" anchor="ctr">
            <a:noAutofit/>
          </a:bodyPr>
          <a:lstStyle/>
          <a:p>
            <a:pPr marL="285750" lvl="0" indent="-285750">
              <a:buFont typeface="Wingdings" panose="05000000000000000000" pitchFamily="2" charset="2"/>
              <a:buChar char="l"/>
            </a:pPr>
            <a:r>
              <a:rPr lang="zh-CN" altLang="zh-CN" sz="1400" dirty="0"/>
              <a:t>Robots perform sensing, local computation, motion control, and exploration. </a:t>
            </a:r>
          </a:p>
          <a:p>
            <a:pPr marL="285750" lvl="0" indent="-285750">
              <a:buFont typeface="Wingdings" panose="05000000000000000000" pitchFamily="2" charset="2"/>
              <a:buChar char="l"/>
            </a:pPr>
            <a:r>
              <a:rPr lang="zh-CN" altLang="zh-CN" sz="1400" dirty="0"/>
              <a:t>Robots can communicate and share local information with each other.</a:t>
            </a:r>
          </a:p>
        </p:txBody>
      </p:sp>
      <p:sp>
        <p:nvSpPr>
          <p:cNvPr id="46" name="Shape 8">
            <a:extLst>
              <a:ext uri="{FF2B5EF4-FFF2-40B4-BE49-F238E27FC236}">
                <a16:creationId xmlns:a16="http://schemas.microsoft.com/office/drawing/2014/main" id="{DC3AC3A0-F74E-4B93-6C2B-14C36C82BDD1}"/>
              </a:ext>
            </a:extLst>
          </p:cNvPr>
          <p:cNvSpPr/>
          <p:nvPr/>
        </p:nvSpPr>
        <p:spPr>
          <a:xfrm>
            <a:off x="7487610" y="2682502"/>
            <a:ext cx="4170989" cy="2243996"/>
          </a:xfrm>
          <a:prstGeom prst="roundRect">
            <a:avLst>
              <a:gd name="adj" fmla="val 5714"/>
            </a:avLst>
          </a:prstGeom>
          <a:solidFill>
            <a:srgbClr val="FFFFFF"/>
          </a:solidFill>
          <a:ln w="12700">
            <a:solidFill>
              <a:srgbClr val="D7E3F7"/>
            </a:solidFill>
            <a:prstDash val="solid"/>
          </a:ln>
        </p:spPr>
        <p:txBody>
          <a:bodyPr/>
          <a:lstStyle/>
          <a:p>
            <a:endParaRPr lang="zh-CN" altLang="en-US"/>
          </a:p>
        </p:txBody>
      </p:sp>
      <p:sp>
        <p:nvSpPr>
          <p:cNvPr id="48" name="Text 5">
            <a:extLst>
              <a:ext uri="{FF2B5EF4-FFF2-40B4-BE49-F238E27FC236}">
                <a16:creationId xmlns:a16="http://schemas.microsoft.com/office/drawing/2014/main" id="{4FAA0BD6-6DF1-B8FC-6CE0-B9325A948978}"/>
              </a:ext>
            </a:extLst>
          </p:cNvPr>
          <p:cNvSpPr/>
          <p:nvPr/>
        </p:nvSpPr>
        <p:spPr>
          <a:xfrm>
            <a:off x="7651341" y="2807026"/>
            <a:ext cx="3246120" cy="201168"/>
          </a:xfrm>
          <a:prstGeom prst="rect">
            <a:avLst/>
          </a:prstGeom>
          <a:noFill/>
          <a:ln/>
        </p:spPr>
        <p:txBody>
          <a:bodyPr wrap="square" lIns="0" tIns="0" rIns="0" bIns="0" rtlCol="0" anchor="ctr"/>
          <a:lstStyle/>
          <a:p>
            <a:pPr marL="0" indent="0">
              <a:buNone/>
            </a:pPr>
            <a:r>
              <a:rPr lang="en-US" sz="1600" b="1" dirty="0">
                <a:solidFill>
                  <a:schemeClr val="accent6">
                    <a:lumMod val="75000"/>
                  </a:schemeClr>
                </a:solidFill>
              </a:rPr>
              <a:t>2. Edge computing node</a:t>
            </a:r>
            <a:endParaRPr lang="en-US" sz="1600" dirty="0">
              <a:solidFill>
                <a:schemeClr val="accent6">
                  <a:lumMod val="75000"/>
                </a:schemeClr>
              </a:solidFill>
            </a:endParaRPr>
          </a:p>
        </p:txBody>
      </p:sp>
      <p:sp>
        <p:nvSpPr>
          <p:cNvPr id="50" name="Text 6">
            <a:extLst>
              <a:ext uri="{FF2B5EF4-FFF2-40B4-BE49-F238E27FC236}">
                <a16:creationId xmlns:a16="http://schemas.microsoft.com/office/drawing/2014/main" id="{EBD24CEA-53AC-5392-2566-CBCEC57EFC25}"/>
              </a:ext>
            </a:extLst>
          </p:cNvPr>
          <p:cNvSpPr/>
          <p:nvPr/>
        </p:nvSpPr>
        <p:spPr>
          <a:xfrm>
            <a:off x="7651341" y="3008195"/>
            <a:ext cx="3712530" cy="1908682"/>
          </a:xfrm>
          <a:prstGeom prst="rect">
            <a:avLst/>
          </a:prstGeom>
          <a:noFill/>
          <a:ln/>
        </p:spPr>
        <p:txBody>
          <a:bodyPr wrap="square" lIns="254" tIns="254" rIns="254" bIns="254" rtlCol="0" anchor="ctr">
            <a:noAutofit/>
          </a:bodyPr>
          <a:lstStyle/>
          <a:p>
            <a:pPr marL="285750" lvl="0" indent="-285750">
              <a:buFont typeface="Wingdings" panose="05000000000000000000" pitchFamily="2" charset="2"/>
              <a:buChar char="l"/>
            </a:pPr>
            <a:r>
              <a:rPr lang="zh-CN" altLang="zh-CN" sz="1400" dirty="0"/>
              <a:t>A single local computing server is available to each team. </a:t>
            </a:r>
          </a:p>
          <a:p>
            <a:pPr marL="285750" lvl="0" indent="-285750">
              <a:buFont typeface="Wingdings" panose="05000000000000000000" pitchFamily="2" charset="2"/>
              <a:buChar char="l"/>
            </a:pPr>
            <a:r>
              <a:rPr lang="zh-CN" altLang="zh-CN" sz="1400" dirty="0"/>
              <a:t>Teams decide which tasks are executed onboard and which are offloaded to the edge. </a:t>
            </a:r>
          </a:p>
          <a:p>
            <a:pPr marL="285750" lvl="0" indent="-285750">
              <a:buFont typeface="Wingdings" panose="05000000000000000000" pitchFamily="2" charset="2"/>
              <a:buChar char="l"/>
            </a:pPr>
            <a:r>
              <a:rPr lang="zh-CN" altLang="zh-CN" sz="1400" dirty="0"/>
              <a:t>Typical edge functions may include: multi-robot coordination</a:t>
            </a:r>
            <a:r>
              <a:rPr lang="en-US" altLang="zh-CN" sz="1400" dirty="0"/>
              <a:t>; </a:t>
            </a:r>
            <a:r>
              <a:rPr lang="zh-CN" altLang="zh-CN" sz="1400" dirty="0"/>
              <a:t>perception/object detection</a:t>
            </a:r>
            <a:r>
              <a:rPr lang="en-US" altLang="zh-CN" sz="1400" dirty="0"/>
              <a:t>; </a:t>
            </a:r>
            <a:r>
              <a:rPr lang="zh-CN" altLang="zh-CN" sz="1400" dirty="0"/>
              <a:t>map fusion</a:t>
            </a:r>
            <a:r>
              <a:rPr lang="en-US" altLang="zh-CN" sz="1400" dirty="0"/>
              <a:t>; </a:t>
            </a:r>
            <a:r>
              <a:rPr lang="zh-CN" altLang="zh-CN" sz="1400" dirty="0"/>
              <a:t>task allocation</a:t>
            </a:r>
            <a:r>
              <a:rPr lang="en-US" altLang="zh-CN" sz="1400" dirty="0"/>
              <a:t>;</a:t>
            </a:r>
            <a:r>
              <a:rPr lang="zh-CN" altLang="zh-CN" sz="1400" dirty="0"/>
              <a:t> LLM inference.</a:t>
            </a:r>
          </a:p>
        </p:txBody>
      </p:sp>
      <p:sp>
        <p:nvSpPr>
          <p:cNvPr id="52" name="Shape 8">
            <a:extLst>
              <a:ext uri="{FF2B5EF4-FFF2-40B4-BE49-F238E27FC236}">
                <a16:creationId xmlns:a16="http://schemas.microsoft.com/office/drawing/2014/main" id="{80375175-5DB6-C74C-7E67-56EC8984B42B}"/>
              </a:ext>
            </a:extLst>
          </p:cNvPr>
          <p:cNvSpPr/>
          <p:nvPr/>
        </p:nvSpPr>
        <p:spPr>
          <a:xfrm>
            <a:off x="7487610" y="5035976"/>
            <a:ext cx="4170989" cy="1327409"/>
          </a:xfrm>
          <a:prstGeom prst="roundRect">
            <a:avLst>
              <a:gd name="adj" fmla="val 5714"/>
            </a:avLst>
          </a:prstGeom>
          <a:solidFill>
            <a:srgbClr val="FFFFFF"/>
          </a:solidFill>
          <a:ln w="12700">
            <a:solidFill>
              <a:srgbClr val="D7E3F7"/>
            </a:solidFill>
            <a:prstDash val="solid"/>
          </a:ln>
        </p:spPr>
        <p:txBody>
          <a:bodyPr/>
          <a:lstStyle/>
          <a:p>
            <a:endParaRPr lang="zh-CN" altLang="en-US"/>
          </a:p>
        </p:txBody>
      </p:sp>
      <p:sp>
        <p:nvSpPr>
          <p:cNvPr id="54" name="Text 5">
            <a:extLst>
              <a:ext uri="{FF2B5EF4-FFF2-40B4-BE49-F238E27FC236}">
                <a16:creationId xmlns:a16="http://schemas.microsoft.com/office/drawing/2014/main" id="{CDFCB548-E768-4A2E-E686-B4173618E875}"/>
              </a:ext>
            </a:extLst>
          </p:cNvPr>
          <p:cNvSpPr/>
          <p:nvPr/>
        </p:nvSpPr>
        <p:spPr>
          <a:xfrm>
            <a:off x="7651341" y="5160500"/>
            <a:ext cx="3246120" cy="201168"/>
          </a:xfrm>
          <a:prstGeom prst="rect">
            <a:avLst/>
          </a:prstGeom>
          <a:noFill/>
          <a:ln/>
        </p:spPr>
        <p:txBody>
          <a:bodyPr wrap="square" lIns="0" tIns="0" rIns="0" bIns="0" rtlCol="0" anchor="ctr"/>
          <a:lstStyle/>
          <a:p>
            <a:pPr marL="0" indent="0">
              <a:buNone/>
            </a:pPr>
            <a:r>
              <a:rPr lang="en-US" sz="1600" b="1" dirty="0">
                <a:solidFill>
                  <a:srgbClr val="7030A0"/>
                </a:solidFill>
              </a:rPr>
              <a:t>3. Human operator + LLM</a:t>
            </a:r>
            <a:endParaRPr lang="en-US" sz="1600" dirty="0">
              <a:solidFill>
                <a:srgbClr val="7030A0"/>
              </a:solidFill>
            </a:endParaRPr>
          </a:p>
        </p:txBody>
      </p:sp>
      <p:sp>
        <p:nvSpPr>
          <p:cNvPr id="56" name="Text 6">
            <a:extLst>
              <a:ext uri="{FF2B5EF4-FFF2-40B4-BE49-F238E27FC236}">
                <a16:creationId xmlns:a16="http://schemas.microsoft.com/office/drawing/2014/main" id="{DA6B643B-C6DF-6C03-4A03-F16503086A7B}"/>
              </a:ext>
            </a:extLst>
          </p:cNvPr>
          <p:cNvSpPr/>
          <p:nvPr/>
        </p:nvSpPr>
        <p:spPr>
          <a:xfrm>
            <a:off x="7651341" y="5361669"/>
            <a:ext cx="3712530" cy="1001716"/>
          </a:xfrm>
          <a:prstGeom prst="rect">
            <a:avLst/>
          </a:prstGeom>
          <a:noFill/>
          <a:ln/>
        </p:spPr>
        <p:txBody>
          <a:bodyPr wrap="square" lIns="254" tIns="254" rIns="254" bIns="254" rtlCol="0" anchor="ctr">
            <a:noAutofit/>
          </a:bodyPr>
          <a:lstStyle/>
          <a:p>
            <a:pPr marL="285750" lvl="0" indent="-285750">
              <a:buFont typeface="Wingdings" panose="05000000000000000000" pitchFamily="2" charset="2"/>
              <a:buChar char="l"/>
            </a:pPr>
            <a:r>
              <a:rPr lang="zh-CN" altLang="zh-CN" sz="1400" dirty="0"/>
              <a:t>The human operator provides natural-language mission updates. </a:t>
            </a:r>
          </a:p>
          <a:p>
            <a:pPr marL="285750" lvl="0" indent="-285750">
              <a:buFont typeface="Wingdings" panose="05000000000000000000" pitchFamily="2" charset="2"/>
              <a:buChar char="l"/>
            </a:pPr>
            <a:r>
              <a:rPr lang="zh-CN" altLang="zh-CN" sz="1400" dirty="0"/>
              <a:t>The LLM interprets the instructions and converts them into executable tasks.</a:t>
            </a:r>
          </a:p>
        </p:txBody>
      </p:sp>
    </p:spTree>
    <p:extLst>
      <p:ext uri="{BB962C8B-B14F-4D97-AF65-F5344CB8AC3E}">
        <p14:creationId xmlns:p14="http://schemas.microsoft.com/office/powerpoint/2010/main" val="377232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539A16B4-1F51-4773-9E2A-07025715465D}"/>
              </a:ext>
            </a:extLst>
          </p:cNvPr>
          <p:cNvSpPr>
            <a:spLocks noGrp="1"/>
          </p:cNvSpPr>
          <p:nvPr/>
        </p:nvSpPr>
        <p:spPr>
          <a:xfrm>
            <a:off x="571500" y="409575"/>
            <a:ext cx="10953750" cy="762000"/>
          </a:xfrm>
          <a:prstGeom prst="rect">
            <a:avLst/>
          </a:prstGeom>
          <a:noFill/>
          <a:ln w="9525">
            <a:noFill/>
          </a:ln>
        </p:spPr>
        <p:txBody>
          <a:bodyPr>
            <a:noAutofit/>
          </a:bodyPr>
          <a:lstStyle/>
          <a:p>
            <a:pPr>
              <a:defRPr sz="3000" b="1">
                <a:solidFill>
                  <a:srgbClr val="12283B"/>
                </a:solidFill>
                <a:latin typeface="Arial"/>
                <a:ea typeface="Arial"/>
                <a:cs typeface="Arial"/>
              </a:defRPr>
            </a:pPr>
            <a:r>
              <a:rPr lang="en-US" sz="3000" b="1" dirty="0">
                <a:solidFill>
                  <a:srgbClr val="12283B"/>
                </a:solidFill>
                <a:latin typeface="Arial"/>
                <a:ea typeface="Arial"/>
                <a:cs typeface="Arial"/>
              </a:rPr>
              <a:t>Competition environment</a:t>
            </a:r>
            <a:endParaRPr sz="3000" b="1" dirty="0">
              <a:solidFill>
                <a:srgbClr val="12283B"/>
              </a:solidFill>
              <a:latin typeface="Arial"/>
              <a:ea typeface="Arial"/>
              <a:cs typeface="Arial"/>
            </a:endParaRPr>
          </a:p>
        </p:txBody>
      </p:sp>
      <p:sp>
        <p:nvSpPr>
          <p:cNvPr id="3" name="Rectangle 2">
            <a:extLst>
              <a:ext uri="{FF2B5EF4-FFF2-40B4-BE49-F238E27FC236}">
                <a16:creationId xmlns:a16="http://schemas.microsoft.com/office/drawing/2014/main" id="{0BACF398-4EDE-4F75-885F-AA889FBA07D3}"/>
              </a:ext>
            </a:extLst>
          </p:cNvPr>
          <p:cNvSpPr>
            <a:spLocks noGrp="1"/>
          </p:cNvSpPr>
          <p:nvPr/>
        </p:nvSpPr>
        <p:spPr>
          <a:xfrm>
            <a:off x="11144250" y="6362700"/>
            <a:ext cx="571500" cy="238125"/>
          </a:xfrm>
          <a:prstGeom prst="rect">
            <a:avLst/>
          </a:prstGeom>
          <a:noFill/>
          <a:ln w="9525">
            <a:noFill/>
          </a:ln>
        </p:spPr>
        <p:txBody>
          <a:bodyPr>
            <a:noAutofit/>
          </a:bodyPr>
          <a:lstStyle/>
          <a:p>
            <a:pPr>
              <a:defRPr sz="1125" b="0">
                <a:solidFill>
                  <a:srgbClr val="4E6473"/>
                </a:solidFill>
                <a:latin typeface="Arial"/>
                <a:ea typeface="Arial"/>
                <a:cs typeface="Arial"/>
              </a:defRPr>
            </a:pPr>
            <a:r>
              <a:rPr sz="1125" b="0">
                <a:solidFill>
                  <a:srgbClr val="4E6473"/>
                </a:solidFill>
                <a:latin typeface="Arial"/>
                <a:ea typeface="Arial"/>
                <a:cs typeface="Arial"/>
              </a:rPr>
              <a:t>05</a:t>
            </a:r>
          </a:p>
        </p:txBody>
      </p:sp>
      <p:sp>
        <p:nvSpPr>
          <p:cNvPr id="36" name="Shape 2">
            <a:extLst>
              <a:ext uri="{FF2B5EF4-FFF2-40B4-BE49-F238E27FC236}">
                <a16:creationId xmlns:a16="http://schemas.microsoft.com/office/drawing/2014/main" id="{94F511FC-84B7-6980-A273-B410EAB03334}"/>
              </a:ext>
            </a:extLst>
          </p:cNvPr>
          <p:cNvSpPr/>
          <p:nvPr/>
        </p:nvSpPr>
        <p:spPr>
          <a:xfrm>
            <a:off x="502920" y="1033272"/>
            <a:ext cx="11155680" cy="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0" name="Rectangle 39">
            <a:extLst>
              <a:ext uri="{FF2B5EF4-FFF2-40B4-BE49-F238E27FC236}">
                <a16:creationId xmlns:a16="http://schemas.microsoft.com/office/drawing/2014/main" id="{C5DCBB9F-5754-F588-279E-5D4D8C60DCCE}"/>
              </a:ext>
            </a:extLst>
          </p:cNvPr>
          <p:cNvSpPr>
            <a:spLocks noGrp="1"/>
          </p:cNvSpPr>
          <p:nvPr/>
        </p:nvSpPr>
        <p:spPr>
          <a:xfrm>
            <a:off x="2428875" y="5668454"/>
            <a:ext cx="1562100" cy="285750"/>
          </a:xfrm>
          <a:prstGeom prst="rect">
            <a:avLst/>
          </a:prstGeom>
          <a:noFill/>
          <a:ln w="9525">
            <a:noFill/>
          </a:ln>
        </p:spPr>
        <p:txBody>
          <a:bodyPr>
            <a:noAutofit/>
          </a:bodyPr>
          <a:lstStyle/>
          <a:p>
            <a:pPr>
              <a:defRPr sz="1350" b="0">
                <a:solidFill>
                  <a:srgbClr val="ACC4D1"/>
                </a:solidFill>
                <a:latin typeface="Arial"/>
                <a:ea typeface="Arial"/>
                <a:cs typeface="Arial"/>
              </a:defRPr>
            </a:pPr>
            <a:r>
              <a:rPr sz="1350" b="0" dirty="0">
                <a:solidFill>
                  <a:schemeClr val="tx1">
                    <a:lumMod val="95000"/>
                    <a:lumOff val="5000"/>
                  </a:schemeClr>
                </a:solidFill>
                <a:latin typeface="Arial"/>
                <a:ea typeface="Arial"/>
                <a:cs typeface="Arial"/>
              </a:rPr>
              <a:t>Illustrative arena</a:t>
            </a:r>
          </a:p>
        </p:txBody>
      </p:sp>
      <p:pic>
        <p:nvPicPr>
          <p:cNvPr id="54" name="Picture 53">
            <a:extLst>
              <a:ext uri="{FF2B5EF4-FFF2-40B4-BE49-F238E27FC236}">
                <a16:creationId xmlns:a16="http://schemas.microsoft.com/office/drawing/2014/main" id="{37FF973A-BA00-E05C-07A9-D460DC9786FC}"/>
              </a:ext>
            </a:extLst>
          </p:cNvPr>
          <p:cNvPicPr>
            <a:picLocks noChangeAspect="1"/>
          </p:cNvPicPr>
          <p:nvPr/>
        </p:nvPicPr>
        <p:blipFill>
          <a:blip r:embed="rId3"/>
          <a:stretch>
            <a:fillRect/>
          </a:stretch>
        </p:blipFill>
        <p:spPr>
          <a:xfrm>
            <a:off x="358581" y="1718373"/>
            <a:ext cx="6910328" cy="3859090"/>
          </a:xfrm>
          <a:prstGeom prst="rect">
            <a:avLst/>
          </a:prstGeom>
        </p:spPr>
      </p:pic>
      <p:sp>
        <p:nvSpPr>
          <p:cNvPr id="56" name="Shape 8">
            <a:extLst>
              <a:ext uri="{FF2B5EF4-FFF2-40B4-BE49-F238E27FC236}">
                <a16:creationId xmlns:a16="http://schemas.microsoft.com/office/drawing/2014/main" id="{1E5D62DB-E20C-0721-36A5-E871064C5DF9}"/>
              </a:ext>
            </a:extLst>
          </p:cNvPr>
          <p:cNvSpPr/>
          <p:nvPr/>
        </p:nvSpPr>
        <p:spPr>
          <a:xfrm>
            <a:off x="7487612" y="1712372"/>
            <a:ext cx="4170988" cy="4182556"/>
          </a:xfrm>
          <a:prstGeom prst="roundRect">
            <a:avLst>
              <a:gd name="adj" fmla="val 5714"/>
            </a:avLst>
          </a:prstGeom>
          <a:solidFill>
            <a:srgbClr val="FFFFFF"/>
          </a:solidFill>
          <a:ln w="12700">
            <a:solidFill>
              <a:srgbClr val="D7E3F7"/>
            </a:solidFill>
            <a:prstDash val="solid"/>
          </a:ln>
        </p:spPr>
        <p:txBody>
          <a:bodyPr/>
          <a:lstStyle/>
          <a:p>
            <a:endParaRPr lang="zh-CN" altLang="en-US"/>
          </a:p>
        </p:txBody>
      </p:sp>
      <p:sp>
        <p:nvSpPr>
          <p:cNvPr id="58" name="Text 6">
            <a:extLst>
              <a:ext uri="{FF2B5EF4-FFF2-40B4-BE49-F238E27FC236}">
                <a16:creationId xmlns:a16="http://schemas.microsoft.com/office/drawing/2014/main" id="{F06764D5-E78B-FE59-EA46-D2C8ED1FF285}"/>
              </a:ext>
            </a:extLst>
          </p:cNvPr>
          <p:cNvSpPr/>
          <p:nvPr/>
        </p:nvSpPr>
        <p:spPr>
          <a:xfrm>
            <a:off x="7600950" y="1915414"/>
            <a:ext cx="4057650" cy="3650392"/>
          </a:xfrm>
          <a:prstGeom prst="rect">
            <a:avLst/>
          </a:prstGeom>
          <a:noFill/>
          <a:ln/>
        </p:spPr>
        <p:txBody>
          <a:bodyPr wrap="square" lIns="254" tIns="254" rIns="254" bIns="254" rtlCol="0" anchor="ctr">
            <a:noAutofit/>
          </a:bodyPr>
          <a:lstStyle/>
          <a:p>
            <a:pPr marL="285750" lvl="0" indent="-285750">
              <a:spcAft>
                <a:spcPts val="600"/>
              </a:spcAft>
              <a:buFont typeface="Wingdings" panose="05000000000000000000" pitchFamily="2" charset="2"/>
              <a:buChar char="l"/>
            </a:pPr>
            <a:r>
              <a:rPr lang="en-US" altLang="zh-CN" sz="1600" dirty="0"/>
              <a:t>In-door, flat-floor environment of approximately 5m × 5m (final dimensions are TBD), containing rooms, walls, and static obstacles.</a:t>
            </a:r>
            <a:endParaRPr lang="zh-CN" altLang="zh-CN" sz="1600" dirty="0"/>
          </a:p>
          <a:p>
            <a:pPr marL="285750" lvl="0" indent="-285750">
              <a:spcAft>
                <a:spcPts val="600"/>
              </a:spcAft>
              <a:buFont typeface="Wingdings" panose="05000000000000000000" pitchFamily="2" charset="2"/>
              <a:buChar char="l"/>
            </a:pPr>
            <a:r>
              <a:rPr lang="en-US" altLang="zh-CN" sz="1600" dirty="0"/>
              <a:t>Rescue targets are represented by </a:t>
            </a:r>
            <a:r>
              <a:rPr lang="en-US" altLang="zh-CN" sz="1600" dirty="0" err="1"/>
              <a:t>ArUco</a:t>
            </a:r>
            <a:r>
              <a:rPr lang="en-US" altLang="zh-CN" sz="1600" dirty="0"/>
              <a:t> visual markers and divided into two types: </a:t>
            </a:r>
            <a:r>
              <a:rPr lang="en-US" altLang="zh-CN" dirty="0"/>
              <a:t> </a:t>
            </a:r>
            <a:r>
              <a:rPr lang="en-US" altLang="zh-CN" sz="1600" b="1" dirty="0"/>
              <a:t>Normal</a:t>
            </a:r>
            <a:r>
              <a:rPr lang="en-US" altLang="zh-CN" sz="1600" dirty="0"/>
              <a:t> Targets and </a:t>
            </a:r>
            <a:r>
              <a:rPr lang="en-US" altLang="zh-CN" sz="1600" b="1" dirty="0"/>
              <a:t>Cooperative</a:t>
            </a:r>
            <a:r>
              <a:rPr lang="en-US" altLang="zh-CN" sz="1600" dirty="0"/>
              <a:t> Targets.</a:t>
            </a:r>
          </a:p>
          <a:p>
            <a:pPr marL="285750" lvl="0" indent="-285750">
              <a:spcAft>
                <a:spcPts val="600"/>
              </a:spcAft>
              <a:buFont typeface="Wingdings" panose="05000000000000000000" pitchFamily="2" charset="2"/>
              <a:buChar char="l"/>
            </a:pPr>
            <a:r>
              <a:rPr lang="en-US" altLang="zh-CN" sz="1600" dirty="0"/>
              <a:t>Rescue zone is used for rescue-completion verification. Each </a:t>
            </a:r>
            <a:r>
              <a:rPr lang="en-US" altLang="zh-CN" sz="1600" dirty="0" err="1"/>
              <a:t>ArUco</a:t>
            </a:r>
            <a:r>
              <a:rPr lang="en-US" altLang="zh-CN" sz="1600" dirty="0"/>
              <a:t> marker corresponds to one or more predefined Rescue Zones.</a:t>
            </a:r>
          </a:p>
          <a:p>
            <a:pPr marL="285750" lvl="0" indent="-285750">
              <a:buFont typeface="Wingdings" panose="05000000000000000000" pitchFamily="2" charset="2"/>
              <a:buChar char="l"/>
            </a:pPr>
            <a:r>
              <a:rPr lang="en-US" altLang="zh-CN" sz="1600" dirty="0"/>
              <a:t>A rescue is completed when the robot enters the corresponding Rescue Zone and remains there continuously for the required duration.</a:t>
            </a:r>
            <a:endParaRPr lang="zh-CN" altLang="zh-CN" sz="1600" dirty="0"/>
          </a:p>
        </p:txBody>
      </p:sp>
      <p:sp>
        <p:nvSpPr>
          <p:cNvPr id="59" name="Rectangle 58">
            <a:extLst>
              <a:ext uri="{FF2B5EF4-FFF2-40B4-BE49-F238E27FC236}">
                <a16:creationId xmlns:a16="http://schemas.microsoft.com/office/drawing/2014/main" id="{C5157CF2-A304-20DB-8439-C9CA3FD0D34D}"/>
              </a:ext>
            </a:extLst>
          </p:cNvPr>
          <p:cNvSpPr/>
          <p:nvPr/>
        </p:nvSpPr>
        <p:spPr>
          <a:xfrm>
            <a:off x="3794694" y="3790950"/>
            <a:ext cx="1221805" cy="2667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82253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4D67E-272A-7E6F-D8DF-F1E4ACF61D33}"/>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3651364E-F8D7-41D1-00B6-51E601FFBBD6}"/>
              </a:ext>
            </a:extLst>
          </p:cNvPr>
          <p:cNvSpPr>
            <a:spLocks noGrp="1"/>
          </p:cNvSpPr>
          <p:nvPr/>
        </p:nvSpPr>
        <p:spPr>
          <a:xfrm>
            <a:off x="571500" y="409575"/>
            <a:ext cx="10953750" cy="762000"/>
          </a:xfrm>
          <a:prstGeom prst="rect">
            <a:avLst/>
          </a:prstGeom>
          <a:noFill/>
          <a:ln w="9525">
            <a:noFill/>
          </a:ln>
        </p:spPr>
        <p:txBody>
          <a:bodyPr>
            <a:noAutofit/>
          </a:bodyPr>
          <a:lstStyle/>
          <a:p>
            <a:pPr>
              <a:defRPr sz="3000" b="1">
                <a:solidFill>
                  <a:srgbClr val="12283B"/>
                </a:solidFill>
                <a:latin typeface="Arial"/>
                <a:ea typeface="Arial"/>
                <a:cs typeface="Arial"/>
              </a:defRPr>
            </a:pPr>
            <a:r>
              <a:rPr sz="3000" b="1">
                <a:solidFill>
                  <a:srgbClr val="12283B"/>
                </a:solidFill>
                <a:latin typeface="Arial"/>
                <a:ea typeface="Arial"/>
                <a:cs typeface="Arial"/>
              </a:rPr>
              <a:t>Overall competition flow</a:t>
            </a:r>
          </a:p>
        </p:txBody>
      </p:sp>
      <p:sp>
        <p:nvSpPr>
          <p:cNvPr id="3" name="Rectangle 2">
            <a:extLst>
              <a:ext uri="{FF2B5EF4-FFF2-40B4-BE49-F238E27FC236}">
                <a16:creationId xmlns:a16="http://schemas.microsoft.com/office/drawing/2014/main" id="{057E3CBF-98B7-1755-28E6-6862D84A50A7}"/>
              </a:ext>
            </a:extLst>
          </p:cNvPr>
          <p:cNvSpPr>
            <a:spLocks noGrp="1"/>
          </p:cNvSpPr>
          <p:nvPr/>
        </p:nvSpPr>
        <p:spPr>
          <a:xfrm>
            <a:off x="11144250" y="6362700"/>
            <a:ext cx="571500" cy="238125"/>
          </a:xfrm>
          <a:prstGeom prst="rect">
            <a:avLst/>
          </a:prstGeom>
          <a:noFill/>
          <a:ln w="9525">
            <a:noFill/>
          </a:ln>
        </p:spPr>
        <p:txBody>
          <a:bodyPr>
            <a:noAutofit/>
          </a:bodyPr>
          <a:lstStyle/>
          <a:p>
            <a:pPr>
              <a:defRPr sz="1125" b="0">
                <a:solidFill>
                  <a:srgbClr val="4E6473"/>
                </a:solidFill>
                <a:latin typeface="Arial"/>
                <a:ea typeface="Arial"/>
                <a:cs typeface="Arial"/>
              </a:defRPr>
            </a:pPr>
            <a:r>
              <a:rPr sz="1125" b="0">
                <a:solidFill>
                  <a:srgbClr val="4E6473"/>
                </a:solidFill>
                <a:latin typeface="Arial"/>
                <a:ea typeface="Arial"/>
                <a:cs typeface="Arial"/>
              </a:rPr>
              <a:t>05</a:t>
            </a:r>
          </a:p>
        </p:txBody>
      </p:sp>
      <p:sp>
        <p:nvSpPr>
          <p:cNvPr id="4" name="Rectangle 3">
            <a:extLst>
              <a:ext uri="{FF2B5EF4-FFF2-40B4-BE49-F238E27FC236}">
                <a16:creationId xmlns:a16="http://schemas.microsoft.com/office/drawing/2014/main" id="{5F1F7A8D-A24B-F9DF-3B0E-DD2ADD05F261}"/>
              </a:ext>
            </a:extLst>
          </p:cNvPr>
          <p:cNvSpPr>
            <a:spLocks noGrp="1"/>
          </p:cNvSpPr>
          <p:nvPr/>
        </p:nvSpPr>
        <p:spPr>
          <a:xfrm>
            <a:off x="590550" y="2511425"/>
            <a:ext cx="2009775" cy="819150"/>
          </a:xfrm>
          <a:prstGeom prst="rect">
            <a:avLst/>
          </a:prstGeom>
          <a:solidFill>
            <a:srgbClr val="007F82"/>
          </a:solidFill>
          <a:ln w="9525">
            <a:solidFill>
              <a:srgbClr val="007F82"/>
            </a:solidFill>
          </a:ln>
        </p:spPr>
        <p:txBody>
          <a:bodyPr/>
          <a:lstStyle/>
          <a:p>
            <a:endParaRPr lang="zh-CN" altLang="en-US"/>
          </a:p>
        </p:txBody>
      </p:sp>
      <p:sp>
        <p:nvSpPr>
          <p:cNvPr id="5" name="Rectangle 4">
            <a:extLst>
              <a:ext uri="{FF2B5EF4-FFF2-40B4-BE49-F238E27FC236}">
                <a16:creationId xmlns:a16="http://schemas.microsoft.com/office/drawing/2014/main" id="{AD8D7EBB-9F23-7906-1414-9F6B5CB96807}"/>
              </a:ext>
            </a:extLst>
          </p:cNvPr>
          <p:cNvSpPr>
            <a:spLocks noGrp="1"/>
          </p:cNvSpPr>
          <p:nvPr/>
        </p:nvSpPr>
        <p:spPr>
          <a:xfrm>
            <a:off x="733425" y="2740025"/>
            <a:ext cx="1752600" cy="400050"/>
          </a:xfrm>
          <a:prstGeom prst="rect">
            <a:avLst/>
          </a:prstGeom>
          <a:noFill/>
          <a:ln w="9525">
            <a:noFill/>
          </a:ln>
        </p:spPr>
        <p:txBody>
          <a:bodyPr>
            <a:noAutofit/>
          </a:bodyPr>
          <a:lstStyle/>
          <a:p>
            <a:pPr>
              <a:defRPr sz="2175" b="1">
                <a:solidFill>
                  <a:srgbClr val="FFFFFF"/>
                </a:solidFill>
                <a:latin typeface="Arial"/>
                <a:ea typeface="Arial"/>
                <a:cs typeface="Arial"/>
              </a:defRPr>
            </a:pPr>
            <a:r>
              <a:rPr sz="2175" b="1">
                <a:solidFill>
                  <a:srgbClr val="FFFFFF"/>
                </a:solidFill>
                <a:latin typeface="Arial"/>
                <a:ea typeface="Arial"/>
                <a:cs typeface="Arial"/>
              </a:rPr>
              <a:t>Task 1</a:t>
            </a:r>
          </a:p>
        </p:txBody>
      </p:sp>
      <p:sp>
        <p:nvSpPr>
          <p:cNvPr id="6" name="Rectangle 5">
            <a:extLst>
              <a:ext uri="{FF2B5EF4-FFF2-40B4-BE49-F238E27FC236}">
                <a16:creationId xmlns:a16="http://schemas.microsoft.com/office/drawing/2014/main" id="{B81E8C2C-A934-B615-FA43-A6B102BEA6DA}"/>
              </a:ext>
            </a:extLst>
          </p:cNvPr>
          <p:cNvSpPr>
            <a:spLocks noGrp="1"/>
          </p:cNvSpPr>
          <p:nvPr/>
        </p:nvSpPr>
        <p:spPr>
          <a:xfrm>
            <a:off x="590550" y="3587750"/>
            <a:ext cx="2019300" cy="952500"/>
          </a:xfrm>
          <a:prstGeom prst="rect">
            <a:avLst/>
          </a:prstGeom>
          <a:noFill/>
          <a:ln w="9525">
            <a:noFill/>
          </a:ln>
        </p:spPr>
        <p:txBody>
          <a:bodyPr>
            <a:noAutofit/>
          </a:bodyPr>
          <a:lstStyle/>
          <a:p>
            <a:pPr>
              <a:defRPr sz="1875" b="0">
                <a:solidFill>
                  <a:srgbClr val="4E6473"/>
                </a:solidFill>
                <a:latin typeface="Arial"/>
                <a:ea typeface="Arial"/>
                <a:cs typeface="Arial"/>
              </a:defRPr>
            </a:pPr>
            <a:r>
              <a:rPr sz="1875" b="0" dirty="0">
                <a:solidFill>
                  <a:srgbClr val="4E6473"/>
                </a:solidFill>
                <a:latin typeface="Arial"/>
                <a:ea typeface="Arial"/>
                <a:cs typeface="Arial"/>
              </a:rPr>
              <a:t>Explore, map</a:t>
            </a:r>
          </a:p>
          <a:p>
            <a:pPr>
              <a:defRPr sz="1875" b="0">
                <a:solidFill>
                  <a:srgbClr val="4E6473"/>
                </a:solidFill>
                <a:latin typeface="Arial"/>
                <a:ea typeface="Arial"/>
                <a:cs typeface="Arial"/>
              </a:defRPr>
            </a:pPr>
            <a:r>
              <a:rPr sz="1875" b="0" dirty="0">
                <a:solidFill>
                  <a:srgbClr val="4E6473"/>
                </a:solidFill>
                <a:latin typeface="Arial"/>
                <a:ea typeface="Arial"/>
                <a:cs typeface="Arial"/>
              </a:rPr>
              <a:t>and detect</a:t>
            </a:r>
          </a:p>
        </p:txBody>
      </p:sp>
      <p:sp>
        <p:nvSpPr>
          <p:cNvPr id="7" name="Arrow: Chevron 6">
            <a:extLst>
              <a:ext uri="{FF2B5EF4-FFF2-40B4-BE49-F238E27FC236}">
                <a16:creationId xmlns:a16="http://schemas.microsoft.com/office/drawing/2014/main" id="{7FDACB97-2133-7B9B-3B1D-173A7617D5AA}"/>
              </a:ext>
            </a:extLst>
          </p:cNvPr>
          <p:cNvSpPr>
            <a:spLocks noGrp="1"/>
          </p:cNvSpPr>
          <p:nvPr/>
        </p:nvSpPr>
        <p:spPr>
          <a:xfrm>
            <a:off x="2647950" y="2797175"/>
            <a:ext cx="171450" cy="228600"/>
          </a:xfrm>
          <a:prstGeom prst="chevron">
            <a:avLst/>
          </a:prstGeom>
          <a:solidFill>
            <a:srgbClr val="007F82"/>
          </a:solidFill>
          <a:ln w="9525">
            <a:solidFill>
              <a:srgbClr val="007F82"/>
            </a:solidFill>
          </a:ln>
        </p:spPr>
        <p:txBody>
          <a:bodyPr/>
          <a:lstStyle/>
          <a:p>
            <a:endParaRPr lang="zh-CN" altLang="en-US"/>
          </a:p>
        </p:txBody>
      </p:sp>
      <p:sp>
        <p:nvSpPr>
          <p:cNvPr id="8" name="Rectangle 7">
            <a:extLst>
              <a:ext uri="{FF2B5EF4-FFF2-40B4-BE49-F238E27FC236}">
                <a16:creationId xmlns:a16="http://schemas.microsoft.com/office/drawing/2014/main" id="{DDFA4525-0911-21FB-191A-E43F4FA064C3}"/>
              </a:ext>
            </a:extLst>
          </p:cNvPr>
          <p:cNvSpPr>
            <a:spLocks noGrp="1"/>
          </p:cNvSpPr>
          <p:nvPr/>
        </p:nvSpPr>
        <p:spPr>
          <a:xfrm>
            <a:off x="2867025" y="2511425"/>
            <a:ext cx="2009775" cy="819150"/>
          </a:xfrm>
          <a:prstGeom prst="rect">
            <a:avLst/>
          </a:prstGeom>
          <a:solidFill>
            <a:srgbClr val="007F82"/>
          </a:solidFill>
          <a:ln w="9525">
            <a:solidFill>
              <a:srgbClr val="007F82"/>
            </a:solidFill>
          </a:ln>
        </p:spPr>
        <p:txBody>
          <a:bodyPr/>
          <a:lstStyle/>
          <a:p>
            <a:endParaRPr lang="zh-CN" altLang="en-US"/>
          </a:p>
        </p:txBody>
      </p:sp>
      <p:sp>
        <p:nvSpPr>
          <p:cNvPr id="9" name="Rectangle 8">
            <a:extLst>
              <a:ext uri="{FF2B5EF4-FFF2-40B4-BE49-F238E27FC236}">
                <a16:creationId xmlns:a16="http://schemas.microsoft.com/office/drawing/2014/main" id="{C0965039-4E33-BC76-70D2-1ED1C28EAE81}"/>
              </a:ext>
            </a:extLst>
          </p:cNvPr>
          <p:cNvSpPr>
            <a:spLocks noGrp="1"/>
          </p:cNvSpPr>
          <p:nvPr/>
        </p:nvSpPr>
        <p:spPr>
          <a:xfrm>
            <a:off x="3009900" y="2740025"/>
            <a:ext cx="1752600" cy="400050"/>
          </a:xfrm>
          <a:prstGeom prst="rect">
            <a:avLst/>
          </a:prstGeom>
          <a:noFill/>
          <a:ln w="9525">
            <a:noFill/>
          </a:ln>
        </p:spPr>
        <p:txBody>
          <a:bodyPr>
            <a:noAutofit/>
          </a:bodyPr>
          <a:lstStyle/>
          <a:p>
            <a:pPr>
              <a:defRPr sz="2175" b="1">
                <a:solidFill>
                  <a:srgbClr val="FFFFFF"/>
                </a:solidFill>
                <a:latin typeface="Arial"/>
                <a:ea typeface="Arial"/>
                <a:cs typeface="Arial"/>
              </a:defRPr>
            </a:pPr>
            <a:r>
              <a:rPr sz="2175" b="1">
                <a:solidFill>
                  <a:srgbClr val="FFFFFF"/>
                </a:solidFill>
                <a:latin typeface="Arial"/>
                <a:ea typeface="Arial"/>
                <a:cs typeface="Arial"/>
              </a:rPr>
              <a:t>Handover</a:t>
            </a:r>
          </a:p>
        </p:txBody>
      </p:sp>
      <p:sp>
        <p:nvSpPr>
          <p:cNvPr id="10" name="Rectangle 9">
            <a:extLst>
              <a:ext uri="{FF2B5EF4-FFF2-40B4-BE49-F238E27FC236}">
                <a16:creationId xmlns:a16="http://schemas.microsoft.com/office/drawing/2014/main" id="{C7C11CE2-BCEF-8542-690B-61BD9255138F}"/>
              </a:ext>
            </a:extLst>
          </p:cNvPr>
          <p:cNvSpPr>
            <a:spLocks noGrp="1"/>
          </p:cNvSpPr>
          <p:nvPr/>
        </p:nvSpPr>
        <p:spPr>
          <a:xfrm>
            <a:off x="2867025" y="3587750"/>
            <a:ext cx="2019300" cy="952500"/>
          </a:xfrm>
          <a:prstGeom prst="rect">
            <a:avLst/>
          </a:prstGeom>
          <a:noFill/>
          <a:ln w="9525">
            <a:noFill/>
          </a:ln>
        </p:spPr>
        <p:txBody>
          <a:bodyPr>
            <a:noAutofit/>
          </a:bodyPr>
          <a:lstStyle/>
          <a:p>
            <a:pPr>
              <a:defRPr sz="1875" b="0">
                <a:solidFill>
                  <a:srgbClr val="4E6473"/>
                </a:solidFill>
                <a:latin typeface="Arial"/>
                <a:ea typeface="Arial"/>
                <a:cs typeface="Arial"/>
              </a:defRPr>
            </a:pPr>
            <a:r>
              <a:rPr sz="1875" b="0">
                <a:solidFill>
                  <a:srgbClr val="4E6473"/>
                </a:solidFill>
                <a:latin typeface="Arial"/>
                <a:ea typeface="Arial"/>
                <a:cs typeface="Arial"/>
              </a:rPr>
              <a:t>Save unified</a:t>
            </a:r>
          </a:p>
          <a:p>
            <a:pPr>
              <a:defRPr sz="1875" b="0">
                <a:solidFill>
                  <a:srgbClr val="4E6473"/>
                </a:solidFill>
                <a:latin typeface="Arial"/>
                <a:ea typeface="Arial"/>
                <a:cs typeface="Arial"/>
              </a:defRPr>
            </a:pPr>
            <a:r>
              <a:rPr sz="1875" b="0">
                <a:solidFill>
                  <a:srgbClr val="4E6473"/>
                </a:solidFill>
                <a:latin typeface="Arial"/>
                <a:ea typeface="Arial"/>
                <a:cs typeface="Arial"/>
              </a:rPr>
              <a:t>outputs</a:t>
            </a:r>
          </a:p>
        </p:txBody>
      </p:sp>
      <p:sp>
        <p:nvSpPr>
          <p:cNvPr id="11" name="Arrow: Chevron 10">
            <a:extLst>
              <a:ext uri="{FF2B5EF4-FFF2-40B4-BE49-F238E27FC236}">
                <a16:creationId xmlns:a16="http://schemas.microsoft.com/office/drawing/2014/main" id="{1DC66265-9F68-D865-2770-FF6A77058341}"/>
              </a:ext>
            </a:extLst>
          </p:cNvPr>
          <p:cNvSpPr>
            <a:spLocks noGrp="1"/>
          </p:cNvSpPr>
          <p:nvPr/>
        </p:nvSpPr>
        <p:spPr>
          <a:xfrm>
            <a:off x="4924425" y="2797175"/>
            <a:ext cx="171450" cy="228600"/>
          </a:xfrm>
          <a:prstGeom prst="chevron">
            <a:avLst/>
          </a:prstGeom>
          <a:solidFill>
            <a:srgbClr val="007F82"/>
          </a:solidFill>
          <a:ln w="9525">
            <a:solidFill>
              <a:srgbClr val="007F82"/>
            </a:solidFill>
          </a:ln>
        </p:spPr>
        <p:txBody>
          <a:bodyPr/>
          <a:lstStyle/>
          <a:p>
            <a:endParaRPr lang="zh-CN" altLang="en-US"/>
          </a:p>
        </p:txBody>
      </p:sp>
      <p:sp>
        <p:nvSpPr>
          <p:cNvPr id="12" name="Rectangle 11">
            <a:extLst>
              <a:ext uri="{FF2B5EF4-FFF2-40B4-BE49-F238E27FC236}">
                <a16:creationId xmlns:a16="http://schemas.microsoft.com/office/drawing/2014/main" id="{2F57B10F-0DFD-9053-4C68-4E18357CE410}"/>
              </a:ext>
            </a:extLst>
          </p:cNvPr>
          <p:cNvSpPr>
            <a:spLocks noGrp="1"/>
          </p:cNvSpPr>
          <p:nvPr/>
        </p:nvSpPr>
        <p:spPr>
          <a:xfrm>
            <a:off x="5143500" y="2511425"/>
            <a:ext cx="2009775" cy="819150"/>
          </a:xfrm>
          <a:prstGeom prst="rect">
            <a:avLst/>
          </a:prstGeom>
          <a:solidFill>
            <a:srgbClr val="007F82"/>
          </a:solidFill>
          <a:ln w="9525">
            <a:solidFill>
              <a:srgbClr val="007F82"/>
            </a:solidFill>
          </a:ln>
        </p:spPr>
        <p:txBody>
          <a:bodyPr/>
          <a:lstStyle/>
          <a:p>
            <a:endParaRPr lang="zh-CN" altLang="en-US"/>
          </a:p>
        </p:txBody>
      </p:sp>
      <p:sp>
        <p:nvSpPr>
          <p:cNvPr id="13" name="Rectangle 12">
            <a:extLst>
              <a:ext uri="{FF2B5EF4-FFF2-40B4-BE49-F238E27FC236}">
                <a16:creationId xmlns:a16="http://schemas.microsoft.com/office/drawing/2014/main" id="{E27AD6B5-8E46-9335-EA66-AE4871D6E08A}"/>
              </a:ext>
            </a:extLst>
          </p:cNvPr>
          <p:cNvSpPr>
            <a:spLocks noGrp="1"/>
          </p:cNvSpPr>
          <p:nvPr/>
        </p:nvSpPr>
        <p:spPr>
          <a:xfrm>
            <a:off x="5286375" y="2740025"/>
            <a:ext cx="1752600" cy="400050"/>
          </a:xfrm>
          <a:prstGeom prst="rect">
            <a:avLst/>
          </a:prstGeom>
          <a:noFill/>
          <a:ln w="9525">
            <a:noFill/>
          </a:ln>
        </p:spPr>
        <p:txBody>
          <a:bodyPr>
            <a:noAutofit/>
          </a:bodyPr>
          <a:lstStyle/>
          <a:p>
            <a:pPr>
              <a:defRPr sz="2175" b="1">
                <a:solidFill>
                  <a:srgbClr val="FFFFFF"/>
                </a:solidFill>
                <a:latin typeface="Arial"/>
                <a:ea typeface="Arial"/>
                <a:cs typeface="Arial"/>
              </a:defRPr>
            </a:pPr>
            <a:r>
              <a:rPr sz="2175" b="1">
                <a:solidFill>
                  <a:srgbClr val="FFFFFF"/>
                </a:solidFill>
                <a:latin typeface="Arial"/>
                <a:ea typeface="Arial"/>
                <a:cs typeface="Arial"/>
              </a:rPr>
              <a:t>Task 2A</a:t>
            </a:r>
          </a:p>
        </p:txBody>
      </p:sp>
      <p:sp>
        <p:nvSpPr>
          <p:cNvPr id="14" name="Rectangle 13">
            <a:extLst>
              <a:ext uri="{FF2B5EF4-FFF2-40B4-BE49-F238E27FC236}">
                <a16:creationId xmlns:a16="http://schemas.microsoft.com/office/drawing/2014/main" id="{B7F595D2-3CB3-5EE0-9CBA-63C2DE8C0307}"/>
              </a:ext>
            </a:extLst>
          </p:cNvPr>
          <p:cNvSpPr>
            <a:spLocks noGrp="1"/>
          </p:cNvSpPr>
          <p:nvPr/>
        </p:nvSpPr>
        <p:spPr>
          <a:xfrm>
            <a:off x="5143500" y="3587750"/>
            <a:ext cx="2019300" cy="952500"/>
          </a:xfrm>
          <a:prstGeom prst="rect">
            <a:avLst/>
          </a:prstGeom>
          <a:noFill/>
          <a:ln w="9525">
            <a:noFill/>
          </a:ln>
        </p:spPr>
        <p:txBody>
          <a:bodyPr>
            <a:noAutofit/>
          </a:bodyPr>
          <a:lstStyle/>
          <a:p>
            <a:pPr>
              <a:defRPr sz="1875" b="0">
                <a:solidFill>
                  <a:srgbClr val="4E6473"/>
                </a:solidFill>
                <a:latin typeface="Arial"/>
                <a:ea typeface="Arial"/>
                <a:cs typeface="Arial"/>
              </a:defRPr>
            </a:pPr>
            <a:r>
              <a:rPr sz="1875" b="0">
                <a:solidFill>
                  <a:srgbClr val="4E6473"/>
                </a:solidFill>
                <a:latin typeface="Arial"/>
                <a:ea typeface="Arial"/>
                <a:cs typeface="Arial"/>
              </a:rPr>
              <a:t>Autonomous</a:t>
            </a:r>
          </a:p>
          <a:p>
            <a:pPr>
              <a:defRPr sz="1875" b="0">
                <a:solidFill>
                  <a:srgbClr val="4E6473"/>
                </a:solidFill>
                <a:latin typeface="Arial"/>
                <a:ea typeface="Arial"/>
                <a:cs typeface="Arial"/>
              </a:defRPr>
            </a:pPr>
            <a:r>
              <a:rPr sz="1875" b="0">
                <a:solidFill>
                  <a:srgbClr val="4E6473"/>
                </a:solidFill>
                <a:latin typeface="Arial"/>
                <a:ea typeface="Arial"/>
                <a:cs typeface="Arial"/>
              </a:rPr>
              <a:t>rescue</a:t>
            </a:r>
          </a:p>
        </p:txBody>
      </p:sp>
      <p:sp>
        <p:nvSpPr>
          <p:cNvPr id="15" name="Arrow: Chevron 14">
            <a:extLst>
              <a:ext uri="{FF2B5EF4-FFF2-40B4-BE49-F238E27FC236}">
                <a16:creationId xmlns:a16="http://schemas.microsoft.com/office/drawing/2014/main" id="{989A51C0-27BE-46A8-7196-D876027C3D16}"/>
              </a:ext>
            </a:extLst>
          </p:cNvPr>
          <p:cNvSpPr>
            <a:spLocks noGrp="1"/>
          </p:cNvSpPr>
          <p:nvPr/>
        </p:nvSpPr>
        <p:spPr>
          <a:xfrm>
            <a:off x="7200900" y="2797175"/>
            <a:ext cx="171450" cy="228600"/>
          </a:xfrm>
          <a:prstGeom prst="chevron">
            <a:avLst/>
          </a:prstGeom>
          <a:solidFill>
            <a:srgbClr val="007F82"/>
          </a:solidFill>
          <a:ln w="9525">
            <a:solidFill>
              <a:srgbClr val="007F82"/>
            </a:solidFill>
          </a:ln>
        </p:spPr>
        <p:txBody>
          <a:bodyPr/>
          <a:lstStyle/>
          <a:p>
            <a:endParaRPr lang="zh-CN" altLang="en-US"/>
          </a:p>
        </p:txBody>
      </p:sp>
      <p:sp>
        <p:nvSpPr>
          <p:cNvPr id="16" name="Rectangle 15">
            <a:extLst>
              <a:ext uri="{FF2B5EF4-FFF2-40B4-BE49-F238E27FC236}">
                <a16:creationId xmlns:a16="http://schemas.microsoft.com/office/drawing/2014/main" id="{87B4A8C7-89A3-92F9-FE7B-EA06CBB7A93B}"/>
              </a:ext>
            </a:extLst>
          </p:cNvPr>
          <p:cNvSpPr>
            <a:spLocks noGrp="1"/>
          </p:cNvSpPr>
          <p:nvPr/>
        </p:nvSpPr>
        <p:spPr>
          <a:xfrm>
            <a:off x="7419975" y="2511425"/>
            <a:ext cx="2009775" cy="819150"/>
          </a:xfrm>
          <a:prstGeom prst="rect">
            <a:avLst/>
          </a:prstGeom>
          <a:solidFill>
            <a:srgbClr val="12283B"/>
          </a:solidFill>
          <a:ln w="9525">
            <a:solidFill>
              <a:srgbClr val="12283B"/>
            </a:solidFill>
          </a:ln>
        </p:spPr>
        <p:txBody>
          <a:bodyPr/>
          <a:lstStyle/>
          <a:p>
            <a:endParaRPr lang="zh-CN" altLang="en-US"/>
          </a:p>
        </p:txBody>
      </p:sp>
      <p:sp>
        <p:nvSpPr>
          <p:cNvPr id="17" name="Rectangle 16">
            <a:extLst>
              <a:ext uri="{FF2B5EF4-FFF2-40B4-BE49-F238E27FC236}">
                <a16:creationId xmlns:a16="http://schemas.microsoft.com/office/drawing/2014/main" id="{CE1FE84A-F133-F818-34C8-0E5F4727FAE0}"/>
              </a:ext>
            </a:extLst>
          </p:cNvPr>
          <p:cNvSpPr>
            <a:spLocks noGrp="1"/>
          </p:cNvSpPr>
          <p:nvPr/>
        </p:nvSpPr>
        <p:spPr>
          <a:xfrm>
            <a:off x="7562850" y="2740025"/>
            <a:ext cx="1752600" cy="400050"/>
          </a:xfrm>
          <a:prstGeom prst="rect">
            <a:avLst/>
          </a:prstGeom>
          <a:noFill/>
          <a:ln w="9525">
            <a:noFill/>
          </a:ln>
        </p:spPr>
        <p:txBody>
          <a:bodyPr>
            <a:noAutofit/>
          </a:bodyPr>
          <a:lstStyle/>
          <a:p>
            <a:pPr>
              <a:defRPr sz="2175" b="1">
                <a:solidFill>
                  <a:srgbClr val="FFFFFF"/>
                </a:solidFill>
                <a:latin typeface="Arial"/>
                <a:ea typeface="Arial"/>
                <a:cs typeface="Arial"/>
              </a:defRPr>
            </a:pPr>
            <a:r>
              <a:rPr sz="2175" b="1">
                <a:solidFill>
                  <a:srgbClr val="FFFFFF"/>
                </a:solidFill>
                <a:latin typeface="Arial"/>
                <a:ea typeface="Arial"/>
                <a:cs typeface="Arial"/>
              </a:rPr>
              <a:t>Safe Mode</a:t>
            </a:r>
          </a:p>
        </p:txBody>
      </p:sp>
      <p:sp>
        <p:nvSpPr>
          <p:cNvPr id="18" name="Rectangle 17">
            <a:extLst>
              <a:ext uri="{FF2B5EF4-FFF2-40B4-BE49-F238E27FC236}">
                <a16:creationId xmlns:a16="http://schemas.microsoft.com/office/drawing/2014/main" id="{1C4506AA-017B-86B2-0D36-25DB9A337497}"/>
              </a:ext>
            </a:extLst>
          </p:cNvPr>
          <p:cNvSpPr>
            <a:spLocks noGrp="1"/>
          </p:cNvSpPr>
          <p:nvPr/>
        </p:nvSpPr>
        <p:spPr>
          <a:xfrm>
            <a:off x="7419975" y="3587750"/>
            <a:ext cx="2009775" cy="732965"/>
          </a:xfrm>
          <a:prstGeom prst="rect">
            <a:avLst/>
          </a:prstGeom>
          <a:noFill/>
          <a:ln w="9525">
            <a:noFill/>
          </a:ln>
        </p:spPr>
        <p:txBody>
          <a:bodyPr>
            <a:noAutofit/>
          </a:bodyPr>
          <a:lstStyle/>
          <a:p>
            <a:pPr>
              <a:defRPr sz="1875" b="0">
                <a:solidFill>
                  <a:srgbClr val="4E6473"/>
                </a:solidFill>
                <a:latin typeface="Arial"/>
                <a:ea typeface="Arial"/>
                <a:cs typeface="Arial"/>
              </a:defRPr>
            </a:pPr>
            <a:r>
              <a:rPr lang="en-US" altLang="zh-CN" sz="1875" b="0" dirty="0">
                <a:solidFill>
                  <a:srgbClr val="4E6473"/>
                </a:solidFill>
                <a:latin typeface="Arial"/>
                <a:ea typeface="Arial"/>
                <a:cs typeface="Arial"/>
              </a:rPr>
              <a:t>Verify results and reposition</a:t>
            </a:r>
            <a:endParaRPr sz="1875" b="0" dirty="0">
              <a:solidFill>
                <a:srgbClr val="4E6473"/>
              </a:solidFill>
              <a:latin typeface="Arial"/>
              <a:ea typeface="Arial"/>
              <a:cs typeface="Arial"/>
            </a:endParaRPr>
          </a:p>
        </p:txBody>
      </p:sp>
      <p:sp>
        <p:nvSpPr>
          <p:cNvPr id="19" name="Arrow: Chevron 18">
            <a:extLst>
              <a:ext uri="{FF2B5EF4-FFF2-40B4-BE49-F238E27FC236}">
                <a16:creationId xmlns:a16="http://schemas.microsoft.com/office/drawing/2014/main" id="{F84BA8EB-2F2F-BA44-9090-68CECA1A8DB7}"/>
              </a:ext>
            </a:extLst>
          </p:cNvPr>
          <p:cNvSpPr>
            <a:spLocks noGrp="1"/>
          </p:cNvSpPr>
          <p:nvPr/>
        </p:nvSpPr>
        <p:spPr>
          <a:xfrm>
            <a:off x="9477375" y="2797175"/>
            <a:ext cx="171450" cy="228600"/>
          </a:xfrm>
          <a:prstGeom prst="chevron">
            <a:avLst/>
          </a:prstGeom>
          <a:solidFill>
            <a:srgbClr val="007F82"/>
          </a:solidFill>
          <a:ln w="9525">
            <a:solidFill>
              <a:srgbClr val="007F82"/>
            </a:solidFill>
          </a:ln>
        </p:spPr>
        <p:txBody>
          <a:bodyPr/>
          <a:lstStyle/>
          <a:p>
            <a:endParaRPr lang="zh-CN" altLang="en-US"/>
          </a:p>
        </p:txBody>
      </p:sp>
      <p:sp>
        <p:nvSpPr>
          <p:cNvPr id="20" name="Rectangle 19">
            <a:extLst>
              <a:ext uri="{FF2B5EF4-FFF2-40B4-BE49-F238E27FC236}">
                <a16:creationId xmlns:a16="http://schemas.microsoft.com/office/drawing/2014/main" id="{7C5AA9D0-A46A-D529-F557-0E1EFB5A009A}"/>
              </a:ext>
            </a:extLst>
          </p:cNvPr>
          <p:cNvSpPr>
            <a:spLocks noGrp="1"/>
          </p:cNvSpPr>
          <p:nvPr/>
        </p:nvSpPr>
        <p:spPr>
          <a:xfrm>
            <a:off x="9696450" y="2511425"/>
            <a:ext cx="2009775" cy="819150"/>
          </a:xfrm>
          <a:prstGeom prst="rect">
            <a:avLst/>
          </a:prstGeom>
          <a:solidFill>
            <a:srgbClr val="007F82"/>
          </a:solidFill>
          <a:ln w="9525">
            <a:solidFill>
              <a:srgbClr val="007F82"/>
            </a:solidFill>
          </a:ln>
        </p:spPr>
        <p:txBody>
          <a:bodyPr/>
          <a:lstStyle/>
          <a:p>
            <a:endParaRPr lang="zh-CN" altLang="en-US"/>
          </a:p>
        </p:txBody>
      </p:sp>
      <p:sp>
        <p:nvSpPr>
          <p:cNvPr id="21" name="Rectangle 20">
            <a:extLst>
              <a:ext uri="{FF2B5EF4-FFF2-40B4-BE49-F238E27FC236}">
                <a16:creationId xmlns:a16="http://schemas.microsoft.com/office/drawing/2014/main" id="{E2250CCD-55C9-2863-77AC-774A734B0836}"/>
              </a:ext>
            </a:extLst>
          </p:cNvPr>
          <p:cNvSpPr>
            <a:spLocks noGrp="1"/>
          </p:cNvSpPr>
          <p:nvPr/>
        </p:nvSpPr>
        <p:spPr>
          <a:xfrm>
            <a:off x="9839325" y="2740025"/>
            <a:ext cx="1752600" cy="400050"/>
          </a:xfrm>
          <a:prstGeom prst="rect">
            <a:avLst/>
          </a:prstGeom>
          <a:noFill/>
          <a:ln w="9525">
            <a:noFill/>
          </a:ln>
        </p:spPr>
        <p:txBody>
          <a:bodyPr>
            <a:noAutofit/>
          </a:bodyPr>
          <a:lstStyle/>
          <a:p>
            <a:pPr>
              <a:defRPr sz="2175" b="1">
                <a:solidFill>
                  <a:srgbClr val="FFFFFF"/>
                </a:solidFill>
                <a:latin typeface="Arial"/>
                <a:ea typeface="Arial"/>
                <a:cs typeface="Arial"/>
              </a:defRPr>
            </a:pPr>
            <a:r>
              <a:rPr sz="2175" b="1">
                <a:solidFill>
                  <a:srgbClr val="FFFFFF"/>
                </a:solidFill>
                <a:latin typeface="Arial"/>
                <a:ea typeface="Arial"/>
                <a:cs typeface="Arial"/>
              </a:rPr>
              <a:t>Task 2B</a:t>
            </a:r>
          </a:p>
        </p:txBody>
      </p:sp>
      <p:sp>
        <p:nvSpPr>
          <p:cNvPr id="22" name="Rectangle 21">
            <a:extLst>
              <a:ext uri="{FF2B5EF4-FFF2-40B4-BE49-F238E27FC236}">
                <a16:creationId xmlns:a16="http://schemas.microsoft.com/office/drawing/2014/main" id="{E9BE9416-EFFE-5A27-8D34-41C22B8CA3A1}"/>
              </a:ext>
            </a:extLst>
          </p:cNvPr>
          <p:cNvSpPr>
            <a:spLocks noGrp="1"/>
          </p:cNvSpPr>
          <p:nvPr/>
        </p:nvSpPr>
        <p:spPr>
          <a:xfrm>
            <a:off x="9696450" y="3587750"/>
            <a:ext cx="2019300" cy="952500"/>
          </a:xfrm>
          <a:prstGeom prst="rect">
            <a:avLst/>
          </a:prstGeom>
          <a:noFill/>
          <a:ln w="9525">
            <a:noFill/>
          </a:ln>
        </p:spPr>
        <p:txBody>
          <a:bodyPr>
            <a:noAutofit/>
          </a:bodyPr>
          <a:lstStyle/>
          <a:p>
            <a:pPr>
              <a:defRPr sz="1875" b="0">
                <a:solidFill>
                  <a:srgbClr val="4E6473"/>
                </a:solidFill>
                <a:latin typeface="Arial"/>
                <a:ea typeface="Arial"/>
                <a:cs typeface="Arial"/>
              </a:defRPr>
            </a:pPr>
            <a:r>
              <a:rPr sz="1875" b="0">
                <a:solidFill>
                  <a:srgbClr val="4E6473"/>
                </a:solidFill>
                <a:latin typeface="Arial"/>
                <a:ea typeface="Arial"/>
                <a:cs typeface="Arial"/>
              </a:rPr>
              <a:t>LLM-guided</a:t>
            </a:r>
          </a:p>
          <a:p>
            <a:pPr>
              <a:defRPr sz="1875" b="0">
                <a:solidFill>
                  <a:srgbClr val="4E6473"/>
                </a:solidFill>
                <a:latin typeface="Arial"/>
                <a:ea typeface="Arial"/>
                <a:cs typeface="Arial"/>
              </a:defRPr>
            </a:pPr>
            <a:r>
              <a:rPr sz="1875" b="0">
                <a:solidFill>
                  <a:srgbClr val="4E6473"/>
                </a:solidFill>
                <a:latin typeface="Arial"/>
                <a:ea typeface="Arial"/>
                <a:cs typeface="Arial"/>
              </a:rPr>
              <a:t>mission</a:t>
            </a:r>
          </a:p>
        </p:txBody>
      </p:sp>
      <p:sp>
        <p:nvSpPr>
          <p:cNvPr id="23" name="Rectangle 22">
            <a:extLst>
              <a:ext uri="{FF2B5EF4-FFF2-40B4-BE49-F238E27FC236}">
                <a16:creationId xmlns:a16="http://schemas.microsoft.com/office/drawing/2014/main" id="{86911108-38F0-BF4A-B6FB-3AC4C96B6C97}"/>
              </a:ext>
            </a:extLst>
          </p:cNvPr>
          <p:cNvSpPr>
            <a:spLocks noGrp="1"/>
          </p:cNvSpPr>
          <p:nvPr/>
        </p:nvSpPr>
        <p:spPr>
          <a:xfrm>
            <a:off x="638175" y="1871662"/>
            <a:ext cx="10477500" cy="428625"/>
          </a:xfrm>
          <a:prstGeom prst="rect">
            <a:avLst/>
          </a:prstGeom>
          <a:noFill/>
          <a:ln w="9525">
            <a:noFill/>
          </a:ln>
        </p:spPr>
        <p:txBody>
          <a:bodyPr>
            <a:noAutofit/>
          </a:bodyPr>
          <a:lstStyle/>
          <a:p>
            <a:pPr>
              <a:defRPr sz="2250" b="1">
                <a:solidFill>
                  <a:srgbClr val="12283B"/>
                </a:solidFill>
                <a:latin typeface="Arial"/>
                <a:ea typeface="Arial"/>
                <a:cs typeface="Arial"/>
              </a:defRPr>
            </a:pPr>
            <a:r>
              <a:rPr sz="2250" b="1" dirty="0">
                <a:solidFill>
                  <a:srgbClr val="12283B"/>
                </a:solidFill>
                <a:latin typeface="Arial"/>
                <a:ea typeface="Arial"/>
                <a:cs typeface="Arial"/>
              </a:rPr>
              <a:t>Two main tasks</a:t>
            </a:r>
          </a:p>
        </p:txBody>
      </p:sp>
      <p:sp>
        <p:nvSpPr>
          <p:cNvPr id="28" name="Shape 2">
            <a:extLst>
              <a:ext uri="{FF2B5EF4-FFF2-40B4-BE49-F238E27FC236}">
                <a16:creationId xmlns:a16="http://schemas.microsoft.com/office/drawing/2014/main" id="{F780E311-7DF8-30D2-9D06-0F7FC646B556}"/>
              </a:ext>
            </a:extLst>
          </p:cNvPr>
          <p:cNvSpPr/>
          <p:nvPr/>
        </p:nvSpPr>
        <p:spPr>
          <a:xfrm>
            <a:off x="502920" y="1033272"/>
            <a:ext cx="11155680" cy="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Tree>
    <p:extLst>
      <p:ext uri="{BB962C8B-B14F-4D97-AF65-F5344CB8AC3E}">
        <p14:creationId xmlns:p14="http://schemas.microsoft.com/office/powerpoint/2010/main" val="1665208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C16692-27C2-4633-9338-28053340C4D4}"/>
              </a:ext>
            </a:extLst>
          </p:cNvPr>
          <p:cNvSpPr>
            <a:spLocks noGrp="1"/>
          </p:cNvSpPr>
          <p:nvPr/>
        </p:nvSpPr>
        <p:spPr>
          <a:xfrm>
            <a:off x="571500" y="409575"/>
            <a:ext cx="10953750" cy="762000"/>
          </a:xfrm>
          <a:prstGeom prst="rect">
            <a:avLst/>
          </a:prstGeom>
          <a:noFill/>
          <a:ln w="9525">
            <a:noFill/>
          </a:ln>
        </p:spPr>
        <p:txBody>
          <a:bodyPr>
            <a:noAutofit/>
          </a:bodyPr>
          <a:lstStyle/>
          <a:p>
            <a:pPr>
              <a:defRPr sz="3000" b="1">
                <a:solidFill>
                  <a:srgbClr val="12283B"/>
                </a:solidFill>
                <a:latin typeface="Arial"/>
                <a:ea typeface="Arial"/>
                <a:cs typeface="Arial"/>
              </a:defRPr>
            </a:pPr>
            <a:r>
              <a:rPr sz="3000" b="1" dirty="0">
                <a:solidFill>
                  <a:srgbClr val="12283B"/>
                </a:solidFill>
                <a:latin typeface="Arial"/>
                <a:ea typeface="Arial"/>
                <a:cs typeface="Arial"/>
              </a:rPr>
              <a:t>Task 1   Autonomous exploration</a:t>
            </a:r>
            <a:r>
              <a:rPr lang="en-US" sz="3000" b="1" dirty="0">
                <a:solidFill>
                  <a:srgbClr val="12283B"/>
                </a:solidFill>
                <a:latin typeface="Arial"/>
                <a:ea typeface="Arial"/>
                <a:cs typeface="Arial"/>
              </a:rPr>
              <a:t>,</a:t>
            </a:r>
            <a:r>
              <a:rPr sz="3000" b="1" dirty="0">
                <a:solidFill>
                  <a:srgbClr val="12283B"/>
                </a:solidFill>
                <a:latin typeface="Arial"/>
                <a:ea typeface="Arial"/>
                <a:cs typeface="Arial"/>
              </a:rPr>
              <a:t> mapping</a:t>
            </a:r>
            <a:r>
              <a:rPr lang="en-US" sz="3000" b="1" dirty="0">
                <a:solidFill>
                  <a:srgbClr val="12283B"/>
                </a:solidFill>
                <a:latin typeface="Arial"/>
                <a:ea typeface="Arial"/>
                <a:cs typeface="Arial"/>
              </a:rPr>
              <a:t>, and detection</a:t>
            </a:r>
            <a:endParaRPr sz="3000" b="1" dirty="0">
              <a:solidFill>
                <a:srgbClr val="12283B"/>
              </a:solidFill>
              <a:latin typeface="Arial"/>
              <a:ea typeface="Arial"/>
              <a:cs typeface="Arial"/>
            </a:endParaRPr>
          </a:p>
        </p:txBody>
      </p:sp>
      <p:sp>
        <p:nvSpPr>
          <p:cNvPr id="3" name="Rectangle 2">
            <a:extLst>
              <a:ext uri="{FF2B5EF4-FFF2-40B4-BE49-F238E27FC236}">
                <a16:creationId xmlns:a16="http://schemas.microsoft.com/office/drawing/2014/main" id="{D25B400E-5A10-4B73-8EF8-6BBF79CE4F33}"/>
              </a:ext>
            </a:extLst>
          </p:cNvPr>
          <p:cNvSpPr>
            <a:spLocks noGrp="1"/>
          </p:cNvSpPr>
          <p:nvPr/>
        </p:nvSpPr>
        <p:spPr>
          <a:xfrm>
            <a:off x="11144250" y="6362700"/>
            <a:ext cx="571500" cy="238125"/>
          </a:xfrm>
          <a:prstGeom prst="rect">
            <a:avLst/>
          </a:prstGeom>
          <a:noFill/>
          <a:ln w="9525">
            <a:noFill/>
          </a:ln>
        </p:spPr>
        <p:txBody>
          <a:bodyPr>
            <a:noAutofit/>
          </a:bodyPr>
          <a:lstStyle/>
          <a:p>
            <a:pPr>
              <a:defRPr sz="1125" b="0">
                <a:solidFill>
                  <a:srgbClr val="4E6473"/>
                </a:solidFill>
                <a:latin typeface="Arial"/>
                <a:ea typeface="Arial"/>
                <a:cs typeface="Arial"/>
              </a:defRPr>
            </a:pPr>
            <a:r>
              <a:rPr sz="1125" b="0">
                <a:solidFill>
                  <a:srgbClr val="4E6473"/>
                </a:solidFill>
                <a:latin typeface="Arial"/>
                <a:ea typeface="Arial"/>
                <a:cs typeface="Arial"/>
              </a:rPr>
              <a:t>06</a:t>
            </a:r>
          </a:p>
        </p:txBody>
      </p:sp>
      <p:sp>
        <p:nvSpPr>
          <p:cNvPr id="26" name="Shape 2">
            <a:extLst>
              <a:ext uri="{FF2B5EF4-FFF2-40B4-BE49-F238E27FC236}">
                <a16:creationId xmlns:a16="http://schemas.microsoft.com/office/drawing/2014/main" id="{E6583A9C-3FDB-0304-7D43-4BB84E0E0C10}"/>
              </a:ext>
            </a:extLst>
          </p:cNvPr>
          <p:cNvSpPr/>
          <p:nvPr/>
        </p:nvSpPr>
        <p:spPr>
          <a:xfrm>
            <a:off x="502920" y="1033272"/>
            <a:ext cx="11155680" cy="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28" name="Picture 27">
            <a:extLst>
              <a:ext uri="{FF2B5EF4-FFF2-40B4-BE49-F238E27FC236}">
                <a16:creationId xmlns:a16="http://schemas.microsoft.com/office/drawing/2014/main" id="{FABB0359-824C-DCBC-8D86-46D27056186B}"/>
              </a:ext>
            </a:extLst>
          </p:cNvPr>
          <p:cNvPicPr>
            <a:picLocks/>
          </p:cNvPicPr>
          <p:nvPr/>
        </p:nvPicPr>
        <p:blipFill>
          <a:blip r:embed="rId3"/>
          <a:srcRect l="11062" t="9522" r="29209"/>
          <a:stretch>
            <a:fillRect/>
          </a:stretch>
        </p:blipFill>
        <p:spPr>
          <a:xfrm>
            <a:off x="7473950" y="1285875"/>
            <a:ext cx="4127500" cy="3491642"/>
          </a:xfrm>
          <a:prstGeom prst="rect">
            <a:avLst/>
          </a:prstGeom>
        </p:spPr>
      </p:pic>
      <p:sp>
        <p:nvSpPr>
          <p:cNvPr id="30" name="Rectangle 29">
            <a:extLst>
              <a:ext uri="{FF2B5EF4-FFF2-40B4-BE49-F238E27FC236}">
                <a16:creationId xmlns:a16="http://schemas.microsoft.com/office/drawing/2014/main" id="{798C927A-C4D4-8444-EC13-25635ED39638}"/>
              </a:ext>
            </a:extLst>
          </p:cNvPr>
          <p:cNvSpPr>
            <a:spLocks noGrp="1"/>
          </p:cNvSpPr>
          <p:nvPr/>
        </p:nvSpPr>
        <p:spPr>
          <a:xfrm>
            <a:off x="425450" y="1285875"/>
            <a:ext cx="6616700" cy="2843211"/>
          </a:xfrm>
          <a:prstGeom prst="rect">
            <a:avLst/>
          </a:prstGeom>
          <a:noFill/>
          <a:ln w="9525">
            <a:noFill/>
          </a:ln>
        </p:spPr>
        <p:txBody>
          <a:bodyPr>
            <a:noAutofit/>
          </a:bodyPr>
          <a:lstStyle/>
          <a:p>
            <a:pPr algn="just">
              <a:spcAft>
                <a:spcPts val="600"/>
              </a:spcAft>
            </a:pPr>
            <a:r>
              <a:rPr lang="en-US" altLang="zh-CN" dirty="0"/>
              <a:t>Teams may use </a:t>
            </a:r>
            <a:r>
              <a:rPr lang="en-US" altLang="zh-CN" b="1" dirty="0"/>
              <a:t>up to two</a:t>
            </a:r>
            <a:r>
              <a:rPr lang="en-US" altLang="zh-CN" dirty="0"/>
              <a:t> robots starting from a designated start area to autonomously explore an unknown environment and build a unified 2D occupancy grid map within </a:t>
            </a:r>
            <a:r>
              <a:rPr lang="en-US" altLang="zh-CN" b="1" dirty="0"/>
              <a:t>limited time</a:t>
            </a:r>
            <a:r>
              <a:rPr lang="en-US" altLang="zh-CN" dirty="0"/>
              <a:t>:</a:t>
            </a:r>
          </a:p>
          <a:p>
            <a:pPr marL="285750" indent="-285750" algn="just">
              <a:buFont typeface="Wingdings" panose="05000000000000000000" pitchFamily="2" charset="2"/>
              <a:buChar char="l"/>
            </a:pPr>
            <a:r>
              <a:rPr lang="en-US" altLang="zh-CN" dirty="0"/>
              <a:t>The robot system shall operate </a:t>
            </a:r>
            <a:r>
              <a:rPr lang="en-US" altLang="zh-CN" b="1" dirty="0"/>
              <a:t>autonomously</a:t>
            </a:r>
            <a:r>
              <a:rPr lang="en-US" altLang="zh-CN" dirty="0"/>
              <a:t> based on the current map and sensor information, performing path planning, obstacle avoidance, and motion execution toward the selected target;</a:t>
            </a:r>
          </a:p>
          <a:p>
            <a:pPr marL="285750" indent="-285750" algn="just">
              <a:buFont typeface="Wingdings" panose="05000000000000000000" pitchFamily="2" charset="2"/>
              <a:buChar char="l"/>
            </a:pPr>
            <a:r>
              <a:rPr lang="en-US" altLang="zh-CN" dirty="0"/>
              <a:t>Existing ROS 2 SLAM, navigation, and other open-source software packages are allowed.</a:t>
            </a:r>
            <a:endParaRPr lang="en-US" altLang="zh-CN" sz="2000" dirty="0"/>
          </a:p>
        </p:txBody>
      </p:sp>
      <p:sp>
        <p:nvSpPr>
          <p:cNvPr id="32" name="Rectangle 31">
            <a:extLst>
              <a:ext uri="{FF2B5EF4-FFF2-40B4-BE49-F238E27FC236}">
                <a16:creationId xmlns:a16="http://schemas.microsoft.com/office/drawing/2014/main" id="{9AD1711D-C122-A9A6-25AD-B31FD05E896E}"/>
              </a:ext>
            </a:extLst>
          </p:cNvPr>
          <p:cNvSpPr/>
          <p:nvPr/>
        </p:nvSpPr>
        <p:spPr>
          <a:xfrm>
            <a:off x="10144694" y="2990850"/>
            <a:ext cx="1221805" cy="2667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93140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09BA0-AB8C-04BB-913D-F9A8DF6F146B}"/>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E352A83B-E92C-7459-A93F-46CBC6F616CC}"/>
              </a:ext>
            </a:extLst>
          </p:cNvPr>
          <p:cNvSpPr>
            <a:spLocks noGrp="1"/>
          </p:cNvSpPr>
          <p:nvPr/>
        </p:nvSpPr>
        <p:spPr>
          <a:xfrm>
            <a:off x="571500" y="409575"/>
            <a:ext cx="10953750" cy="762000"/>
          </a:xfrm>
          <a:prstGeom prst="rect">
            <a:avLst/>
          </a:prstGeom>
          <a:noFill/>
          <a:ln w="9525">
            <a:noFill/>
          </a:ln>
        </p:spPr>
        <p:txBody>
          <a:bodyPr>
            <a:noAutofit/>
          </a:bodyPr>
          <a:lstStyle/>
          <a:p>
            <a:pPr>
              <a:defRPr sz="3000" b="1">
                <a:solidFill>
                  <a:srgbClr val="12283B"/>
                </a:solidFill>
                <a:latin typeface="Arial"/>
                <a:ea typeface="Arial"/>
                <a:cs typeface="Arial"/>
              </a:defRPr>
            </a:pPr>
            <a:r>
              <a:rPr sz="3000" b="1" dirty="0">
                <a:solidFill>
                  <a:srgbClr val="12283B"/>
                </a:solidFill>
                <a:latin typeface="Arial"/>
                <a:ea typeface="Arial"/>
                <a:cs typeface="Arial"/>
              </a:rPr>
              <a:t>Task 1   Autonomous exploration</a:t>
            </a:r>
            <a:r>
              <a:rPr lang="en-US" sz="3000" b="1" dirty="0">
                <a:solidFill>
                  <a:srgbClr val="12283B"/>
                </a:solidFill>
                <a:latin typeface="Arial"/>
                <a:ea typeface="Arial"/>
                <a:cs typeface="Arial"/>
              </a:rPr>
              <a:t>,</a:t>
            </a:r>
            <a:r>
              <a:rPr sz="3000" b="1" dirty="0">
                <a:solidFill>
                  <a:srgbClr val="12283B"/>
                </a:solidFill>
                <a:latin typeface="Arial"/>
                <a:ea typeface="Arial"/>
                <a:cs typeface="Arial"/>
              </a:rPr>
              <a:t> mapping</a:t>
            </a:r>
            <a:r>
              <a:rPr lang="en-US" sz="3000" b="1" dirty="0">
                <a:solidFill>
                  <a:srgbClr val="12283B"/>
                </a:solidFill>
                <a:latin typeface="Arial"/>
                <a:ea typeface="Arial"/>
                <a:cs typeface="Arial"/>
              </a:rPr>
              <a:t>, and detection</a:t>
            </a:r>
            <a:endParaRPr sz="3000" b="1" dirty="0">
              <a:solidFill>
                <a:srgbClr val="12283B"/>
              </a:solidFill>
              <a:latin typeface="Arial"/>
              <a:ea typeface="Arial"/>
              <a:cs typeface="Arial"/>
            </a:endParaRPr>
          </a:p>
        </p:txBody>
      </p:sp>
      <p:sp>
        <p:nvSpPr>
          <p:cNvPr id="3" name="Rectangle 2">
            <a:extLst>
              <a:ext uri="{FF2B5EF4-FFF2-40B4-BE49-F238E27FC236}">
                <a16:creationId xmlns:a16="http://schemas.microsoft.com/office/drawing/2014/main" id="{E82DDDEF-86AD-B24A-D52B-43DCC1623528}"/>
              </a:ext>
            </a:extLst>
          </p:cNvPr>
          <p:cNvSpPr>
            <a:spLocks noGrp="1"/>
          </p:cNvSpPr>
          <p:nvPr/>
        </p:nvSpPr>
        <p:spPr>
          <a:xfrm>
            <a:off x="11144250" y="6362700"/>
            <a:ext cx="571500" cy="238125"/>
          </a:xfrm>
          <a:prstGeom prst="rect">
            <a:avLst/>
          </a:prstGeom>
          <a:noFill/>
          <a:ln w="9525">
            <a:noFill/>
          </a:ln>
        </p:spPr>
        <p:txBody>
          <a:bodyPr>
            <a:noAutofit/>
          </a:bodyPr>
          <a:lstStyle/>
          <a:p>
            <a:pPr>
              <a:defRPr sz="1125" b="0">
                <a:solidFill>
                  <a:srgbClr val="4E6473"/>
                </a:solidFill>
                <a:latin typeface="Arial"/>
                <a:ea typeface="Arial"/>
                <a:cs typeface="Arial"/>
              </a:defRPr>
            </a:pPr>
            <a:r>
              <a:rPr sz="1125" b="0">
                <a:solidFill>
                  <a:srgbClr val="4E6473"/>
                </a:solidFill>
                <a:latin typeface="Arial"/>
                <a:ea typeface="Arial"/>
                <a:cs typeface="Arial"/>
              </a:rPr>
              <a:t>06</a:t>
            </a:r>
          </a:p>
        </p:txBody>
      </p:sp>
      <p:sp>
        <p:nvSpPr>
          <p:cNvPr id="26" name="Shape 2">
            <a:extLst>
              <a:ext uri="{FF2B5EF4-FFF2-40B4-BE49-F238E27FC236}">
                <a16:creationId xmlns:a16="http://schemas.microsoft.com/office/drawing/2014/main" id="{D45A1D84-94DE-14E9-D203-E9388479AB6E}"/>
              </a:ext>
            </a:extLst>
          </p:cNvPr>
          <p:cNvSpPr/>
          <p:nvPr/>
        </p:nvSpPr>
        <p:spPr>
          <a:xfrm>
            <a:off x="502920" y="1033272"/>
            <a:ext cx="11155680" cy="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28" name="Picture 27">
            <a:extLst>
              <a:ext uri="{FF2B5EF4-FFF2-40B4-BE49-F238E27FC236}">
                <a16:creationId xmlns:a16="http://schemas.microsoft.com/office/drawing/2014/main" id="{0D514332-8801-2338-20C6-6105CBDF20FB}"/>
              </a:ext>
            </a:extLst>
          </p:cNvPr>
          <p:cNvPicPr>
            <a:picLocks/>
          </p:cNvPicPr>
          <p:nvPr/>
        </p:nvPicPr>
        <p:blipFill>
          <a:blip r:embed="rId3"/>
          <a:srcRect l="11062" t="9522" r="29209"/>
          <a:stretch>
            <a:fillRect/>
          </a:stretch>
        </p:blipFill>
        <p:spPr>
          <a:xfrm>
            <a:off x="7473950" y="1285875"/>
            <a:ext cx="4127500" cy="3491642"/>
          </a:xfrm>
          <a:prstGeom prst="rect">
            <a:avLst/>
          </a:prstGeom>
        </p:spPr>
      </p:pic>
      <p:sp>
        <p:nvSpPr>
          <p:cNvPr id="30" name="Rectangle 29">
            <a:extLst>
              <a:ext uri="{FF2B5EF4-FFF2-40B4-BE49-F238E27FC236}">
                <a16:creationId xmlns:a16="http://schemas.microsoft.com/office/drawing/2014/main" id="{E22B0FAB-3881-5ED1-843E-EFF83F9BCE7D}"/>
              </a:ext>
            </a:extLst>
          </p:cNvPr>
          <p:cNvSpPr>
            <a:spLocks noGrp="1"/>
          </p:cNvSpPr>
          <p:nvPr/>
        </p:nvSpPr>
        <p:spPr>
          <a:xfrm>
            <a:off x="425450" y="1285875"/>
            <a:ext cx="6616700" cy="2843211"/>
          </a:xfrm>
          <a:prstGeom prst="rect">
            <a:avLst/>
          </a:prstGeom>
          <a:noFill/>
          <a:ln w="9525">
            <a:noFill/>
          </a:ln>
        </p:spPr>
        <p:txBody>
          <a:bodyPr>
            <a:noAutofit/>
          </a:bodyPr>
          <a:lstStyle/>
          <a:p>
            <a:pPr algn="just">
              <a:spcAft>
                <a:spcPts val="600"/>
              </a:spcAft>
            </a:pPr>
            <a:r>
              <a:rPr lang="en-US" altLang="zh-CN" dirty="0"/>
              <a:t>Teams may use </a:t>
            </a:r>
            <a:r>
              <a:rPr lang="en-US" altLang="zh-CN" b="1" dirty="0"/>
              <a:t>up to two</a:t>
            </a:r>
            <a:r>
              <a:rPr lang="en-US" altLang="zh-CN" dirty="0"/>
              <a:t> robots starting from a designated start area to autonomously explore an unknown environment and build a unified 2D occupancy grid map within </a:t>
            </a:r>
            <a:r>
              <a:rPr lang="en-US" altLang="zh-CN" b="1" dirty="0"/>
              <a:t>limited time</a:t>
            </a:r>
            <a:r>
              <a:rPr lang="en-US" altLang="zh-CN" dirty="0"/>
              <a:t>:</a:t>
            </a:r>
          </a:p>
          <a:p>
            <a:pPr marL="285750" indent="-285750" algn="just">
              <a:buFont typeface="Wingdings" panose="05000000000000000000" pitchFamily="2" charset="2"/>
              <a:buChar char="l"/>
            </a:pPr>
            <a:r>
              <a:rPr lang="en-US" altLang="zh-CN" dirty="0"/>
              <a:t>The robot system shall operate </a:t>
            </a:r>
            <a:r>
              <a:rPr lang="en-US" altLang="zh-CN" b="1" dirty="0"/>
              <a:t>autonomously</a:t>
            </a:r>
            <a:r>
              <a:rPr lang="en-US" altLang="zh-CN" dirty="0"/>
              <a:t> based on the current map and sensor information, performing path planning, obstacle avoidance, and motion execution toward the selected target;</a:t>
            </a:r>
          </a:p>
          <a:p>
            <a:pPr marL="285750" indent="-285750" algn="just">
              <a:buFont typeface="Wingdings" panose="05000000000000000000" pitchFamily="2" charset="2"/>
              <a:buChar char="l"/>
            </a:pPr>
            <a:r>
              <a:rPr lang="en-US" altLang="zh-CN" dirty="0"/>
              <a:t>Existing ROS 2 SLAM, navigation, and other open-source software packages are allowed.</a:t>
            </a:r>
            <a:endParaRPr lang="en-US" altLang="zh-CN" sz="2000" dirty="0"/>
          </a:p>
        </p:txBody>
      </p:sp>
      <p:sp>
        <p:nvSpPr>
          <p:cNvPr id="4" name="Rectangle 3">
            <a:extLst>
              <a:ext uri="{FF2B5EF4-FFF2-40B4-BE49-F238E27FC236}">
                <a16:creationId xmlns:a16="http://schemas.microsoft.com/office/drawing/2014/main" id="{38AD108D-C5D0-F65E-5D72-6B01311C382F}"/>
              </a:ext>
            </a:extLst>
          </p:cNvPr>
          <p:cNvSpPr>
            <a:spLocks noGrp="1"/>
          </p:cNvSpPr>
          <p:nvPr/>
        </p:nvSpPr>
        <p:spPr>
          <a:xfrm>
            <a:off x="425450" y="4103920"/>
            <a:ext cx="3448050" cy="439397"/>
          </a:xfrm>
          <a:prstGeom prst="rect">
            <a:avLst/>
          </a:prstGeom>
          <a:solidFill>
            <a:schemeClr val="accent6">
              <a:lumMod val="20000"/>
              <a:lumOff val="80000"/>
            </a:schemeClr>
          </a:solidFill>
          <a:ln w="9525">
            <a:solidFill>
              <a:srgbClr val="F2F5F8"/>
            </a:solidFill>
          </a:ln>
        </p:spPr>
        <p:txBody>
          <a:bodyPr/>
          <a:lstStyle/>
          <a:p>
            <a:endParaRPr lang="zh-CN" altLang="en-US"/>
          </a:p>
        </p:txBody>
      </p:sp>
      <p:sp>
        <p:nvSpPr>
          <p:cNvPr id="7" name="TextBox 6">
            <a:extLst>
              <a:ext uri="{FF2B5EF4-FFF2-40B4-BE49-F238E27FC236}">
                <a16:creationId xmlns:a16="http://schemas.microsoft.com/office/drawing/2014/main" id="{CFCEAB0D-7500-DAC2-C2E3-82E12571846A}"/>
              </a:ext>
            </a:extLst>
          </p:cNvPr>
          <p:cNvSpPr txBox="1"/>
          <p:nvPr/>
        </p:nvSpPr>
        <p:spPr>
          <a:xfrm>
            <a:off x="502920" y="4138953"/>
            <a:ext cx="3448050" cy="369332"/>
          </a:xfrm>
          <a:prstGeom prst="rect">
            <a:avLst/>
          </a:prstGeom>
          <a:noFill/>
        </p:spPr>
        <p:txBody>
          <a:bodyPr wrap="square" rtlCol="0">
            <a:spAutoFit/>
          </a:bodyPr>
          <a:lstStyle/>
          <a:p>
            <a:r>
              <a:rPr lang="en-US" altLang="zh-CN" b="1" dirty="0"/>
              <a:t>Target detection and localization</a:t>
            </a:r>
            <a:endParaRPr lang="zh-CN" altLang="en-US" b="1" dirty="0"/>
          </a:p>
        </p:txBody>
      </p:sp>
      <p:sp>
        <p:nvSpPr>
          <p:cNvPr id="13" name="Rectangle 12">
            <a:extLst>
              <a:ext uri="{FF2B5EF4-FFF2-40B4-BE49-F238E27FC236}">
                <a16:creationId xmlns:a16="http://schemas.microsoft.com/office/drawing/2014/main" id="{891D7CE4-9060-E049-AA7F-9939E9F06E1C}"/>
              </a:ext>
            </a:extLst>
          </p:cNvPr>
          <p:cNvSpPr>
            <a:spLocks noGrp="1"/>
          </p:cNvSpPr>
          <p:nvPr/>
        </p:nvSpPr>
        <p:spPr>
          <a:xfrm>
            <a:off x="425450" y="4553185"/>
            <a:ext cx="6616700" cy="439398"/>
          </a:xfrm>
          <a:prstGeom prst="rect">
            <a:avLst/>
          </a:prstGeom>
          <a:noFill/>
          <a:ln w="9525">
            <a:noFill/>
          </a:ln>
        </p:spPr>
        <p:txBody>
          <a:bodyPr>
            <a:noAutofit/>
          </a:bodyPr>
          <a:lstStyle/>
          <a:p>
            <a:pPr algn="just">
              <a:spcAft>
                <a:spcPts val="600"/>
              </a:spcAft>
            </a:pPr>
            <a:r>
              <a:rPr lang="en-US" altLang="zh-CN" dirty="0"/>
              <a:t>The system shall perform the following pipeline:</a:t>
            </a:r>
          </a:p>
        </p:txBody>
      </p:sp>
      <p:sp>
        <p:nvSpPr>
          <p:cNvPr id="15" name="Rectangle 14">
            <a:extLst>
              <a:ext uri="{FF2B5EF4-FFF2-40B4-BE49-F238E27FC236}">
                <a16:creationId xmlns:a16="http://schemas.microsoft.com/office/drawing/2014/main" id="{6E2EF81D-A63E-8005-5E51-2A2B0FC71291}"/>
              </a:ext>
            </a:extLst>
          </p:cNvPr>
          <p:cNvSpPr/>
          <p:nvPr/>
        </p:nvSpPr>
        <p:spPr>
          <a:xfrm>
            <a:off x="10144694" y="2990850"/>
            <a:ext cx="1221805" cy="2667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Rectangle 16">
            <a:extLst>
              <a:ext uri="{FF2B5EF4-FFF2-40B4-BE49-F238E27FC236}">
                <a16:creationId xmlns:a16="http://schemas.microsoft.com/office/drawing/2014/main" id="{A6AF7899-2E4C-9A69-ADA8-F1CBF70D5BB6}"/>
              </a:ext>
            </a:extLst>
          </p:cNvPr>
          <p:cNvSpPr>
            <a:spLocks noGrp="1"/>
          </p:cNvSpPr>
          <p:nvPr/>
        </p:nvSpPr>
        <p:spPr>
          <a:xfrm>
            <a:off x="502920" y="4879975"/>
            <a:ext cx="1905000" cy="400050"/>
          </a:xfrm>
          <a:prstGeom prst="rect">
            <a:avLst/>
          </a:prstGeom>
          <a:noFill/>
          <a:ln w="9525">
            <a:noFill/>
          </a:ln>
        </p:spPr>
        <p:txBody>
          <a:bodyPr>
            <a:noAutofit/>
          </a:bodyPr>
          <a:lstStyle/>
          <a:p>
            <a:pPr>
              <a:defRPr sz="2025" b="1">
                <a:solidFill>
                  <a:srgbClr val="007F82"/>
                </a:solidFill>
                <a:latin typeface="Arial"/>
                <a:ea typeface="Arial"/>
                <a:cs typeface="Arial"/>
              </a:defRPr>
            </a:pPr>
            <a:r>
              <a:rPr sz="2025" b="1">
                <a:solidFill>
                  <a:srgbClr val="007F82"/>
                </a:solidFill>
                <a:latin typeface="Arial"/>
                <a:ea typeface="Arial"/>
                <a:cs typeface="Arial"/>
              </a:rPr>
              <a:t>01</a:t>
            </a:r>
          </a:p>
        </p:txBody>
      </p:sp>
      <p:sp>
        <p:nvSpPr>
          <p:cNvPr id="19" name="Rectangle 18">
            <a:extLst>
              <a:ext uri="{FF2B5EF4-FFF2-40B4-BE49-F238E27FC236}">
                <a16:creationId xmlns:a16="http://schemas.microsoft.com/office/drawing/2014/main" id="{0508DD92-3781-79A5-3CB5-6098D070349C}"/>
              </a:ext>
            </a:extLst>
          </p:cNvPr>
          <p:cNvSpPr>
            <a:spLocks noGrp="1"/>
          </p:cNvSpPr>
          <p:nvPr/>
        </p:nvSpPr>
        <p:spPr>
          <a:xfrm>
            <a:off x="502920" y="5164806"/>
            <a:ext cx="1517650" cy="679450"/>
          </a:xfrm>
          <a:prstGeom prst="rect">
            <a:avLst/>
          </a:prstGeom>
          <a:noFill/>
          <a:ln w="9525">
            <a:noFill/>
          </a:ln>
        </p:spPr>
        <p:txBody>
          <a:bodyPr>
            <a:noAutofit/>
          </a:bodyPr>
          <a:lstStyle/>
          <a:p>
            <a:pPr>
              <a:defRPr sz="2175" b="1">
                <a:solidFill>
                  <a:srgbClr val="12283B"/>
                </a:solidFill>
                <a:latin typeface="Arial"/>
                <a:ea typeface="Arial"/>
                <a:cs typeface="Arial"/>
              </a:defRPr>
            </a:pPr>
            <a:r>
              <a:rPr sz="1600" b="1" dirty="0" err="1">
                <a:solidFill>
                  <a:srgbClr val="12283B"/>
                </a:solidFill>
                <a:latin typeface="Arial"/>
                <a:ea typeface="Arial"/>
                <a:cs typeface="Arial"/>
              </a:rPr>
              <a:t>ArUco</a:t>
            </a:r>
            <a:r>
              <a:rPr lang="en-US" sz="1600" b="1" dirty="0">
                <a:solidFill>
                  <a:srgbClr val="12283B"/>
                </a:solidFill>
                <a:latin typeface="Arial"/>
                <a:ea typeface="Arial"/>
                <a:cs typeface="Arial"/>
              </a:rPr>
              <a:t> </a:t>
            </a:r>
            <a:r>
              <a:rPr sz="1600" b="1" dirty="0">
                <a:solidFill>
                  <a:srgbClr val="12283B"/>
                </a:solidFill>
                <a:latin typeface="Arial"/>
                <a:ea typeface="Arial"/>
                <a:cs typeface="Arial"/>
              </a:rPr>
              <a:t>observation</a:t>
            </a:r>
          </a:p>
        </p:txBody>
      </p:sp>
      <p:sp>
        <p:nvSpPr>
          <p:cNvPr id="21" name="Arrow: Chevron 20">
            <a:extLst>
              <a:ext uri="{FF2B5EF4-FFF2-40B4-BE49-F238E27FC236}">
                <a16:creationId xmlns:a16="http://schemas.microsoft.com/office/drawing/2014/main" id="{19767F0A-BA31-078D-0269-CAD1B4EEE6B6}"/>
              </a:ext>
            </a:extLst>
          </p:cNvPr>
          <p:cNvSpPr>
            <a:spLocks noGrp="1"/>
          </p:cNvSpPr>
          <p:nvPr/>
        </p:nvSpPr>
        <p:spPr>
          <a:xfrm>
            <a:off x="2001520" y="5393406"/>
            <a:ext cx="304800" cy="228600"/>
          </a:xfrm>
          <a:prstGeom prst="chevron">
            <a:avLst/>
          </a:prstGeom>
          <a:solidFill>
            <a:srgbClr val="007F82"/>
          </a:solidFill>
          <a:ln w="9525">
            <a:solidFill>
              <a:srgbClr val="007F82"/>
            </a:solidFill>
          </a:ln>
        </p:spPr>
        <p:txBody>
          <a:bodyPr/>
          <a:lstStyle/>
          <a:p>
            <a:endParaRPr lang="zh-CN" altLang="en-US"/>
          </a:p>
        </p:txBody>
      </p:sp>
      <p:sp>
        <p:nvSpPr>
          <p:cNvPr id="23" name="Rectangle 22">
            <a:extLst>
              <a:ext uri="{FF2B5EF4-FFF2-40B4-BE49-F238E27FC236}">
                <a16:creationId xmlns:a16="http://schemas.microsoft.com/office/drawing/2014/main" id="{F8304F65-EE73-5CD5-A33C-282D8CD8DA90}"/>
              </a:ext>
            </a:extLst>
          </p:cNvPr>
          <p:cNvSpPr>
            <a:spLocks noGrp="1"/>
          </p:cNvSpPr>
          <p:nvPr/>
        </p:nvSpPr>
        <p:spPr>
          <a:xfrm>
            <a:off x="2496820" y="4879975"/>
            <a:ext cx="1905000" cy="400050"/>
          </a:xfrm>
          <a:prstGeom prst="rect">
            <a:avLst/>
          </a:prstGeom>
          <a:noFill/>
          <a:ln w="9525">
            <a:noFill/>
          </a:ln>
        </p:spPr>
        <p:txBody>
          <a:bodyPr>
            <a:noAutofit/>
          </a:bodyPr>
          <a:lstStyle/>
          <a:p>
            <a:pPr>
              <a:defRPr sz="2025" b="1">
                <a:solidFill>
                  <a:srgbClr val="007F82"/>
                </a:solidFill>
                <a:latin typeface="Arial"/>
                <a:ea typeface="Arial"/>
                <a:cs typeface="Arial"/>
              </a:defRPr>
            </a:pPr>
            <a:r>
              <a:rPr sz="2025" b="1">
                <a:solidFill>
                  <a:srgbClr val="007F82"/>
                </a:solidFill>
                <a:latin typeface="Arial"/>
                <a:ea typeface="Arial"/>
                <a:cs typeface="Arial"/>
              </a:rPr>
              <a:t>02</a:t>
            </a:r>
          </a:p>
        </p:txBody>
      </p:sp>
      <p:sp>
        <p:nvSpPr>
          <p:cNvPr id="27" name="Rectangle 26">
            <a:extLst>
              <a:ext uri="{FF2B5EF4-FFF2-40B4-BE49-F238E27FC236}">
                <a16:creationId xmlns:a16="http://schemas.microsoft.com/office/drawing/2014/main" id="{9B1FD5E4-8735-3B86-291F-2AA567D87E29}"/>
              </a:ext>
            </a:extLst>
          </p:cNvPr>
          <p:cNvSpPr>
            <a:spLocks noGrp="1"/>
          </p:cNvSpPr>
          <p:nvPr/>
        </p:nvSpPr>
        <p:spPr>
          <a:xfrm>
            <a:off x="2496820" y="5164806"/>
            <a:ext cx="1727200" cy="679450"/>
          </a:xfrm>
          <a:prstGeom prst="rect">
            <a:avLst/>
          </a:prstGeom>
          <a:noFill/>
          <a:ln w="9525">
            <a:noFill/>
          </a:ln>
        </p:spPr>
        <p:txBody>
          <a:bodyPr>
            <a:noAutofit/>
          </a:bodyPr>
          <a:lstStyle/>
          <a:p>
            <a:pPr>
              <a:defRPr sz="2175" b="1">
                <a:solidFill>
                  <a:srgbClr val="12283B"/>
                </a:solidFill>
                <a:latin typeface="Arial"/>
                <a:ea typeface="Arial"/>
                <a:cs typeface="Arial"/>
              </a:defRPr>
            </a:pPr>
            <a:r>
              <a:rPr lang="en-US" sz="1600" b="1" dirty="0">
                <a:solidFill>
                  <a:srgbClr val="12283B"/>
                </a:solidFill>
                <a:latin typeface="Arial"/>
                <a:ea typeface="Arial"/>
                <a:cs typeface="Arial"/>
              </a:rPr>
              <a:t>Identify target </a:t>
            </a:r>
            <a:r>
              <a:rPr sz="1600" b="1" dirty="0">
                <a:solidFill>
                  <a:srgbClr val="12283B"/>
                </a:solidFill>
                <a:latin typeface="Arial"/>
                <a:ea typeface="Arial"/>
                <a:cs typeface="Arial"/>
              </a:rPr>
              <a:t>ID and</a:t>
            </a:r>
            <a:r>
              <a:rPr lang="en-US" sz="1600" b="1" dirty="0">
                <a:solidFill>
                  <a:srgbClr val="12283B"/>
                </a:solidFill>
                <a:latin typeface="Arial"/>
                <a:ea typeface="Arial"/>
                <a:cs typeface="Arial"/>
              </a:rPr>
              <a:t> type</a:t>
            </a:r>
            <a:endParaRPr sz="1600" b="1" dirty="0">
              <a:solidFill>
                <a:srgbClr val="12283B"/>
              </a:solidFill>
              <a:latin typeface="Arial"/>
              <a:ea typeface="Arial"/>
              <a:cs typeface="Arial"/>
            </a:endParaRPr>
          </a:p>
        </p:txBody>
      </p:sp>
      <p:sp>
        <p:nvSpPr>
          <p:cNvPr id="31" name="Arrow: Chevron 30">
            <a:extLst>
              <a:ext uri="{FF2B5EF4-FFF2-40B4-BE49-F238E27FC236}">
                <a16:creationId xmlns:a16="http://schemas.microsoft.com/office/drawing/2014/main" id="{17E3E928-A6F1-152E-6330-AB1973C2E12B}"/>
              </a:ext>
            </a:extLst>
          </p:cNvPr>
          <p:cNvSpPr>
            <a:spLocks noGrp="1"/>
          </p:cNvSpPr>
          <p:nvPr/>
        </p:nvSpPr>
        <p:spPr>
          <a:xfrm>
            <a:off x="4243070" y="5393406"/>
            <a:ext cx="304800" cy="228600"/>
          </a:xfrm>
          <a:prstGeom prst="chevron">
            <a:avLst/>
          </a:prstGeom>
          <a:solidFill>
            <a:srgbClr val="007F82"/>
          </a:solidFill>
          <a:ln w="9525">
            <a:solidFill>
              <a:srgbClr val="007F82"/>
            </a:solidFill>
          </a:ln>
        </p:spPr>
        <p:txBody>
          <a:bodyPr/>
          <a:lstStyle/>
          <a:p>
            <a:endParaRPr lang="zh-CN" altLang="en-US"/>
          </a:p>
        </p:txBody>
      </p:sp>
      <p:sp>
        <p:nvSpPr>
          <p:cNvPr id="33" name="Rectangle 32">
            <a:extLst>
              <a:ext uri="{FF2B5EF4-FFF2-40B4-BE49-F238E27FC236}">
                <a16:creationId xmlns:a16="http://schemas.microsoft.com/office/drawing/2014/main" id="{74E84A53-C989-7D1A-DFFC-142C700620F6}"/>
              </a:ext>
            </a:extLst>
          </p:cNvPr>
          <p:cNvSpPr>
            <a:spLocks noGrp="1"/>
          </p:cNvSpPr>
          <p:nvPr/>
        </p:nvSpPr>
        <p:spPr>
          <a:xfrm>
            <a:off x="4744720" y="4866488"/>
            <a:ext cx="685800" cy="400050"/>
          </a:xfrm>
          <a:prstGeom prst="rect">
            <a:avLst/>
          </a:prstGeom>
          <a:noFill/>
          <a:ln w="9525">
            <a:noFill/>
          </a:ln>
        </p:spPr>
        <p:txBody>
          <a:bodyPr>
            <a:noAutofit/>
          </a:bodyPr>
          <a:lstStyle/>
          <a:p>
            <a:pPr>
              <a:defRPr sz="2025" b="1">
                <a:solidFill>
                  <a:srgbClr val="007F82"/>
                </a:solidFill>
                <a:latin typeface="Arial"/>
                <a:ea typeface="Arial"/>
                <a:cs typeface="Arial"/>
              </a:defRPr>
            </a:pPr>
            <a:r>
              <a:rPr sz="2025" b="1">
                <a:solidFill>
                  <a:srgbClr val="007F82"/>
                </a:solidFill>
                <a:latin typeface="Arial"/>
                <a:ea typeface="Arial"/>
                <a:cs typeface="Arial"/>
              </a:rPr>
              <a:t>03</a:t>
            </a:r>
          </a:p>
        </p:txBody>
      </p:sp>
      <p:sp>
        <p:nvSpPr>
          <p:cNvPr id="35" name="Rectangle 34">
            <a:extLst>
              <a:ext uri="{FF2B5EF4-FFF2-40B4-BE49-F238E27FC236}">
                <a16:creationId xmlns:a16="http://schemas.microsoft.com/office/drawing/2014/main" id="{568F4B9C-D01C-12C3-7CF3-AB15A6E547D2}"/>
              </a:ext>
            </a:extLst>
          </p:cNvPr>
          <p:cNvSpPr>
            <a:spLocks noGrp="1"/>
          </p:cNvSpPr>
          <p:nvPr/>
        </p:nvSpPr>
        <p:spPr>
          <a:xfrm>
            <a:off x="7081520" y="5164806"/>
            <a:ext cx="1346200" cy="578666"/>
          </a:xfrm>
          <a:prstGeom prst="rect">
            <a:avLst/>
          </a:prstGeom>
          <a:noFill/>
          <a:ln w="9525">
            <a:noFill/>
          </a:ln>
        </p:spPr>
        <p:txBody>
          <a:bodyPr>
            <a:noAutofit/>
          </a:bodyPr>
          <a:lstStyle/>
          <a:p>
            <a:pPr>
              <a:defRPr sz="2175" b="1">
                <a:solidFill>
                  <a:srgbClr val="12283B"/>
                </a:solidFill>
                <a:latin typeface="Arial"/>
                <a:ea typeface="Arial"/>
                <a:cs typeface="Arial"/>
              </a:defRPr>
            </a:pPr>
            <a:r>
              <a:rPr sz="1600" b="1" dirty="0">
                <a:solidFill>
                  <a:srgbClr val="12283B"/>
                </a:solidFill>
                <a:latin typeface="Arial"/>
                <a:ea typeface="Arial"/>
                <a:cs typeface="Arial"/>
              </a:rPr>
              <a:t>Pose in</a:t>
            </a:r>
          </a:p>
          <a:p>
            <a:pPr>
              <a:defRPr sz="2175" b="1">
                <a:solidFill>
                  <a:srgbClr val="12283B"/>
                </a:solidFill>
                <a:latin typeface="Arial"/>
                <a:ea typeface="Arial"/>
                <a:cs typeface="Arial"/>
              </a:defRPr>
            </a:pPr>
            <a:r>
              <a:rPr sz="1600" b="1" dirty="0">
                <a:solidFill>
                  <a:srgbClr val="12283B"/>
                </a:solidFill>
                <a:latin typeface="Arial"/>
                <a:ea typeface="Arial"/>
                <a:cs typeface="Arial"/>
              </a:rPr>
              <a:t>map frame</a:t>
            </a:r>
          </a:p>
        </p:txBody>
      </p:sp>
      <p:sp>
        <p:nvSpPr>
          <p:cNvPr id="37" name="Arrow: Chevron 36">
            <a:extLst>
              <a:ext uri="{FF2B5EF4-FFF2-40B4-BE49-F238E27FC236}">
                <a16:creationId xmlns:a16="http://schemas.microsoft.com/office/drawing/2014/main" id="{06BD6998-77C8-2DC7-ED2C-F75B905CBA00}"/>
              </a:ext>
            </a:extLst>
          </p:cNvPr>
          <p:cNvSpPr>
            <a:spLocks noGrp="1"/>
          </p:cNvSpPr>
          <p:nvPr/>
        </p:nvSpPr>
        <p:spPr>
          <a:xfrm>
            <a:off x="8580120" y="5393406"/>
            <a:ext cx="304800" cy="228600"/>
          </a:xfrm>
          <a:prstGeom prst="chevron">
            <a:avLst/>
          </a:prstGeom>
          <a:solidFill>
            <a:srgbClr val="007F82"/>
          </a:solidFill>
          <a:ln w="9525">
            <a:solidFill>
              <a:srgbClr val="007F82"/>
            </a:solidFill>
          </a:ln>
        </p:spPr>
        <p:txBody>
          <a:bodyPr/>
          <a:lstStyle/>
          <a:p>
            <a:endParaRPr lang="zh-CN" altLang="en-US"/>
          </a:p>
        </p:txBody>
      </p:sp>
      <p:sp>
        <p:nvSpPr>
          <p:cNvPr id="39" name="Rectangle 38">
            <a:extLst>
              <a:ext uri="{FF2B5EF4-FFF2-40B4-BE49-F238E27FC236}">
                <a16:creationId xmlns:a16="http://schemas.microsoft.com/office/drawing/2014/main" id="{29EC8070-89F3-59C6-244B-708224C76C86}"/>
              </a:ext>
            </a:extLst>
          </p:cNvPr>
          <p:cNvSpPr>
            <a:spLocks noGrp="1"/>
          </p:cNvSpPr>
          <p:nvPr/>
        </p:nvSpPr>
        <p:spPr>
          <a:xfrm>
            <a:off x="7068820" y="4868758"/>
            <a:ext cx="685800" cy="400050"/>
          </a:xfrm>
          <a:prstGeom prst="rect">
            <a:avLst/>
          </a:prstGeom>
          <a:noFill/>
          <a:ln w="9525">
            <a:noFill/>
          </a:ln>
        </p:spPr>
        <p:txBody>
          <a:bodyPr>
            <a:noAutofit/>
          </a:bodyPr>
          <a:lstStyle/>
          <a:p>
            <a:pPr>
              <a:defRPr sz="2025" b="1">
                <a:solidFill>
                  <a:srgbClr val="007F82"/>
                </a:solidFill>
                <a:latin typeface="Arial"/>
                <a:ea typeface="Arial"/>
                <a:cs typeface="Arial"/>
              </a:defRPr>
            </a:pPr>
            <a:r>
              <a:rPr sz="2025" b="1" dirty="0">
                <a:solidFill>
                  <a:srgbClr val="007F82"/>
                </a:solidFill>
                <a:latin typeface="Arial"/>
                <a:ea typeface="Arial"/>
                <a:cs typeface="Arial"/>
              </a:rPr>
              <a:t>04</a:t>
            </a:r>
          </a:p>
        </p:txBody>
      </p:sp>
      <p:sp>
        <p:nvSpPr>
          <p:cNvPr id="41" name="Rectangle 40">
            <a:extLst>
              <a:ext uri="{FF2B5EF4-FFF2-40B4-BE49-F238E27FC236}">
                <a16:creationId xmlns:a16="http://schemas.microsoft.com/office/drawing/2014/main" id="{079D5AC1-FC4E-4298-4911-7A00A4CD90BA}"/>
              </a:ext>
            </a:extLst>
          </p:cNvPr>
          <p:cNvSpPr>
            <a:spLocks noGrp="1"/>
          </p:cNvSpPr>
          <p:nvPr/>
        </p:nvSpPr>
        <p:spPr>
          <a:xfrm>
            <a:off x="9075420" y="5188002"/>
            <a:ext cx="1346200" cy="663472"/>
          </a:xfrm>
          <a:prstGeom prst="rect">
            <a:avLst/>
          </a:prstGeom>
          <a:noFill/>
          <a:ln w="9525">
            <a:noFill/>
          </a:ln>
        </p:spPr>
        <p:txBody>
          <a:bodyPr>
            <a:noAutofit/>
          </a:bodyPr>
          <a:lstStyle/>
          <a:p>
            <a:pPr>
              <a:defRPr sz="2175" b="1">
                <a:solidFill>
                  <a:srgbClr val="12283B"/>
                </a:solidFill>
                <a:latin typeface="Arial"/>
                <a:ea typeface="Arial"/>
                <a:cs typeface="Arial"/>
              </a:defRPr>
            </a:pPr>
            <a:r>
              <a:rPr lang="en-US" sz="1600" b="1" dirty="0">
                <a:solidFill>
                  <a:srgbClr val="12283B"/>
                </a:solidFill>
                <a:latin typeface="Arial"/>
                <a:ea typeface="Arial"/>
                <a:cs typeface="Arial"/>
              </a:rPr>
              <a:t>Update</a:t>
            </a:r>
            <a:endParaRPr sz="1600" b="1" dirty="0">
              <a:solidFill>
                <a:srgbClr val="12283B"/>
              </a:solidFill>
              <a:latin typeface="Arial"/>
              <a:ea typeface="Arial"/>
              <a:cs typeface="Arial"/>
            </a:endParaRPr>
          </a:p>
          <a:p>
            <a:pPr>
              <a:defRPr sz="2175" b="1">
                <a:solidFill>
                  <a:srgbClr val="12283B"/>
                </a:solidFill>
                <a:latin typeface="Arial"/>
                <a:ea typeface="Arial"/>
                <a:cs typeface="Arial"/>
              </a:defRPr>
            </a:pPr>
            <a:r>
              <a:rPr sz="1600" b="1" dirty="0">
                <a:solidFill>
                  <a:srgbClr val="12283B"/>
                </a:solidFill>
                <a:latin typeface="Arial"/>
                <a:ea typeface="Arial"/>
                <a:cs typeface="Arial"/>
              </a:rPr>
              <a:t>target list</a:t>
            </a:r>
          </a:p>
        </p:txBody>
      </p:sp>
      <p:sp>
        <p:nvSpPr>
          <p:cNvPr id="43" name="Rectangle 42">
            <a:extLst>
              <a:ext uri="{FF2B5EF4-FFF2-40B4-BE49-F238E27FC236}">
                <a16:creationId xmlns:a16="http://schemas.microsoft.com/office/drawing/2014/main" id="{8C0C2865-D7EA-2C22-457A-C6D426617A97}"/>
              </a:ext>
            </a:extLst>
          </p:cNvPr>
          <p:cNvSpPr>
            <a:spLocks noGrp="1"/>
          </p:cNvSpPr>
          <p:nvPr/>
        </p:nvSpPr>
        <p:spPr>
          <a:xfrm>
            <a:off x="4744720" y="5172024"/>
            <a:ext cx="1905000" cy="679450"/>
          </a:xfrm>
          <a:prstGeom prst="rect">
            <a:avLst/>
          </a:prstGeom>
          <a:noFill/>
          <a:ln w="9525">
            <a:noFill/>
          </a:ln>
        </p:spPr>
        <p:txBody>
          <a:bodyPr>
            <a:noAutofit/>
          </a:bodyPr>
          <a:lstStyle/>
          <a:p>
            <a:pPr>
              <a:defRPr sz="2175" b="1">
                <a:solidFill>
                  <a:srgbClr val="12283B"/>
                </a:solidFill>
                <a:latin typeface="Arial"/>
                <a:ea typeface="Arial"/>
                <a:cs typeface="Arial"/>
              </a:defRPr>
            </a:pPr>
            <a:r>
              <a:rPr lang="en-US" sz="1600" b="1" dirty="0">
                <a:solidFill>
                  <a:srgbClr val="12283B"/>
                </a:solidFill>
                <a:latin typeface="Arial"/>
                <a:ea typeface="Arial"/>
                <a:cs typeface="Arial"/>
              </a:rPr>
              <a:t>Estimate relative position</a:t>
            </a:r>
            <a:endParaRPr sz="1600" b="1" dirty="0">
              <a:solidFill>
                <a:srgbClr val="12283B"/>
              </a:solidFill>
              <a:latin typeface="Arial"/>
              <a:ea typeface="Arial"/>
              <a:cs typeface="Arial"/>
            </a:endParaRPr>
          </a:p>
        </p:txBody>
      </p:sp>
      <p:sp>
        <p:nvSpPr>
          <p:cNvPr id="45" name="Arrow: Chevron 44">
            <a:extLst>
              <a:ext uri="{FF2B5EF4-FFF2-40B4-BE49-F238E27FC236}">
                <a16:creationId xmlns:a16="http://schemas.microsoft.com/office/drawing/2014/main" id="{2827725F-1F8E-BD68-1596-7E524BAF761A}"/>
              </a:ext>
            </a:extLst>
          </p:cNvPr>
          <p:cNvSpPr>
            <a:spLocks noGrp="1"/>
          </p:cNvSpPr>
          <p:nvPr/>
        </p:nvSpPr>
        <p:spPr>
          <a:xfrm>
            <a:off x="6694170" y="5390231"/>
            <a:ext cx="304800" cy="228600"/>
          </a:xfrm>
          <a:prstGeom prst="chevron">
            <a:avLst/>
          </a:prstGeom>
          <a:solidFill>
            <a:srgbClr val="007F82"/>
          </a:solidFill>
          <a:ln w="9525">
            <a:solidFill>
              <a:srgbClr val="007F82"/>
            </a:solidFill>
          </a:ln>
        </p:spPr>
        <p:txBody>
          <a:bodyPr/>
          <a:lstStyle/>
          <a:p>
            <a:endParaRPr lang="zh-CN" altLang="en-US"/>
          </a:p>
        </p:txBody>
      </p:sp>
      <p:sp>
        <p:nvSpPr>
          <p:cNvPr id="47" name="Rectangle 46">
            <a:extLst>
              <a:ext uri="{FF2B5EF4-FFF2-40B4-BE49-F238E27FC236}">
                <a16:creationId xmlns:a16="http://schemas.microsoft.com/office/drawing/2014/main" id="{EF7E460F-1E0B-C379-206D-CF6C2D3B1B78}"/>
              </a:ext>
            </a:extLst>
          </p:cNvPr>
          <p:cNvSpPr>
            <a:spLocks noGrp="1"/>
          </p:cNvSpPr>
          <p:nvPr/>
        </p:nvSpPr>
        <p:spPr>
          <a:xfrm>
            <a:off x="9075420" y="4866488"/>
            <a:ext cx="685800" cy="400050"/>
          </a:xfrm>
          <a:prstGeom prst="rect">
            <a:avLst/>
          </a:prstGeom>
          <a:noFill/>
          <a:ln w="9525">
            <a:noFill/>
          </a:ln>
        </p:spPr>
        <p:txBody>
          <a:bodyPr>
            <a:noAutofit/>
          </a:bodyPr>
          <a:lstStyle/>
          <a:p>
            <a:pPr>
              <a:defRPr sz="2025" b="1">
                <a:solidFill>
                  <a:srgbClr val="007F82"/>
                </a:solidFill>
                <a:latin typeface="Arial"/>
                <a:ea typeface="Arial"/>
                <a:cs typeface="Arial"/>
              </a:defRPr>
            </a:pPr>
            <a:r>
              <a:rPr lang="en-US" altLang="zh-CN" sz="2025" b="1" dirty="0">
                <a:solidFill>
                  <a:srgbClr val="007F82"/>
                </a:solidFill>
                <a:latin typeface="Arial"/>
                <a:ea typeface="Arial"/>
                <a:cs typeface="Arial"/>
              </a:rPr>
              <a:t>05</a:t>
            </a:r>
            <a:endParaRPr sz="2025" b="1" dirty="0">
              <a:solidFill>
                <a:srgbClr val="007F82"/>
              </a:solidFill>
              <a:latin typeface="Arial"/>
              <a:ea typeface="Arial"/>
              <a:cs typeface="Arial"/>
            </a:endParaRPr>
          </a:p>
        </p:txBody>
      </p:sp>
      <p:sp>
        <p:nvSpPr>
          <p:cNvPr id="49" name="Rectangle 48">
            <a:extLst>
              <a:ext uri="{FF2B5EF4-FFF2-40B4-BE49-F238E27FC236}">
                <a16:creationId xmlns:a16="http://schemas.microsoft.com/office/drawing/2014/main" id="{8A34F848-6455-1A3E-0C64-78AED4DF41E3}"/>
              </a:ext>
            </a:extLst>
          </p:cNvPr>
          <p:cNvSpPr>
            <a:spLocks noGrp="1"/>
          </p:cNvSpPr>
          <p:nvPr/>
        </p:nvSpPr>
        <p:spPr>
          <a:xfrm>
            <a:off x="425451" y="6064986"/>
            <a:ext cx="9193199" cy="496738"/>
          </a:xfrm>
          <a:prstGeom prst="rect">
            <a:avLst/>
          </a:prstGeom>
          <a:solidFill>
            <a:srgbClr val="E7F2F2"/>
          </a:solidFill>
          <a:ln w="9525">
            <a:solidFill>
              <a:srgbClr val="E7F2F2"/>
            </a:solidFill>
          </a:ln>
        </p:spPr>
        <p:txBody>
          <a:bodyPr/>
          <a:lstStyle/>
          <a:p>
            <a:endParaRPr lang="zh-CN" altLang="en-US"/>
          </a:p>
        </p:txBody>
      </p:sp>
      <p:sp>
        <p:nvSpPr>
          <p:cNvPr id="51" name="Rectangle 50">
            <a:extLst>
              <a:ext uri="{FF2B5EF4-FFF2-40B4-BE49-F238E27FC236}">
                <a16:creationId xmlns:a16="http://schemas.microsoft.com/office/drawing/2014/main" id="{EF7737D7-40D7-DF0E-85B8-249C0AF47871}"/>
              </a:ext>
            </a:extLst>
          </p:cNvPr>
          <p:cNvSpPr>
            <a:spLocks noGrp="1"/>
          </p:cNvSpPr>
          <p:nvPr/>
        </p:nvSpPr>
        <p:spPr>
          <a:xfrm>
            <a:off x="615950" y="6098276"/>
            <a:ext cx="8268970" cy="523875"/>
          </a:xfrm>
          <a:prstGeom prst="rect">
            <a:avLst/>
          </a:prstGeom>
          <a:noFill/>
          <a:ln w="9525">
            <a:noFill/>
          </a:ln>
        </p:spPr>
        <p:txBody>
          <a:bodyPr>
            <a:noAutofit/>
          </a:bodyPr>
          <a:lstStyle/>
          <a:p>
            <a:pPr>
              <a:defRPr sz="2025" b="1">
                <a:solidFill>
                  <a:srgbClr val="007F82"/>
                </a:solidFill>
                <a:latin typeface="Arial"/>
                <a:ea typeface="Arial"/>
                <a:cs typeface="Arial"/>
              </a:defRPr>
            </a:pPr>
            <a:r>
              <a:rPr lang="en-US" b="1" dirty="0">
                <a:solidFill>
                  <a:srgbClr val="007F82"/>
                </a:solidFill>
                <a:latin typeface="Arial"/>
                <a:ea typeface="Arial"/>
                <a:cs typeface="Arial"/>
              </a:rPr>
              <a:t>Required output: A 2D occupancy map and a target list</a:t>
            </a:r>
            <a:endParaRPr b="1" dirty="0">
              <a:solidFill>
                <a:srgbClr val="007F82"/>
              </a:solidFill>
              <a:latin typeface="Arial"/>
              <a:ea typeface="Arial"/>
              <a:cs typeface="Arial"/>
            </a:endParaRPr>
          </a:p>
        </p:txBody>
      </p:sp>
    </p:spTree>
    <p:extLst>
      <p:ext uri="{BB962C8B-B14F-4D97-AF65-F5344CB8AC3E}">
        <p14:creationId xmlns:p14="http://schemas.microsoft.com/office/powerpoint/2010/main" val="3392442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1"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72519E7-0F46-4872-8DDC-140739F9FD0F}"/>
              </a:ext>
            </a:extLst>
          </p:cNvPr>
          <p:cNvSpPr>
            <a:spLocks noGrp="1"/>
          </p:cNvSpPr>
          <p:nvPr/>
        </p:nvSpPr>
        <p:spPr>
          <a:xfrm>
            <a:off x="571500" y="409575"/>
            <a:ext cx="10953750" cy="762000"/>
          </a:xfrm>
          <a:prstGeom prst="rect">
            <a:avLst/>
          </a:prstGeom>
          <a:noFill/>
          <a:ln w="9525">
            <a:noFill/>
          </a:ln>
        </p:spPr>
        <p:txBody>
          <a:bodyPr>
            <a:noAutofit/>
          </a:bodyPr>
          <a:lstStyle/>
          <a:p>
            <a:pPr>
              <a:defRPr sz="3000" b="1">
                <a:solidFill>
                  <a:srgbClr val="12283B"/>
                </a:solidFill>
                <a:latin typeface="Arial"/>
                <a:ea typeface="Arial"/>
                <a:cs typeface="Arial"/>
              </a:defRPr>
            </a:pPr>
            <a:r>
              <a:rPr sz="3000" b="1" dirty="0">
                <a:solidFill>
                  <a:srgbClr val="12283B"/>
                </a:solidFill>
                <a:latin typeface="Arial"/>
                <a:ea typeface="Arial"/>
                <a:cs typeface="Arial"/>
              </a:rPr>
              <a:t>Task 2A   Multi-robot rescue</a:t>
            </a:r>
          </a:p>
        </p:txBody>
      </p:sp>
      <p:sp>
        <p:nvSpPr>
          <p:cNvPr id="3" name="Rectangle 2">
            <a:extLst>
              <a:ext uri="{FF2B5EF4-FFF2-40B4-BE49-F238E27FC236}">
                <a16:creationId xmlns:a16="http://schemas.microsoft.com/office/drawing/2014/main" id="{53AC12DC-1C8D-497E-80D1-F5460CBB6577}"/>
              </a:ext>
            </a:extLst>
          </p:cNvPr>
          <p:cNvSpPr>
            <a:spLocks noGrp="1"/>
          </p:cNvSpPr>
          <p:nvPr/>
        </p:nvSpPr>
        <p:spPr>
          <a:xfrm>
            <a:off x="11144250" y="6362700"/>
            <a:ext cx="571500" cy="238125"/>
          </a:xfrm>
          <a:prstGeom prst="rect">
            <a:avLst/>
          </a:prstGeom>
          <a:noFill/>
          <a:ln w="9525">
            <a:noFill/>
          </a:ln>
        </p:spPr>
        <p:txBody>
          <a:bodyPr>
            <a:noAutofit/>
          </a:bodyPr>
          <a:lstStyle/>
          <a:p>
            <a:pPr>
              <a:defRPr sz="1125" b="0">
                <a:solidFill>
                  <a:srgbClr val="4E6473"/>
                </a:solidFill>
                <a:latin typeface="Arial"/>
                <a:ea typeface="Arial"/>
                <a:cs typeface="Arial"/>
              </a:defRPr>
            </a:pPr>
            <a:r>
              <a:rPr sz="1125" b="0">
                <a:solidFill>
                  <a:srgbClr val="4E6473"/>
                </a:solidFill>
                <a:latin typeface="Arial"/>
                <a:ea typeface="Arial"/>
                <a:cs typeface="Arial"/>
              </a:rPr>
              <a:t>08</a:t>
            </a:r>
          </a:p>
        </p:txBody>
      </p:sp>
      <p:sp>
        <p:nvSpPr>
          <p:cNvPr id="17" name="Shape 2">
            <a:extLst>
              <a:ext uri="{FF2B5EF4-FFF2-40B4-BE49-F238E27FC236}">
                <a16:creationId xmlns:a16="http://schemas.microsoft.com/office/drawing/2014/main" id="{F9AA633B-4D71-068F-3507-F573DDBB5B36}"/>
              </a:ext>
            </a:extLst>
          </p:cNvPr>
          <p:cNvSpPr/>
          <p:nvPr/>
        </p:nvSpPr>
        <p:spPr>
          <a:xfrm>
            <a:off x="502920" y="1033272"/>
            <a:ext cx="11155680" cy="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19" name="Rectangle 18">
            <a:extLst>
              <a:ext uri="{FF2B5EF4-FFF2-40B4-BE49-F238E27FC236}">
                <a16:creationId xmlns:a16="http://schemas.microsoft.com/office/drawing/2014/main" id="{B03E80A9-086A-D91B-EBA7-5F74A0130D79}"/>
              </a:ext>
            </a:extLst>
          </p:cNvPr>
          <p:cNvSpPr>
            <a:spLocks noGrp="1"/>
          </p:cNvSpPr>
          <p:nvPr/>
        </p:nvSpPr>
        <p:spPr>
          <a:xfrm>
            <a:off x="425450" y="1285876"/>
            <a:ext cx="11290300" cy="1066798"/>
          </a:xfrm>
          <a:prstGeom prst="rect">
            <a:avLst/>
          </a:prstGeom>
          <a:noFill/>
          <a:ln w="9525">
            <a:noFill/>
          </a:ln>
        </p:spPr>
        <p:txBody>
          <a:bodyPr>
            <a:noAutofit/>
          </a:bodyPr>
          <a:lstStyle/>
          <a:p>
            <a:pPr algn="just">
              <a:spcAft>
                <a:spcPts val="600"/>
              </a:spcAft>
            </a:pPr>
            <a:r>
              <a:rPr lang="en-US" altLang="zh-CN" dirty="0"/>
              <a:t>Task 2 uses the unified map and target list generated in Task 1. Multiple robots cooperate to complete rescue tasks. Teams may use </a:t>
            </a:r>
            <a:r>
              <a:rPr lang="en-US" altLang="zh-CN" b="1" dirty="0"/>
              <a:t>up to four</a:t>
            </a:r>
            <a:r>
              <a:rPr lang="en-US" altLang="zh-CN" dirty="0"/>
              <a:t> robots and use the </a:t>
            </a:r>
            <a:r>
              <a:rPr lang="en-US" altLang="zh-CN" b="1" dirty="0"/>
              <a:t>organizer-provided edge node </a:t>
            </a:r>
            <a:r>
              <a:rPr lang="en-US" altLang="zh-CN" dirty="0"/>
              <a:t>for global state aggregation, task planning, and multi-robot coordination.</a:t>
            </a:r>
            <a:endParaRPr lang="en-US" altLang="zh-CN" sz="2000" dirty="0"/>
          </a:p>
        </p:txBody>
      </p:sp>
      <p:sp>
        <p:nvSpPr>
          <p:cNvPr id="21" name="Shape 2">
            <a:extLst>
              <a:ext uri="{FF2B5EF4-FFF2-40B4-BE49-F238E27FC236}">
                <a16:creationId xmlns:a16="http://schemas.microsoft.com/office/drawing/2014/main" id="{446E0FED-2D22-BA12-C222-38DF4ACCA179}"/>
              </a:ext>
            </a:extLst>
          </p:cNvPr>
          <p:cNvSpPr/>
          <p:nvPr/>
        </p:nvSpPr>
        <p:spPr>
          <a:xfrm>
            <a:off x="571500" y="2345341"/>
            <a:ext cx="2971800" cy="2057400"/>
          </a:xfrm>
          <a:prstGeom prst="roundRect">
            <a:avLst>
              <a:gd name="adj" fmla="val 3556"/>
            </a:avLst>
          </a:prstGeom>
          <a:solidFill>
            <a:srgbClr val="EAF2FB"/>
          </a:solidFill>
          <a:ln w="15240">
            <a:solidFill>
              <a:srgbClr val="BCD1EA"/>
            </a:solidFill>
            <a:prstDash val="solid"/>
          </a:ln>
        </p:spPr>
        <p:txBody>
          <a:bodyPr/>
          <a:lstStyle/>
          <a:p>
            <a:endParaRPr lang="zh-CN" altLang="en-US"/>
          </a:p>
        </p:txBody>
      </p:sp>
      <p:sp>
        <p:nvSpPr>
          <p:cNvPr id="23" name="Text 3">
            <a:extLst>
              <a:ext uri="{FF2B5EF4-FFF2-40B4-BE49-F238E27FC236}">
                <a16:creationId xmlns:a16="http://schemas.microsoft.com/office/drawing/2014/main" id="{AF4D050D-1AE8-B20A-09D0-7420ED5A779F}"/>
              </a:ext>
            </a:extLst>
          </p:cNvPr>
          <p:cNvSpPr/>
          <p:nvPr/>
        </p:nvSpPr>
        <p:spPr>
          <a:xfrm>
            <a:off x="736092" y="2455069"/>
            <a:ext cx="2642616" cy="292608"/>
          </a:xfrm>
          <a:prstGeom prst="rect">
            <a:avLst/>
          </a:prstGeom>
          <a:noFill/>
          <a:ln/>
        </p:spPr>
        <p:txBody>
          <a:bodyPr wrap="square" lIns="0" tIns="0" rIns="0" bIns="0" rtlCol="0" anchor="ctr"/>
          <a:lstStyle/>
          <a:p>
            <a:pPr marL="0" indent="0">
              <a:buNone/>
            </a:pPr>
            <a:r>
              <a:rPr lang="en-US" sz="1600" b="1" dirty="0">
                <a:solidFill>
                  <a:srgbClr val="183B66"/>
                </a:solidFill>
              </a:rPr>
              <a:t>Task 1 Outputs</a:t>
            </a:r>
            <a:endParaRPr lang="en-US" sz="1600" dirty="0"/>
          </a:p>
        </p:txBody>
      </p:sp>
      <p:sp>
        <p:nvSpPr>
          <p:cNvPr id="25" name="Shape 4">
            <a:extLst>
              <a:ext uri="{FF2B5EF4-FFF2-40B4-BE49-F238E27FC236}">
                <a16:creationId xmlns:a16="http://schemas.microsoft.com/office/drawing/2014/main" id="{C339A3B2-C807-4448-D991-C8A85FAC0E6E}"/>
              </a:ext>
            </a:extLst>
          </p:cNvPr>
          <p:cNvSpPr/>
          <p:nvPr/>
        </p:nvSpPr>
        <p:spPr>
          <a:xfrm>
            <a:off x="800100" y="2848261"/>
            <a:ext cx="1051560" cy="822960"/>
          </a:xfrm>
          <a:prstGeom prst="rect">
            <a:avLst/>
          </a:prstGeom>
          <a:solidFill>
            <a:srgbClr val="FFFFFF"/>
          </a:solidFill>
          <a:ln w="12700">
            <a:solidFill>
              <a:srgbClr val="93A9BE"/>
            </a:solidFill>
            <a:prstDash val="solid"/>
          </a:ln>
        </p:spPr>
        <p:txBody>
          <a:bodyPr/>
          <a:lstStyle/>
          <a:p>
            <a:endParaRPr lang="zh-CN" altLang="en-US"/>
          </a:p>
        </p:txBody>
      </p:sp>
      <p:sp>
        <p:nvSpPr>
          <p:cNvPr id="27" name="Shape 5">
            <a:extLst>
              <a:ext uri="{FF2B5EF4-FFF2-40B4-BE49-F238E27FC236}">
                <a16:creationId xmlns:a16="http://schemas.microsoft.com/office/drawing/2014/main" id="{D398108D-2BBF-5EAE-A82C-73D2424590D0}"/>
              </a:ext>
            </a:extLst>
          </p:cNvPr>
          <p:cNvSpPr/>
          <p:nvPr/>
        </p:nvSpPr>
        <p:spPr>
          <a:xfrm>
            <a:off x="1147572" y="2848261"/>
            <a:ext cx="0" cy="502920"/>
          </a:xfrm>
          <a:prstGeom prst="line">
            <a:avLst/>
          </a:prstGeom>
          <a:noFill/>
          <a:ln w="25400">
            <a:solidFill>
              <a:srgbClr val="8798A8"/>
            </a:solidFill>
            <a:prstDash val="solid"/>
          </a:ln>
        </p:spPr>
        <p:txBody>
          <a:bodyPr/>
          <a:lstStyle/>
          <a:p>
            <a:endParaRPr lang="zh-CN" altLang="en-US"/>
          </a:p>
        </p:txBody>
      </p:sp>
      <p:sp>
        <p:nvSpPr>
          <p:cNvPr id="29" name="Shape 6">
            <a:extLst>
              <a:ext uri="{FF2B5EF4-FFF2-40B4-BE49-F238E27FC236}">
                <a16:creationId xmlns:a16="http://schemas.microsoft.com/office/drawing/2014/main" id="{A6863D89-F584-97F4-6914-1CFC87870A77}"/>
              </a:ext>
            </a:extLst>
          </p:cNvPr>
          <p:cNvSpPr/>
          <p:nvPr/>
        </p:nvSpPr>
        <p:spPr>
          <a:xfrm>
            <a:off x="1147572" y="3351181"/>
            <a:ext cx="411480" cy="0"/>
          </a:xfrm>
          <a:prstGeom prst="line">
            <a:avLst/>
          </a:prstGeom>
          <a:noFill/>
          <a:ln w="25400">
            <a:solidFill>
              <a:srgbClr val="8798A8"/>
            </a:solidFill>
            <a:prstDash val="solid"/>
          </a:ln>
        </p:spPr>
        <p:txBody>
          <a:bodyPr/>
          <a:lstStyle/>
          <a:p>
            <a:endParaRPr lang="zh-CN" altLang="en-US"/>
          </a:p>
        </p:txBody>
      </p:sp>
      <p:sp>
        <p:nvSpPr>
          <p:cNvPr id="31" name="Shape 7">
            <a:extLst>
              <a:ext uri="{FF2B5EF4-FFF2-40B4-BE49-F238E27FC236}">
                <a16:creationId xmlns:a16="http://schemas.microsoft.com/office/drawing/2014/main" id="{0B15EC3F-B83E-3BA6-6E71-1AF289A60EA9}"/>
              </a:ext>
            </a:extLst>
          </p:cNvPr>
          <p:cNvSpPr/>
          <p:nvPr/>
        </p:nvSpPr>
        <p:spPr>
          <a:xfrm>
            <a:off x="1467612" y="3012853"/>
            <a:ext cx="164592" cy="164592"/>
          </a:xfrm>
          <a:prstGeom prst="rect">
            <a:avLst/>
          </a:prstGeom>
          <a:solidFill>
            <a:srgbClr val="FFF1E4"/>
          </a:solidFill>
          <a:ln w="12700">
            <a:solidFill>
              <a:srgbClr val="C97522"/>
            </a:solidFill>
            <a:prstDash val="solid"/>
          </a:ln>
        </p:spPr>
        <p:txBody>
          <a:bodyPr/>
          <a:lstStyle/>
          <a:p>
            <a:endParaRPr lang="zh-CN" altLang="en-US"/>
          </a:p>
        </p:txBody>
      </p:sp>
      <p:sp>
        <p:nvSpPr>
          <p:cNvPr id="33" name="Text 8">
            <a:extLst>
              <a:ext uri="{FF2B5EF4-FFF2-40B4-BE49-F238E27FC236}">
                <a16:creationId xmlns:a16="http://schemas.microsoft.com/office/drawing/2014/main" id="{5DC18168-2D00-3F55-DD1E-5DD4AC00B995}"/>
              </a:ext>
            </a:extLst>
          </p:cNvPr>
          <p:cNvSpPr/>
          <p:nvPr/>
        </p:nvSpPr>
        <p:spPr>
          <a:xfrm>
            <a:off x="754380" y="3762661"/>
            <a:ext cx="1188720" cy="256032"/>
          </a:xfrm>
          <a:prstGeom prst="rect">
            <a:avLst/>
          </a:prstGeom>
          <a:noFill/>
          <a:ln/>
        </p:spPr>
        <p:txBody>
          <a:bodyPr wrap="square" lIns="0" tIns="0" rIns="0" bIns="0" rtlCol="0" anchor="ctr"/>
          <a:lstStyle/>
          <a:p>
            <a:pPr marL="0" indent="0" algn="ctr">
              <a:buNone/>
            </a:pPr>
            <a:r>
              <a:rPr lang="en-US" sz="1400" b="1" dirty="0">
                <a:solidFill>
                  <a:srgbClr val="263238"/>
                </a:solidFill>
              </a:rPr>
              <a:t>Unified Map</a:t>
            </a:r>
            <a:endParaRPr lang="en-US" sz="1400" dirty="0"/>
          </a:p>
        </p:txBody>
      </p:sp>
      <p:sp>
        <p:nvSpPr>
          <p:cNvPr id="35" name="Shape 9">
            <a:extLst>
              <a:ext uri="{FF2B5EF4-FFF2-40B4-BE49-F238E27FC236}">
                <a16:creationId xmlns:a16="http://schemas.microsoft.com/office/drawing/2014/main" id="{4765642A-DD9D-3159-99E2-DA9297EF44D6}"/>
              </a:ext>
            </a:extLst>
          </p:cNvPr>
          <p:cNvSpPr/>
          <p:nvPr/>
        </p:nvSpPr>
        <p:spPr>
          <a:xfrm>
            <a:off x="2125979" y="2829973"/>
            <a:ext cx="1097280" cy="859536"/>
          </a:xfrm>
          <a:prstGeom prst="rect">
            <a:avLst/>
          </a:prstGeom>
          <a:solidFill>
            <a:srgbClr val="FFFFFF"/>
          </a:solidFill>
          <a:ln w="12700">
            <a:solidFill>
              <a:srgbClr val="AAB7C4"/>
            </a:solidFill>
            <a:prstDash val="solid"/>
          </a:ln>
        </p:spPr>
        <p:txBody>
          <a:bodyPr/>
          <a:lstStyle/>
          <a:p>
            <a:endParaRPr lang="zh-CN" altLang="en-US"/>
          </a:p>
        </p:txBody>
      </p:sp>
      <p:sp>
        <p:nvSpPr>
          <p:cNvPr id="37" name="Text 10">
            <a:extLst>
              <a:ext uri="{FF2B5EF4-FFF2-40B4-BE49-F238E27FC236}">
                <a16:creationId xmlns:a16="http://schemas.microsoft.com/office/drawing/2014/main" id="{051D487E-4A0C-546C-29F0-1572AD6249CB}"/>
              </a:ext>
            </a:extLst>
          </p:cNvPr>
          <p:cNvSpPr/>
          <p:nvPr/>
        </p:nvSpPr>
        <p:spPr>
          <a:xfrm>
            <a:off x="2244852" y="2939701"/>
            <a:ext cx="868680" cy="576072"/>
          </a:xfrm>
          <a:prstGeom prst="rect">
            <a:avLst/>
          </a:prstGeom>
          <a:noFill/>
          <a:ln/>
        </p:spPr>
        <p:txBody>
          <a:bodyPr wrap="square" lIns="254" tIns="254" rIns="254" bIns="254" rtlCol="0" anchor="ctr"/>
          <a:lstStyle/>
          <a:p>
            <a:pPr marL="0" indent="0">
              <a:buNone/>
            </a:pPr>
            <a:r>
              <a:rPr lang="en-US" sz="1200" dirty="0"/>
              <a:t>ID   Type</a:t>
            </a:r>
          </a:p>
          <a:p>
            <a:r>
              <a:rPr lang="en-US" sz="1200" dirty="0"/>
              <a:t>T1   Normal</a:t>
            </a:r>
          </a:p>
          <a:p>
            <a:pPr marL="0" indent="0">
              <a:buNone/>
            </a:pPr>
            <a:r>
              <a:rPr lang="en-US" sz="1200" dirty="0"/>
              <a:t>TC1  Coop.</a:t>
            </a:r>
          </a:p>
        </p:txBody>
      </p:sp>
      <p:sp>
        <p:nvSpPr>
          <p:cNvPr id="39" name="Text 11">
            <a:extLst>
              <a:ext uri="{FF2B5EF4-FFF2-40B4-BE49-F238E27FC236}">
                <a16:creationId xmlns:a16="http://schemas.microsoft.com/office/drawing/2014/main" id="{C680D191-66B5-7D97-237A-D76258FF5D84}"/>
              </a:ext>
            </a:extLst>
          </p:cNvPr>
          <p:cNvSpPr/>
          <p:nvPr/>
        </p:nvSpPr>
        <p:spPr>
          <a:xfrm>
            <a:off x="2061972" y="3762661"/>
            <a:ext cx="1234440" cy="256032"/>
          </a:xfrm>
          <a:prstGeom prst="rect">
            <a:avLst/>
          </a:prstGeom>
          <a:noFill/>
          <a:ln/>
        </p:spPr>
        <p:txBody>
          <a:bodyPr wrap="square" lIns="0" tIns="0" rIns="0" bIns="0" rtlCol="0" anchor="ctr"/>
          <a:lstStyle/>
          <a:p>
            <a:pPr marL="0" indent="0" algn="ctr">
              <a:buNone/>
            </a:pPr>
            <a:r>
              <a:rPr lang="en-US" sz="1400" b="1" dirty="0">
                <a:solidFill>
                  <a:srgbClr val="263238"/>
                </a:solidFill>
              </a:rPr>
              <a:t>Target List</a:t>
            </a:r>
            <a:endParaRPr lang="en-US" sz="1400" dirty="0"/>
          </a:p>
        </p:txBody>
      </p:sp>
      <p:sp>
        <p:nvSpPr>
          <p:cNvPr id="41" name="Text 12">
            <a:extLst>
              <a:ext uri="{FF2B5EF4-FFF2-40B4-BE49-F238E27FC236}">
                <a16:creationId xmlns:a16="http://schemas.microsoft.com/office/drawing/2014/main" id="{BCA01572-A675-31A0-2BB3-8395F39A867A}"/>
              </a:ext>
            </a:extLst>
          </p:cNvPr>
          <p:cNvSpPr/>
          <p:nvPr/>
        </p:nvSpPr>
        <p:spPr>
          <a:xfrm>
            <a:off x="845820" y="4110133"/>
            <a:ext cx="2377440" cy="219456"/>
          </a:xfrm>
          <a:prstGeom prst="rect">
            <a:avLst/>
          </a:prstGeom>
          <a:noFill/>
          <a:ln/>
        </p:spPr>
        <p:txBody>
          <a:bodyPr wrap="square" lIns="0" tIns="0" rIns="0" bIns="0" rtlCol="0" anchor="ctr"/>
          <a:lstStyle/>
          <a:p>
            <a:pPr marL="0" indent="0" algn="ctr">
              <a:buNone/>
            </a:pPr>
            <a:r>
              <a:rPr lang="en-US" sz="1050" dirty="0">
                <a:solidFill>
                  <a:srgbClr val="64748B"/>
                </a:solidFill>
              </a:rPr>
              <a:t>Map + target information from Task 1</a:t>
            </a:r>
            <a:endParaRPr lang="en-US" sz="1050" dirty="0"/>
          </a:p>
        </p:txBody>
      </p:sp>
      <p:sp>
        <p:nvSpPr>
          <p:cNvPr id="43" name="Shape 38">
            <a:extLst>
              <a:ext uri="{FF2B5EF4-FFF2-40B4-BE49-F238E27FC236}">
                <a16:creationId xmlns:a16="http://schemas.microsoft.com/office/drawing/2014/main" id="{911D1636-92E5-E310-F36F-5885B1FD0130}"/>
              </a:ext>
            </a:extLst>
          </p:cNvPr>
          <p:cNvSpPr/>
          <p:nvPr/>
        </p:nvSpPr>
        <p:spPr>
          <a:xfrm>
            <a:off x="3703319" y="3113437"/>
            <a:ext cx="384048" cy="475488"/>
          </a:xfrm>
          <a:prstGeom prst="chevron">
            <a:avLst/>
          </a:prstGeom>
          <a:solidFill>
            <a:srgbClr val="2F6FB0"/>
          </a:solidFill>
          <a:ln w="12700">
            <a:solidFill>
              <a:srgbClr val="2F6FB0"/>
            </a:solidFill>
            <a:prstDash val="solid"/>
          </a:ln>
        </p:spPr>
        <p:txBody>
          <a:bodyPr/>
          <a:lstStyle/>
          <a:p>
            <a:endParaRPr lang="zh-CN" altLang="en-US"/>
          </a:p>
        </p:txBody>
      </p:sp>
      <p:sp>
        <p:nvSpPr>
          <p:cNvPr id="45" name="Shape 13">
            <a:extLst>
              <a:ext uri="{FF2B5EF4-FFF2-40B4-BE49-F238E27FC236}">
                <a16:creationId xmlns:a16="http://schemas.microsoft.com/office/drawing/2014/main" id="{B706DB9F-D102-4EA4-E360-681AE08F18A5}"/>
              </a:ext>
            </a:extLst>
          </p:cNvPr>
          <p:cNvSpPr/>
          <p:nvPr/>
        </p:nvSpPr>
        <p:spPr>
          <a:xfrm>
            <a:off x="4247386" y="2345341"/>
            <a:ext cx="3975864" cy="2171259"/>
          </a:xfrm>
          <a:prstGeom prst="roundRect">
            <a:avLst>
              <a:gd name="adj" fmla="val 2500"/>
            </a:avLst>
          </a:prstGeom>
          <a:solidFill>
            <a:srgbClr val="FFF1E4"/>
          </a:solidFill>
          <a:ln w="15240">
            <a:solidFill>
              <a:srgbClr val="F0C69A"/>
            </a:solidFill>
            <a:prstDash val="solid"/>
          </a:ln>
        </p:spPr>
        <p:txBody>
          <a:bodyPr/>
          <a:lstStyle/>
          <a:p>
            <a:endParaRPr lang="zh-CN" altLang="en-US"/>
          </a:p>
        </p:txBody>
      </p:sp>
      <p:sp>
        <p:nvSpPr>
          <p:cNvPr id="47" name="Text 14">
            <a:extLst>
              <a:ext uri="{FF2B5EF4-FFF2-40B4-BE49-F238E27FC236}">
                <a16:creationId xmlns:a16="http://schemas.microsoft.com/office/drawing/2014/main" id="{E8CD8497-5686-4299-67B9-C3335B0BBB0D}"/>
              </a:ext>
            </a:extLst>
          </p:cNvPr>
          <p:cNvSpPr/>
          <p:nvPr/>
        </p:nvSpPr>
        <p:spPr>
          <a:xfrm>
            <a:off x="4411978" y="2400205"/>
            <a:ext cx="3419856" cy="292608"/>
          </a:xfrm>
          <a:prstGeom prst="rect">
            <a:avLst/>
          </a:prstGeom>
          <a:noFill/>
          <a:ln/>
        </p:spPr>
        <p:txBody>
          <a:bodyPr wrap="square" lIns="0" tIns="0" rIns="0" bIns="0" rtlCol="0" anchor="ctr"/>
          <a:lstStyle/>
          <a:p>
            <a:pPr marL="0" indent="0">
              <a:buNone/>
            </a:pPr>
            <a:r>
              <a:rPr lang="en-US" sz="1600" b="1" dirty="0">
                <a:solidFill>
                  <a:srgbClr val="C97522"/>
                </a:solidFill>
              </a:rPr>
              <a:t>Edge Node</a:t>
            </a:r>
            <a:endParaRPr lang="en-US" sz="1600" dirty="0"/>
          </a:p>
        </p:txBody>
      </p:sp>
      <p:sp>
        <p:nvSpPr>
          <p:cNvPr id="79" name="Text 65">
            <a:extLst>
              <a:ext uri="{FF2B5EF4-FFF2-40B4-BE49-F238E27FC236}">
                <a16:creationId xmlns:a16="http://schemas.microsoft.com/office/drawing/2014/main" id="{B98FC86C-486C-9618-989B-4B71C538EBF5}"/>
              </a:ext>
            </a:extLst>
          </p:cNvPr>
          <p:cNvSpPr/>
          <p:nvPr/>
        </p:nvSpPr>
        <p:spPr>
          <a:xfrm>
            <a:off x="8143750" y="3817525"/>
            <a:ext cx="1417320" cy="201168"/>
          </a:xfrm>
          <a:prstGeom prst="rect">
            <a:avLst/>
          </a:prstGeom>
          <a:noFill/>
          <a:ln/>
        </p:spPr>
        <p:txBody>
          <a:bodyPr wrap="square" lIns="0" tIns="0" rIns="0" bIns="0" rtlCol="0" anchor="ctr"/>
          <a:lstStyle/>
          <a:p>
            <a:pPr marL="0" indent="0" algn="ctr">
              <a:buNone/>
            </a:pPr>
            <a:r>
              <a:rPr lang="en-US" sz="1400" b="1" dirty="0">
                <a:solidFill>
                  <a:srgbClr val="2F6FB0"/>
                </a:solidFill>
              </a:rPr>
              <a:t>Task assignments</a:t>
            </a:r>
            <a:endParaRPr lang="en-US" sz="1400" dirty="0"/>
          </a:p>
        </p:txBody>
      </p:sp>
      <p:sp>
        <p:nvSpPr>
          <p:cNvPr id="81" name="Text 67">
            <a:extLst>
              <a:ext uri="{FF2B5EF4-FFF2-40B4-BE49-F238E27FC236}">
                <a16:creationId xmlns:a16="http://schemas.microsoft.com/office/drawing/2014/main" id="{9F920C34-5441-9FF9-82F5-8DB2F8E8D9A0}"/>
              </a:ext>
            </a:extLst>
          </p:cNvPr>
          <p:cNvSpPr/>
          <p:nvPr/>
        </p:nvSpPr>
        <p:spPr>
          <a:xfrm>
            <a:off x="8143750" y="2803906"/>
            <a:ext cx="1417320" cy="201168"/>
          </a:xfrm>
          <a:prstGeom prst="rect">
            <a:avLst/>
          </a:prstGeom>
          <a:noFill/>
          <a:ln/>
        </p:spPr>
        <p:txBody>
          <a:bodyPr wrap="square" lIns="0" tIns="0" rIns="0" bIns="0" rtlCol="0" anchor="ctr"/>
          <a:lstStyle/>
          <a:p>
            <a:pPr marL="0" indent="0" algn="ctr">
              <a:buNone/>
            </a:pPr>
            <a:r>
              <a:rPr lang="en-US" sz="1400" b="1" dirty="0">
                <a:solidFill>
                  <a:srgbClr val="2F8B57"/>
                </a:solidFill>
              </a:rPr>
              <a:t>State / progress</a:t>
            </a:r>
            <a:endParaRPr lang="en-US" sz="1400" dirty="0"/>
          </a:p>
        </p:txBody>
      </p:sp>
      <p:sp>
        <p:nvSpPr>
          <p:cNvPr id="85" name="Text 6">
            <a:extLst>
              <a:ext uri="{FF2B5EF4-FFF2-40B4-BE49-F238E27FC236}">
                <a16:creationId xmlns:a16="http://schemas.microsoft.com/office/drawing/2014/main" id="{9E65A254-E2BB-8D7E-C2E3-4A143EB644D9}"/>
              </a:ext>
            </a:extLst>
          </p:cNvPr>
          <p:cNvSpPr/>
          <p:nvPr/>
        </p:nvSpPr>
        <p:spPr>
          <a:xfrm>
            <a:off x="4411978" y="2593118"/>
            <a:ext cx="3612135" cy="1923482"/>
          </a:xfrm>
          <a:prstGeom prst="rect">
            <a:avLst/>
          </a:prstGeom>
          <a:noFill/>
          <a:ln/>
        </p:spPr>
        <p:txBody>
          <a:bodyPr wrap="square" lIns="254" tIns="254" rIns="254" bIns="254" rtlCol="0" anchor="ctr">
            <a:noAutofit/>
          </a:bodyPr>
          <a:lstStyle/>
          <a:p>
            <a:pPr marL="285750" lvl="0" indent="-285750">
              <a:spcAft>
                <a:spcPts val="600"/>
              </a:spcAft>
              <a:buFont typeface="Wingdings" panose="05000000000000000000" pitchFamily="2" charset="2"/>
              <a:buChar char="l"/>
            </a:pPr>
            <a:r>
              <a:rPr lang="en-US" altLang="zh-CN" sz="1400" b="1" dirty="0"/>
              <a:t>Task planning </a:t>
            </a:r>
            <a:r>
              <a:rPr lang="en-US" altLang="zh-CN" sz="1400" dirty="0"/>
              <a:t>– What should be done next?</a:t>
            </a:r>
          </a:p>
          <a:p>
            <a:pPr marL="285750" lvl="0" indent="-285750">
              <a:spcAft>
                <a:spcPts val="600"/>
              </a:spcAft>
              <a:buFont typeface="Wingdings" panose="05000000000000000000" pitchFamily="2" charset="2"/>
              <a:buChar char="l"/>
            </a:pPr>
            <a:r>
              <a:rPr lang="en-US" altLang="zh-CN" sz="1400" b="1" dirty="0"/>
              <a:t>Robot allocation </a:t>
            </a:r>
            <a:r>
              <a:rPr lang="en-US" altLang="zh-CN" sz="1400" dirty="0"/>
              <a:t>– Which robot(s) should do it?</a:t>
            </a:r>
          </a:p>
          <a:p>
            <a:pPr marL="285750" lvl="0" indent="-285750">
              <a:spcAft>
                <a:spcPts val="600"/>
              </a:spcAft>
              <a:buFont typeface="Wingdings" panose="05000000000000000000" pitchFamily="2" charset="2"/>
              <a:buChar char="l"/>
            </a:pPr>
            <a:r>
              <a:rPr lang="en-US" altLang="zh-CN" sz="1400" b="1" dirty="0"/>
              <a:t>Coordination</a:t>
            </a:r>
            <a:r>
              <a:rPr lang="en-US" altLang="zh-CN" sz="1400" dirty="0"/>
              <a:t> – How should robots cooperate?</a:t>
            </a:r>
            <a:endParaRPr lang="zh-CN" altLang="zh-CN" sz="1400" dirty="0"/>
          </a:p>
          <a:p>
            <a:pPr marL="285750" lvl="0" indent="-285750">
              <a:spcAft>
                <a:spcPts val="600"/>
              </a:spcAft>
              <a:buFont typeface="Wingdings" panose="05000000000000000000" pitchFamily="2" charset="2"/>
              <a:buChar char="l"/>
            </a:pPr>
            <a:r>
              <a:rPr lang="en-US" altLang="zh-CN" sz="1400" b="1" dirty="0"/>
              <a:t>Global state </a:t>
            </a:r>
            <a:r>
              <a:rPr lang="en-US" altLang="zh-CN" sz="1400" dirty="0"/>
              <a:t>– Track progress and update plans</a:t>
            </a:r>
            <a:endParaRPr lang="zh-CN" altLang="zh-CN" sz="1400" dirty="0"/>
          </a:p>
        </p:txBody>
      </p:sp>
      <p:sp>
        <p:nvSpPr>
          <p:cNvPr id="87" name="Shape 40">
            <a:extLst>
              <a:ext uri="{FF2B5EF4-FFF2-40B4-BE49-F238E27FC236}">
                <a16:creationId xmlns:a16="http://schemas.microsoft.com/office/drawing/2014/main" id="{CD814CA4-A84D-5D89-9F93-ECB6EB64593C}"/>
              </a:ext>
            </a:extLst>
          </p:cNvPr>
          <p:cNvSpPr/>
          <p:nvPr/>
        </p:nvSpPr>
        <p:spPr>
          <a:xfrm>
            <a:off x="9481569" y="2175289"/>
            <a:ext cx="2110740" cy="2868010"/>
          </a:xfrm>
          <a:prstGeom prst="roundRect">
            <a:avLst>
              <a:gd name="adj" fmla="val 4118"/>
            </a:avLst>
          </a:prstGeom>
          <a:solidFill>
            <a:srgbClr val="F5FAF7"/>
          </a:solidFill>
          <a:ln w="15240">
            <a:solidFill>
              <a:srgbClr val="CFE5D6"/>
            </a:solidFill>
            <a:prstDash val="solid"/>
          </a:ln>
        </p:spPr>
        <p:txBody>
          <a:bodyPr/>
          <a:lstStyle/>
          <a:p>
            <a:endParaRPr lang="zh-CN" altLang="en-US"/>
          </a:p>
        </p:txBody>
      </p:sp>
      <p:sp>
        <p:nvSpPr>
          <p:cNvPr id="89" name="Text 41">
            <a:extLst>
              <a:ext uri="{FF2B5EF4-FFF2-40B4-BE49-F238E27FC236}">
                <a16:creationId xmlns:a16="http://schemas.microsoft.com/office/drawing/2014/main" id="{C030EAF7-DAF9-47FC-E338-9F649A62F036}"/>
              </a:ext>
            </a:extLst>
          </p:cNvPr>
          <p:cNvSpPr/>
          <p:nvPr/>
        </p:nvSpPr>
        <p:spPr>
          <a:xfrm>
            <a:off x="9568182" y="2272189"/>
            <a:ext cx="1576068" cy="256032"/>
          </a:xfrm>
          <a:prstGeom prst="rect">
            <a:avLst/>
          </a:prstGeom>
          <a:noFill/>
          <a:ln/>
        </p:spPr>
        <p:txBody>
          <a:bodyPr wrap="square" lIns="0" tIns="0" rIns="0" bIns="0" rtlCol="0" anchor="ctr"/>
          <a:lstStyle/>
          <a:p>
            <a:pPr marL="0" indent="0">
              <a:buNone/>
            </a:pPr>
            <a:r>
              <a:rPr lang="en-US" sz="1500" b="1" dirty="0">
                <a:solidFill>
                  <a:srgbClr val="2F8B57"/>
                </a:solidFill>
              </a:rPr>
              <a:t>Multiple Robots</a:t>
            </a:r>
            <a:endParaRPr lang="en-US" sz="1500" dirty="0"/>
          </a:p>
        </p:txBody>
      </p:sp>
      <p:pic>
        <p:nvPicPr>
          <p:cNvPr id="91" name="Picture 90">
            <a:extLst>
              <a:ext uri="{FF2B5EF4-FFF2-40B4-BE49-F238E27FC236}">
                <a16:creationId xmlns:a16="http://schemas.microsoft.com/office/drawing/2014/main" id="{D7B95B7A-47E7-08CC-38F7-17CB1CCC4FAD}"/>
              </a:ext>
            </a:extLst>
          </p:cNvPr>
          <p:cNvPicPr>
            <a:picLocks noChangeAspect="1"/>
          </p:cNvPicPr>
          <p:nvPr/>
        </p:nvPicPr>
        <p:blipFill>
          <a:blip r:embed="rId3"/>
          <a:stretch>
            <a:fillRect/>
          </a:stretch>
        </p:blipFill>
        <p:spPr>
          <a:xfrm>
            <a:off x="9933777" y="2828376"/>
            <a:ext cx="495325" cy="552478"/>
          </a:xfrm>
          <a:prstGeom prst="rect">
            <a:avLst/>
          </a:prstGeom>
        </p:spPr>
      </p:pic>
      <p:pic>
        <p:nvPicPr>
          <p:cNvPr id="93" name="Picture 92">
            <a:extLst>
              <a:ext uri="{FF2B5EF4-FFF2-40B4-BE49-F238E27FC236}">
                <a16:creationId xmlns:a16="http://schemas.microsoft.com/office/drawing/2014/main" id="{64DD72AB-823F-C00B-A054-6DB174D6C053}"/>
              </a:ext>
            </a:extLst>
          </p:cNvPr>
          <p:cNvPicPr>
            <a:picLocks noChangeAspect="1"/>
          </p:cNvPicPr>
          <p:nvPr/>
        </p:nvPicPr>
        <p:blipFill>
          <a:blip r:embed="rId4"/>
          <a:stretch>
            <a:fillRect/>
          </a:stretch>
        </p:blipFill>
        <p:spPr>
          <a:xfrm>
            <a:off x="10623523" y="2795510"/>
            <a:ext cx="520727" cy="596931"/>
          </a:xfrm>
          <a:prstGeom prst="rect">
            <a:avLst/>
          </a:prstGeom>
        </p:spPr>
      </p:pic>
      <p:sp>
        <p:nvSpPr>
          <p:cNvPr id="95" name="Text 6">
            <a:extLst>
              <a:ext uri="{FF2B5EF4-FFF2-40B4-BE49-F238E27FC236}">
                <a16:creationId xmlns:a16="http://schemas.microsoft.com/office/drawing/2014/main" id="{0752832A-BB71-348D-E545-D7200A15E924}"/>
              </a:ext>
            </a:extLst>
          </p:cNvPr>
          <p:cNvSpPr/>
          <p:nvPr/>
        </p:nvSpPr>
        <p:spPr>
          <a:xfrm>
            <a:off x="9492742" y="3949160"/>
            <a:ext cx="2127758" cy="940755"/>
          </a:xfrm>
          <a:prstGeom prst="rect">
            <a:avLst/>
          </a:prstGeom>
          <a:noFill/>
          <a:ln/>
        </p:spPr>
        <p:txBody>
          <a:bodyPr wrap="square" lIns="254" tIns="254" rIns="254" bIns="254" rtlCol="0" anchor="ctr">
            <a:noAutofit/>
          </a:bodyPr>
          <a:lstStyle/>
          <a:p>
            <a:pPr algn="ctr"/>
            <a:r>
              <a:rPr lang="en-US" altLang="zh-CN" sz="1400" b="1" dirty="0">
                <a:solidFill>
                  <a:srgbClr val="183B66"/>
                </a:solidFill>
              </a:rPr>
              <a:t>Autonomous Navigation &amp; Rescue Execution (path planning, motion control, obstacle avoidance)</a:t>
            </a:r>
            <a:endParaRPr lang="en-US" altLang="zh-CN" sz="1400" dirty="0"/>
          </a:p>
        </p:txBody>
      </p:sp>
      <p:pic>
        <p:nvPicPr>
          <p:cNvPr id="97" name="Picture 96">
            <a:extLst>
              <a:ext uri="{FF2B5EF4-FFF2-40B4-BE49-F238E27FC236}">
                <a16:creationId xmlns:a16="http://schemas.microsoft.com/office/drawing/2014/main" id="{42401568-3B68-10B4-13AA-78D5D0CBFE83}"/>
              </a:ext>
            </a:extLst>
          </p:cNvPr>
          <p:cNvPicPr>
            <a:picLocks noChangeAspect="1"/>
          </p:cNvPicPr>
          <p:nvPr/>
        </p:nvPicPr>
        <p:blipFill>
          <a:blip r:embed="rId4"/>
          <a:stretch>
            <a:fillRect/>
          </a:stretch>
        </p:blipFill>
        <p:spPr>
          <a:xfrm>
            <a:off x="9908375" y="3421762"/>
            <a:ext cx="520727" cy="596931"/>
          </a:xfrm>
          <a:prstGeom prst="rect">
            <a:avLst/>
          </a:prstGeom>
        </p:spPr>
      </p:pic>
      <p:pic>
        <p:nvPicPr>
          <p:cNvPr id="101" name="Picture 100">
            <a:extLst>
              <a:ext uri="{FF2B5EF4-FFF2-40B4-BE49-F238E27FC236}">
                <a16:creationId xmlns:a16="http://schemas.microsoft.com/office/drawing/2014/main" id="{40D4278B-E17D-7A7B-BDD5-5850FB7CDBDD}"/>
              </a:ext>
            </a:extLst>
          </p:cNvPr>
          <p:cNvPicPr>
            <a:picLocks noChangeAspect="1"/>
          </p:cNvPicPr>
          <p:nvPr/>
        </p:nvPicPr>
        <p:blipFill>
          <a:blip r:embed="rId3"/>
          <a:stretch>
            <a:fillRect/>
          </a:stretch>
        </p:blipFill>
        <p:spPr>
          <a:xfrm>
            <a:off x="10623523" y="3455306"/>
            <a:ext cx="495325" cy="552478"/>
          </a:xfrm>
          <a:prstGeom prst="rect">
            <a:avLst/>
          </a:prstGeom>
        </p:spPr>
      </p:pic>
      <p:sp>
        <p:nvSpPr>
          <p:cNvPr id="103" name="Shape 66">
            <a:extLst>
              <a:ext uri="{FF2B5EF4-FFF2-40B4-BE49-F238E27FC236}">
                <a16:creationId xmlns:a16="http://schemas.microsoft.com/office/drawing/2014/main" id="{8F593996-3895-0C25-B368-C0A9F7631FDC}"/>
              </a:ext>
            </a:extLst>
          </p:cNvPr>
          <p:cNvSpPr/>
          <p:nvPr/>
        </p:nvSpPr>
        <p:spPr>
          <a:xfrm rot="16200000">
            <a:off x="8665051" y="2814477"/>
            <a:ext cx="276098" cy="725935"/>
          </a:xfrm>
          <a:prstGeom prst="upArrow">
            <a:avLst/>
          </a:prstGeom>
          <a:solidFill>
            <a:srgbClr val="2F8B57"/>
          </a:solidFill>
          <a:ln w="12700">
            <a:solidFill>
              <a:srgbClr val="2F8B57"/>
            </a:solidFill>
            <a:prstDash val="solid"/>
          </a:ln>
        </p:spPr>
        <p:txBody>
          <a:bodyPr/>
          <a:lstStyle/>
          <a:p>
            <a:endParaRPr lang="zh-CN" altLang="en-US"/>
          </a:p>
        </p:txBody>
      </p:sp>
      <p:sp>
        <p:nvSpPr>
          <p:cNvPr id="105" name="Shape 64">
            <a:extLst>
              <a:ext uri="{FF2B5EF4-FFF2-40B4-BE49-F238E27FC236}">
                <a16:creationId xmlns:a16="http://schemas.microsoft.com/office/drawing/2014/main" id="{B3836EBE-533D-585E-3A90-7522C553F37C}"/>
              </a:ext>
            </a:extLst>
          </p:cNvPr>
          <p:cNvSpPr/>
          <p:nvPr/>
        </p:nvSpPr>
        <p:spPr>
          <a:xfrm rot="16200000">
            <a:off x="8696344" y="3269708"/>
            <a:ext cx="312132" cy="727966"/>
          </a:xfrm>
          <a:prstGeom prst="downArrow">
            <a:avLst>
              <a:gd name="adj1" fmla="val 50000"/>
              <a:gd name="adj2" fmla="val 50000"/>
            </a:avLst>
          </a:prstGeom>
          <a:solidFill>
            <a:srgbClr val="FFF1E4"/>
          </a:solidFill>
          <a:ln w="12700">
            <a:solidFill>
              <a:srgbClr val="2F6FB0"/>
            </a:solidFill>
            <a:prstDash val="solid"/>
          </a:ln>
        </p:spPr>
        <p:txBody>
          <a:bodyPr/>
          <a:lstStyle/>
          <a:p>
            <a:endParaRPr lang="zh-CN" altLang="en-US"/>
          </a:p>
        </p:txBody>
      </p:sp>
      <p:sp>
        <p:nvSpPr>
          <p:cNvPr id="5" name="Text 6">
            <a:extLst>
              <a:ext uri="{FF2B5EF4-FFF2-40B4-BE49-F238E27FC236}">
                <a16:creationId xmlns:a16="http://schemas.microsoft.com/office/drawing/2014/main" id="{29F04CE9-29F3-8248-118B-13E2068F49BE}"/>
              </a:ext>
            </a:extLst>
          </p:cNvPr>
          <p:cNvSpPr/>
          <p:nvPr/>
        </p:nvSpPr>
        <p:spPr>
          <a:xfrm>
            <a:off x="571501" y="5087400"/>
            <a:ext cx="4888585" cy="1275300"/>
          </a:xfrm>
          <a:prstGeom prst="rect">
            <a:avLst/>
          </a:prstGeom>
          <a:noFill/>
          <a:ln/>
        </p:spPr>
        <p:txBody>
          <a:bodyPr wrap="square" lIns="254" tIns="254" rIns="254" bIns="254" rtlCol="0" anchor="ctr">
            <a:noAutofit/>
          </a:bodyPr>
          <a:lstStyle/>
          <a:p>
            <a:pPr marL="285750" lvl="0" indent="-285750">
              <a:spcAft>
                <a:spcPts val="600"/>
              </a:spcAft>
              <a:buFont typeface="Wingdings" panose="05000000000000000000" pitchFamily="2" charset="2"/>
              <a:buChar char="l"/>
            </a:pPr>
            <a:r>
              <a:rPr lang="zh-CN" altLang="zh-CN" sz="1600" dirty="0"/>
              <a:t>Design the robot–edge communication interface</a:t>
            </a:r>
            <a:endParaRPr lang="en-US" altLang="zh-CN" sz="1600" dirty="0"/>
          </a:p>
          <a:p>
            <a:pPr marL="285750" lvl="0" indent="-285750">
              <a:spcAft>
                <a:spcPts val="600"/>
              </a:spcAft>
              <a:buFont typeface="Wingdings" panose="05000000000000000000" pitchFamily="2" charset="2"/>
              <a:buChar char="l"/>
            </a:pPr>
            <a:r>
              <a:rPr lang="zh-CN" altLang="zh-CN" sz="1600" dirty="0"/>
              <a:t>Build global robot and target state management</a:t>
            </a:r>
            <a:endParaRPr lang="en-US" altLang="zh-CN" sz="1600" dirty="0"/>
          </a:p>
          <a:p>
            <a:pPr marL="285750" lvl="0" indent="-285750">
              <a:spcAft>
                <a:spcPts val="600"/>
              </a:spcAft>
              <a:buFont typeface="Wingdings" panose="05000000000000000000" pitchFamily="2" charset="2"/>
              <a:buChar char="l"/>
            </a:pPr>
            <a:r>
              <a:rPr lang="zh-CN" altLang="zh-CN" sz="1600" dirty="0"/>
              <a:t>Develop task planning and robot allocation</a:t>
            </a:r>
            <a:endParaRPr lang="en-US" altLang="zh-CN" sz="1600" dirty="0"/>
          </a:p>
        </p:txBody>
      </p:sp>
      <p:sp>
        <p:nvSpPr>
          <p:cNvPr id="7" name="TextBox 6">
            <a:extLst>
              <a:ext uri="{FF2B5EF4-FFF2-40B4-BE49-F238E27FC236}">
                <a16:creationId xmlns:a16="http://schemas.microsoft.com/office/drawing/2014/main" id="{E3A19271-07E9-2A24-F00D-E0926F61E597}"/>
              </a:ext>
            </a:extLst>
          </p:cNvPr>
          <p:cNvSpPr txBox="1"/>
          <p:nvPr/>
        </p:nvSpPr>
        <p:spPr>
          <a:xfrm>
            <a:off x="502920" y="4713637"/>
            <a:ext cx="1623059" cy="369332"/>
          </a:xfrm>
          <a:prstGeom prst="rect">
            <a:avLst/>
          </a:prstGeom>
          <a:noFill/>
        </p:spPr>
        <p:txBody>
          <a:bodyPr wrap="square" rtlCol="0">
            <a:spAutoFit/>
          </a:bodyPr>
          <a:lstStyle/>
          <a:p>
            <a:r>
              <a:rPr lang="en-US" altLang="zh-CN" b="1" dirty="0"/>
              <a:t>Teams develop</a:t>
            </a:r>
            <a:endParaRPr lang="zh-CN" altLang="en-US" b="1" dirty="0"/>
          </a:p>
        </p:txBody>
      </p:sp>
      <p:sp>
        <p:nvSpPr>
          <p:cNvPr id="8" name="Text 6">
            <a:extLst>
              <a:ext uri="{FF2B5EF4-FFF2-40B4-BE49-F238E27FC236}">
                <a16:creationId xmlns:a16="http://schemas.microsoft.com/office/drawing/2014/main" id="{6234EC91-ACF7-0C3F-B362-4A5109A33DE4}"/>
              </a:ext>
            </a:extLst>
          </p:cNvPr>
          <p:cNvSpPr/>
          <p:nvPr/>
        </p:nvSpPr>
        <p:spPr>
          <a:xfrm>
            <a:off x="5614112" y="4872254"/>
            <a:ext cx="5218275" cy="1656136"/>
          </a:xfrm>
          <a:prstGeom prst="rect">
            <a:avLst/>
          </a:prstGeom>
          <a:noFill/>
          <a:ln/>
        </p:spPr>
        <p:txBody>
          <a:bodyPr wrap="square" lIns="254" tIns="254" rIns="254" bIns="254" rtlCol="0" anchor="ctr">
            <a:noAutofit/>
          </a:bodyPr>
          <a:lstStyle/>
          <a:p>
            <a:pPr marL="285750" lvl="0" indent="-285750">
              <a:spcAft>
                <a:spcPts val="600"/>
              </a:spcAft>
              <a:buFont typeface="Wingdings" panose="05000000000000000000" pitchFamily="2" charset="2"/>
              <a:buChar char="l"/>
            </a:pPr>
            <a:r>
              <a:rPr lang="zh-CN" altLang="zh-CN" sz="1600" dirty="0"/>
              <a:t>Implement multi-robot coordination</a:t>
            </a:r>
            <a:endParaRPr lang="en-US" altLang="zh-CN" sz="1600" dirty="0"/>
          </a:p>
          <a:p>
            <a:pPr marL="285750" lvl="0" indent="-285750">
              <a:spcAft>
                <a:spcPts val="600"/>
              </a:spcAft>
              <a:buFont typeface="Wingdings" panose="05000000000000000000" pitchFamily="2" charset="2"/>
              <a:buChar char="l"/>
            </a:pPr>
            <a:r>
              <a:rPr lang="zh-CN" altLang="zh-CN" sz="1600" dirty="0"/>
              <a:t>Integrate task assignments with autonomous navigation and rescue execution</a:t>
            </a:r>
            <a:endParaRPr lang="en-US" altLang="zh-CN" sz="1600" dirty="0"/>
          </a:p>
        </p:txBody>
      </p:sp>
    </p:spTree>
    <p:extLst>
      <p:ext uri="{BB962C8B-B14F-4D97-AF65-F5344CB8AC3E}">
        <p14:creationId xmlns:p14="http://schemas.microsoft.com/office/powerpoint/2010/main" val="1174363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3AF625E9-E73D-43F4-897C-227C39DFEA68}"/>
              </a:ext>
            </a:extLst>
          </p:cNvPr>
          <p:cNvSpPr>
            <a:spLocks noGrp="1"/>
          </p:cNvSpPr>
          <p:nvPr/>
        </p:nvSpPr>
        <p:spPr>
          <a:xfrm>
            <a:off x="571500" y="409575"/>
            <a:ext cx="10953750" cy="762000"/>
          </a:xfrm>
          <a:prstGeom prst="rect">
            <a:avLst/>
          </a:prstGeom>
          <a:noFill/>
          <a:ln w="9525">
            <a:noFill/>
          </a:ln>
        </p:spPr>
        <p:txBody>
          <a:bodyPr>
            <a:noAutofit/>
          </a:bodyPr>
          <a:lstStyle/>
          <a:p>
            <a:pPr>
              <a:defRPr sz="3000" b="1">
                <a:solidFill>
                  <a:srgbClr val="12283B"/>
                </a:solidFill>
                <a:latin typeface="Arial"/>
                <a:ea typeface="Arial"/>
                <a:cs typeface="Arial"/>
              </a:defRPr>
            </a:pPr>
            <a:r>
              <a:rPr sz="3000" b="1">
                <a:solidFill>
                  <a:srgbClr val="12283B"/>
                </a:solidFill>
                <a:latin typeface="Arial"/>
                <a:ea typeface="Arial"/>
                <a:cs typeface="Arial"/>
              </a:rPr>
              <a:t>Normal and cooperative rescue</a:t>
            </a:r>
          </a:p>
        </p:txBody>
      </p:sp>
      <p:sp>
        <p:nvSpPr>
          <p:cNvPr id="3" name="Rectangle 2">
            <a:extLst>
              <a:ext uri="{FF2B5EF4-FFF2-40B4-BE49-F238E27FC236}">
                <a16:creationId xmlns:a16="http://schemas.microsoft.com/office/drawing/2014/main" id="{6A071D6D-0DAC-43BF-A92F-81E1ECBA0185}"/>
              </a:ext>
            </a:extLst>
          </p:cNvPr>
          <p:cNvSpPr>
            <a:spLocks noGrp="1"/>
          </p:cNvSpPr>
          <p:nvPr/>
        </p:nvSpPr>
        <p:spPr>
          <a:xfrm>
            <a:off x="11144250" y="6362700"/>
            <a:ext cx="571500" cy="238125"/>
          </a:xfrm>
          <a:prstGeom prst="rect">
            <a:avLst/>
          </a:prstGeom>
          <a:noFill/>
          <a:ln w="9525">
            <a:noFill/>
          </a:ln>
        </p:spPr>
        <p:txBody>
          <a:bodyPr>
            <a:noAutofit/>
          </a:bodyPr>
          <a:lstStyle/>
          <a:p>
            <a:pPr>
              <a:defRPr sz="1125" b="0">
                <a:solidFill>
                  <a:srgbClr val="4E6473"/>
                </a:solidFill>
                <a:latin typeface="Arial"/>
                <a:ea typeface="Arial"/>
                <a:cs typeface="Arial"/>
              </a:defRPr>
            </a:pPr>
            <a:r>
              <a:rPr sz="1125" b="0">
                <a:solidFill>
                  <a:srgbClr val="4E6473"/>
                </a:solidFill>
                <a:latin typeface="Arial"/>
                <a:ea typeface="Arial"/>
                <a:cs typeface="Arial"/>
              </a:rPr>
              <a:t>09</a:t>
            </a:r>
          </a:p>
        </p:txBody>
      </p:sp>
      <p:sp>
        <p:nvSpPr>
          <p:cNvPr id="4" name="Rectangle 3">
            <a:extLst>
              <a:ext uri="{FF2B5EF4-FFF2-40B4-BE49-F238E27FC236}">
                <a16:creationId xmlns:a16="http://schemas.microsoft.com/office/drawing/2014/main" id="{FF78D125-142A-4370-9362-C858E4E57CA2}"/>
              </a:ext>
            </a:extLst>
          </p:cNvPr>
          <p:cNvSpPr>
            <a:spLocks noGrp="1"/>
          </p:cNvSpPr>
          <p:nvPr/>
        </p:nvSpPr>
        <p:spPr>
          <a:xfrm>
            <a:off x="3924301" y="1109662"/>
            <a:ext cx="2314575" cy="476250"/>
          </a:xfrm>
          <a:prstGeom prst="rect">
            <a:avLst/>
          </a:prstGeom>
          <a:noFill/>
          <a:ln w="9525">
            <a:noFill/>
          </a:ln>
        </p:spPr>
        <p:txBody>
          <a:bodyPr>
            <a:noAutofit/>
          </a:bodyPr>
          <a:lstStyle/>
          <a:p>
            <a:pPr>
              <a:defRPr sz="2400" b="1">
                <a:solidFill>
                  <a:srgbClr val="12283B"/>
                </a:solidFill>
                <a:latin typeface="Arial"/>
                <a:ea typeface="Arial"/>
                <a:cs typeface="Arial"/>
              </a:defRPr>
            </a:pPr>
            <a:r>
              <a:rPr sz="2000" b="1" dirty="0">
                <a:solidFill>
                  <a:srgbClr val="12283B"/>
                </a:solidFill>
                <a:latin typeface="Arial"/>
                <a:ea typeface="Arial"/>
                <a:cs typeface="Arial"/>
              </a:rPr>
              <a:t>Normal Target</a:t>
            </a:r>
          </a:p>
        </p:txBody>
      </p:sp>
      <p:sp>
        <p:nvSpPr>
          <p:cNvPr id="5" name="Rectangle 4">
            <a:extLst>
              <a:ext uri="{FF2B5EF4-FFF2-40B4-BE49-F238E27FC236}">
                <a16:creationId xmlns:a16="http://schemas.microsoft.com/office/drawing/2014/main" id="{20E1F863-8CBF-4087-B499-3CEE0D64A153}"/>
              </a:ext>
            </a:extLst>
          </p:cNvPr>
          <p:cNvSpPr>
            <a:spLocks noGrp="1"/>
          </p:cNvSpPr>
          <p:nvPr/>
        </p:nvSpPr>
        <p:spPr>
          <a:xfrm>
            <a:off x="6910387" y="1128713"/>
            <a:ext cx="2752725" cy="476250"/>
          </a:xfrm>
          <a:prstGeom prst="rect">
            <a:avLst/>
          </a:prstGeom>
          <a:noFill/>
          <a:ln w="9525">
            <a:noFill/>
          </a:ln>
        </p:spPr>
        <p:txBody>
          <a:bodyPr>
            <a:noAutofit/>
          </a:bodyPr>
          <a:lstStyle/>
          <a:p>
            <a:pPr>
              <a:defRPr sz="2400" b="1">
                <a:solidFill>
                  <a:srgbClr val="12283B"/>
                </a:solidFill>
                <a:latin typeface="Arial"/>
                <a:ea typeface="Arial"/>
                <a:cs typeface="Arial"/>
              </a:defRPr>
            </a:pPr>
            <a:r>
              <a:rPr sz="2000" b="1" dirty="0">
                <a:solidFill>
                  <a:srgbClr val="12283B"/>
                </a:solidFill>
                <a:latin typeface="Arial"/>
                <a:ea typeface="Arial"/>
                <a:cs typeface="Arial"/>
              </a:rPr>
              <a:t>Cooperative Target</a:t>
            </a:r>
          </a:p>
        </p:txBody>
      </p:sp>
      <p:sp>
        <p:nvSpPr>
          <p:cNvPr id="6" name="Rectangle 5">
            <a:extLst>
              <a:ext uri="{FF2B5EF4-FFF2-40B4-BE49-F238E27FC236}">
                <a16:creationId xmlns:a16="http://schemas.microsoft.com/office/drawing/2014/main" id="{D12485EB-2DD9-4CCA-BB3F-44F8E60F9062}"/>
              </a:ext>
            </a:extLst>
          </p:cNvPr>
          <p:cNvSpPr>
            <a:spLocks noGrp="1"/>
          </p:cNvSpPr>
          <p:nvPr/>
        </p:nvSpPr>
        <p:spPr>
          <a:xfrm>
            <a:off x="4584701" y="1647825"/>
            <a:ext cx="514350" cy="514350"/>
          </a:xfrm>
          <a:prstGeom prst="rect">
            <a:avLst/>
          </a:prstGeom>
          <a:solidFill>
            <a:srgbClr val="12283B"/>
          </a:solidFill>
          <a:ln w="9525">
            <a:solidFill>
              <a:srgbClr val="12283B"/>
            </a:solidFill>
          </a:ln>
        </p:spPr>
        <p:txBody>
          <a:bodyPr/>
          <a:lstStyle/>
          <a:p>
            <a:endParaRPr lang="zh-CN" altLang="en-US"/>
          </a:p>
        </p:txBody>
      </p:sp>
      <p:sp>
        <p:nvSpPr>
          <p:cNvPr id="7" name="Rectangle 6">
            <a:extLst>
              <a:ext uri="{FF2B5EF4-FFF2-40B4-BE49-F238E27FC236}">
                <a16:creationId xmlns:a16="http://schemas.microsoft.com/office/drawing/2014/main" id="{13C9A306-292C-4C5C-994E-591EEF142774}"/>
              </a:ext>
            </a:extLst>
          </p:cNvPr>
          <p:cNvSpPr>
            <a:spLocks noGrp="1"/>
          </p:cNvSpPr>
          <p:nvPr/>
        </p:nvSpPr>
        <p:spPr>
          <a:xfrm>
            <a:off x="4651376" y="1714500"/>
            <a:ext cx="381000" cy="381000"/>
          </a:xfrm>
          <a:prstGeom prst="rect">
            <a:avLst/>
          </a:prstGeom>
          <a:solidFill>
            <a:srgbClr val="FFFFFF"/>
          </a:solidFill>
          <a:ln w="9525">
            <a:solidFill>
              <a:srgbClr val="FFFFFF"/>
            </a:solidFill>
          </a:ln>
        </p:spPr>
        <p:txBody>
          <a:bodyPr/>
          <a:lstStyle/>
          <a:p>
            <a:endParaRPr lang="zh-CN" altLang="en-US"/>
          </a:p>
        </p:txBody>
      </p:sp>
      <p:sp>
        <p:nvSpPr>
          <p:cNvPr id="8" name="Rectangle 7">
            <a:extLst>
              <a:ext uri="{FF2B5EF4-FFF2-40B4-BE49-F238E27FC236}">
                <a16:creationId xmlns:a16="http://schemas.microsoft.com/office/drawing/2014/main" id="{B3707083-2AFA-423F-A6FE-9CD9E3F87050}"/>
              </a:ext>
            </a:extLst>
          </p:cNvPr>
          <p:cNvSpPr>
            <a:spLocks noGrp="1"/>
          </p:cNvSpPr>
          <p:nvPr/>
        </p:nvSpPr>
        <p:spPr>
          <a:xfrm>
            <a:off x="4679951" y="1743075"/>
            <a:ext cx="95250" cy="95250"/>
          </a:xfrm>
          <a:prstGeom prst="rect">
            <a:avLst/>
          </a:prstGeom>
          <a:solidFill>
            <a:srgbClr val="12283B"/>
          </a:solidFill>
          <a:ln w="9525">
            <a:solidFill>
              <a:srgbClr val="12283B"/>
            </a:solidFill>
          </a:ln>
        </p:spPr>
        <p:txBody>
          <a:bodyPr/>
          <a:lstStyle/>
          <a:p>
            <a:endParaRPr lang="zh-CN" altLang="en-US"/>
          </a:p>
        </p:txBody>
      </p:sp>
      <p:sp>
        <p:nvSpPr>
          <p:cNvPr id="9" name="Rectangle 8">
            <a:extLst>
              <a:ext uri="{FF2B5EF4-FFF2-40B4-BE49-F238E27FC236}">
                <a16:creationId xmlns:a16="http://schemas.microsoft.com/office/drawing/2014/main" id="{EE5628BC-4EE5-4805-9C71-FE29C8CFC748}"/>
              </a:ext>
            </a:extLst>
          </p:cNvPr>
          <p:cNvSpPr>
            <a:spLocks noGrp="1"/>
          </p:cNvSpPr>
          <p:nvPr/>
        </p:nvSpPr>
        <p:spPr>
          <a:xfrm>
            <a:off x="4784726" y="1743075"/>
            <a:ext cx="95250" cy="95250"/>
          </a:xfrm>
          <a:prstGeom prst="rect">
            <a:avLst/>
          </a:prstGeom>
          <a:solidFill>
            <a:srgbClr val="12283B"/>
          </a:solidFill>
          <a:ln w="9525">
            <a:solidFill>
              <a:srgbClr val="12283B"/>
            </a:solidFill>
          </a:ln>
        </p:spPr>
        <p:txBody>
          <a:bodyPr/>
          <a:lstStyle/>
          <a:p>
            <a:endParaRPr lang="zh-CN" altLang="en-US"/>
          </a:p>
        </p:txBody>
      </p:sp>
      <p:sp>
        <p:nvSpPr>
          <p:cNvPr id="10" name="Rectangle 9">
            <a:extLst>
              <a:ext uri="{FF2B5EF4-FFF2-40B4-BE49-F238E27FC236}">
                <a16:creationId xmlns:a16="http://schemas.microsoft.com/office/drawing/2014/main" id="{D35F5F88-E524-4960-A68F-E9B29F5DF5A4}"/>
              </a:ext>
            </a:extLst>
          </p:cNvPr>
          <p:cNvSpPr>
            <a:spLocks noGrp="1"/>
          </p:cNvSpPr>
          <p:nvPr/>
        </p:nvSpPr>
        <p:spPr>
          <a:xfrm>
            <a:off x="4889501" y="1847850"/>
            <a:ext cx="95250" cy="95250"/>
          </a:xfrm>
          <a:prstGeom prst="rect">
            <a:avLst/>
          </a:prstGeom>
          <a:solidFill>
            <a:srgbClr val="12283B"/>
          </a:solidFill>
          <a:ln w="9525">
            <a:solidFill>
              <a:srgbClr val="12283B"/>
            </a:solidFill>
          </a:ln>
        </p:spPr>
        <p:txBody>
          <a:bodyPr/>
          <a:lstStyle/>
          <a:p>
            <a:endParaRPr lang="zh-CN" altLang="en-US"/>
          </a:p>
        </p:txBody>
      </p:sp>
      <p:sp>
        <p:nvSpPr>
          <p:cNvPr id="11" name="Rectangle 10">
            <a:extLst>
              <a:ext uri="{FF2B5EF4-FFF2-40B4-BE49-F238E27FC236}">
                <a16:creationId xmlns:a16="http://schemas.microsoft.com/office/drawing/2014/main" id="{EEEA58B2-D3D5-46FE-AA7B-AD58301597DA}"/>
              </a:ext>
            </a:extLst>
          </p:cNvPr>
          <p:cNvSpPr>
            <a:spLocks noGrp="1"/>
          </p:cNvSpPr>
          <p:nvPr/>
        </p:nvSpPr>
        <p:spPr>
          <a:xfrm>
            <a:off x="4679951" y="1952625"/>
            <a:ext cx="95250" cy="95250"/>
          </a:xfrm>
          <a:prstGeom prst="rect">
            <a:avLst/>
          </a:prstGeom>
          <a:solidFill>
            <a:srgbClr val="12283B"/>
          </a:solidFill>
          <a:ln w="9525">
            <a:solidFill>
              <a:srgbClr val="12283B"/>
            </a:solidFill>
          </a:ln>
        </p:spPr>
        <p:txBody>
          <a:bodyPr/>
          <a:lstStyle/>
          <a:p>
            <a:endParaRPr lang="zh-CN" altLang="en-US"/>
          </a:p>
        </p:txBody>
      </p:sp>
      <p:sp>
        <p:nvSpPr>
          <p:cNvPr id="12" name="Rectangle 11">
            <a:extLst>
              <a:ext uri="{FF2B5EF4-FFF2-40B4-BE49-F238E27FC236}">
                <a16:creationId xmlns:a16="http://schemas.microsoft.com/office/drawing/2014/main" id="{4A7113B1-E506-4B64-944A-80004A1FA845}"/>
              </a:ext>
            </a:extLst>
          </p:cNvPr>
          <p:cNvSpPr>
            <a:spLocks noGrp="1"/>
          </p:cNvSpPr>
          <p:nvPr/>
        </p:nvSpPr>
        <p:spPr>
          <a:xfrm>
            <a:off x="4889501" y="1952625"/>
            <a:ext cx="95250" cy="95250"/>
          </a:xfrm>
          <a:prstGeom prst="rect">
            <a:avLst/>
          </a:prstGeom>
          <a:solidFill>
            <a:srgbClr val="12283B"/>
          </a:solidFill>
          <a:ln w="9525">
            <a:solidFill>
              <a:srgbClr val="12283B"/>
            </a:solidFill>
          </a:ln>
        </p:spPr>
        <p:txBody>
          <a:bodyPr/>
          <a:lstStyle/>
          <a:p>
            <a:endParaRPr lang="zh-CN" altLang="en-US"/>
          </a:p>
        </p:txBody>
      </p:sp>
      <p:sp>
        <p:nvSpPr>
          <p:cNvPr id="13" name="Rectangle 12">
            <a:extLst>
              <a:ext uri="{FF2B5EF4-FFF2-40B4-BE49-F238E27FC236}">
                <a16:creationId xmlns:a16="http://schemas.microsoft.com/office/drawing/2014/main" id="{1398BC0C-30BD-4E64-A202-868DDEF573E1}"/>
              </a:ext>
            </a:extLst>
          </p:cNvPr>
          <p:cNvSpPr>
            <a:spLocks noGrp="1"/>
          </p:cNvSpPr>
          <p:nvPr/>
        </p:nvSpPr>
        <p:spPr>
          <a:xfrm>
            <a:off x="7981950" y="1647825"/>
            <a:ext cx="514350" cy="514350"/>
          </a:xfrm>
          <a:prstGeom prst="rect">
            <a:avLst/>
          </a:prstGeom>
          <a:solidFill>
            <a:srgbClr val="12283B"/>
          </a:solidFill>
          <a:ln w="9525">
            <a:solidFill>
              <a:srgbClr val="12283B"/>
            </a:solidFill>
          </a:ln>
        </p:spPr>
        <p:txBody>
          <a:bodyPr/>
          <a:lstStyle/>
          <a:p>
            <a:endParaRPr lang="zh-CN" altLang="en-US"/>
          </a:p>
        </p:txBody>
      </p:sp>
      <p:sp>
        <p:nvSpPr>
          <p:cNvPr id="14" name="Rectangle 13">
            <a:extLst>
              <a:ext uri="{FF2B5EF4-FFF2-40B4-BE49-F238E27FC236}">
                <a16:creationId xmlns:a16="http://schemas.microsoft.com/office/drawing/2014/main" id="{F8BEE912-207D-4D34-9D51-CC092E02EB05}"/>
              </a:ext>
            </a:extLst>
          </p:cNvPr>
          <p:cNvSpPr>
            <a:spLocks noGrp="1"/>
          </p:cNvSpPr>
          <p:nvPr/>
        </p:nvSpPr>
        <p:spPr>
          <a:xfrm>
            <a:off x="8048625" y="1714500"/>
            <a:ext cx="381000" cy="381000"/>
          </a:xfrm>
          <a:prstGeom prst="rect">
            <a:avLst/>
          </a:prstGeom>
          <a:solidFill>
            <a:srgbClr val="FFFFFF"/>
          </a:solidFill>
          <a:ln w="9525">
            <a:solidFill>
              <a:srgbClr val="FFFFFF"/>
            </a:solidFill>
          </a:ln>
        </p:spPr>
        <p:txBody>
          <a:bodyPr/>
          <a:lstStyle/>
          <a:p>
            <a:endParaRPr lang="zh-CN" altLang="en-US"/>
          </a:p>
        </p:txBody>
      </p:sp>
      <p:sp>
        <p:nvSpPr>
          <p:cNvPr id="15" name="Rectangle 14">
            <a:extLst>
              <a:ext uri="{FF2B5EF4-FFF2-40B4-BE49-F238E27FC236}">
                <a16:creationId xmlns:a16="http://schemas.microsoft.com/office/drawing/2014/main" id="{FA288D3C-6C76-4A04-942A-4859F8652BD0}"/>
              </a:ext>
            </a:extLst>
          </p:cNvPr>
          <p:cNvSpPr>
            <a:spLocks noGrp="1"/>
          </p:cNvSpPr>
          <p:nvPr/>
        </p:nvSpPr>
        <p:spPr>
          <a:xfrm>
            <a:off x="8077200" y="1743075"/>
            <a:ext cx="95250" cy="95250"/>
          </a:xfrm>
          <a:prstGeom prst="rect">
            <a:avLst/>
          </a:prstGeom>
          <a:solidFill>
            <a:srgbClr val="12283B"/>
          </a:solidFill>
          <a:ln w="9525">
            <a:solidFill>
              <a:srgbClr val="12283B"/>
            </a:solidFill>
          </a:ln>
        </p:spPr>
        <p:txBody>
          <a:bodyPr/>
          <a:lstStyle/>
          <a:p>
            <a:endParaRPr lang="zh-CN" altLang="en-US"/>
          </a:p>
        </p:txBody>
      </p:sp>
      <p:sp>
        <p:nvSpPr>
          <p:cNvPr id="16" name="Rectangle 15">
            <a:extLst>
              <a:ext uri="{FF2B5EF4-FFF2-40B4-BE49-F238E27FC236}">
                <a16:creationId xmlns:a16="http://schemas.microsoft.com/office/drawing/2014/main" id="{5B708BF1-8AD1-4AE1-A970-50BAFAC3146A}"/>
              </a:ext>
            </a:extLst>
          </p:cNvPr>
          <p:cNvSpPr>
            <a:spLocks noGrp="1"/>
          </p:cNvSpPr>
          <p:nvPr/>
        </p:nvSpPr>
        <p:spPr>
          <a:xfrm>
            <a:off x="8181975" y="1743075"/>
            <a:ext cx="95250" cy="95250"/>
          </a:xfrm>
          <a:prstGeom prst="rect">
            <a:avLst/>
          </a:prstGeom>
          <a:solidFill>
            <a:srgbClr val="12283B"/>
          </a:solidFill>
          <a:ln w="9525">
            <a:solidFill>
              <a:srgbClr val="12283B"/>
            </a:solidFill>
          </a:ln>
        </p:spPr>
        <p:txBody>
          <a:bodyPr/>
          <a:lstStyle/>
          <a:p>
            <a:endParaRPr lang="zh-CN" altLang="en-US"/>
          </a:p>
        </p:txBody>
      </p:sp>
      <p:sp>
        <p:nvSpPr>
          <p:cNvPr id="17" name="Rectangle 16">
            <a:extLst>
              <a:ext uri="{FF2B5EF4-FFF2-40B4-BE49-F238E27FC236}">
                <a16:creationId xmlns:a16="http://schemas.microsoft.com/office/drawing/2014/main" id="{53A1A6F0-B3B0-44FD-8983-B5AE9931F217}"/>
              </a:ext>
            </a:extLst>
          </p:cNvPr>
          <p:cNvSpPr>
            <a:spLocks noGrp="1"/>
          </p:cNvSpPr>
          <p:nvPr/>
        </p:nvSpPr>
        <p:spPr>
          <a:xfrm>
            <a:off x="8286750" y="1847850"/>
            <a:ext cx="95250" cy="95250"/>
          </a:xfrm>
          <a:prstGeom prst="rect">
            <a:avLst/>
          </a:prstGeom>
          <a:solidFill>
            <a:srgbClr val="12283B"/>
          </a:solidFill>
          <a:ln w="9525">
            <a:solidFill>
              <a:srgbClr val="12283B"/>
            </a:solidFill>
          </a:ln>
        </p:spPr>
        <p:txBody>
          <a:bodyPr/>
          <a:lstStyle/>
          <a:p>
            <a:endParaRPr lang="zh-CN" altLang="en-US"/>
          </a:p>
        </p:txBody>
      </p:sp>
      <p:sp>
        <p:nvSpPr>
          <p:cNvPr id="18" name="Rectangle 17">
            <a:extLst>
              <a:ext uri="{FF2B5EF4-FFF2-40B4-BE49-F238E27FC236}">
                <a16:creationId xmlns:a16="http://schemas.microsoft.com/office/drawing/2014/main" id="{E2D02C24-59E0-4680-968B-0D3812FC7AB0}"/>
              </a:ext>
            </a:extLst>
          </p:cNvPr>
          <p:cNvSpPr>
            <a:spLocks noGrp="1"/>
          </p:cNvSpPr>
          <p:nvPr/>
        </p:nvSpPr>
        <p:spPr>
          <a:xfrm>
            <a:off x="8077200" y="1952625"/>
            <a:ext cx="95250" cy="95250"/>
          </a:xfrm>
          <a:prstGeom prst="rect">
            <a:avLst/>
          </a:prstGeom>
          <a:solidFill>
            <a:srgbClr val="12283B"/>
          </a:solidFill>
          <a:ln w="9525">
            <a:solidFill>
              <a:srgbClr val="12283B"/>
            </a:solidFill>
          </a:ln>
        </p:spPr>
        <p:txBody>
          <a:bodyPr/>
          <a:lstStyle/>
          <a:p>
            <a:endParaRPr lang="zh-CN" altLang="en-US"/>
          </a:p>
        </p:txBody>
      </p:sp>
      <p:sp>
        <p:nvSpPr>
          <p:cNvPr id="19" name="Rectangle 18">
            <a:extLst>
              <a:ext uri="{FF2B5EF4-FFF2-40B4-BE49-F238E27FC236}">
                <a16:creationId xmlns:a16="http://schemas.microsoft.com/office/drawing/2014/main" id="{CFDC0DD8-9AFA-4275-BF40-37CAD355834A}"/>
              </a:ext>
            </a:extLst>
          </p:cNvPr>
          <p:cNvSpPr>
            <a:spLocks noGrp="1"/>
          </p:cNvSpPr>
          <p:nvPr/>
        </p:nvSpPr>
        <p:spPr>
          <a:xfrm>
            <a:off x="8286750" y="1952625"/>
            <a:ext cx="95250" cy="95250"/>
          </a:xfrm>
          <a:prstGeom prst="rect">
            <a:avLst/>
          </a:prstGeom>
          <a:solidFill>
            <a:srgbClr val="12283B"/>
          </a:solidFill>
          <a:ln w="9525">
            <a:solidFill>
              <a:srgbClr val="12283B"/>
            </a:solidFill>
          </a:ln>
        </p:spPr>
        <p:txBody>
          <a:bodyPr/>
          <a:lstStyle/>
          <a:p>
            <a:endParaRPr lang="zh-CN" altLang="en-US"/>
          </a:p>
        </p:txBody>
      </p:sp>
      <p:sp>
        <p:nvSpPr>
          <p:cNvPr id="20" name="Oval 19">
            <a:extLst>
              <a:ext uri="{FF2B5EF4-FFF2-40B4-BE49-F238E27FC236}">
                <a16:creationId xmlns:a16="http://schemas.microsoft.com/office/drawing/2014/main" id="{DF8B7F93-9B9F-4A59-9B3E-58295E159BB5}"/>
              </a:ext>
            </a:extLst>
          </p:cNvPr>
          <p:cNvSpPr>
            <a:spLocks noGrp="1"/>
          </p:cNvSpPr>
          <p:nvPr/>
        </p:nvSpPr>
        <p:spPr>
          <a:xfrm>
            <a:off x="4240213" y="2171700"/>
            <a:ext cx="1219200" cy="1047750"/>
          </a:xfrm>
          <a:prstGeom prst="ellipse">
            <a:avLst/>
          </a:prstGeom>
          <a:solidFill>
            <a:schemeClr val="tx2">
              <a:lumMod val="10000"/>
              <a:lumOff val="90000"/>
            </a:schemeClr>
          </a:solidFill>
          <a:ln w="9525">
            <a:solidFill>
              <a:srgbClr val="007F82"/>
            </a:solidFill>
            <a:prstDash val="dash"/>
          </a:ln>
        </p:spPr>
        <p:txBody>
          <a:bodyPr/>
          <a:lstStyle/>
          <a:p>
            <a:endParaRPr lang="zh-CN" altLang="en-US"/>
          </a:p>
        </p:txBody>
      </p:sp>
      <p:sp>
        <p:nvSpPr>
          <p:cNvPr id="21" name="Rectangle 20">
            <a:extLst>
              <a:ext uri="{FF2B5EF4-FFF2-40B4-BE49-F238E27FC236}">
                <a16:creationId xmlns:a16="http://schemas.microsoft.com/office/drawing/2014/main" id="{96E8AA3B-0D75-4991-8F49-18DCA69CEAAB}"/>
              </a:ext>
            </a:extLst>
          </p:cNvPr>
          <p:cNvSpPr>
            <a:spLocks noGrp="1"/>
          </p:cNvSpPr>
          <p:nvPr/>
        </p:nvSpPr>
        <p:spPr>
          <a:xfrm>
            <a:off x="4192588" y="3314700"/>
            <a:ext cx="1428750" cy="304800"/>
          </a:xfrm>
          <a:prstGeom prst="rect">
            <a:avLst/>
          </a:prstGeom>
          <a:noFill/>
          <a:ln w="9525">
            <a:noFill/>
          </a:ln>
        </p:spPr>
        <p:txBody>
          <a:bodyPr>
            <a:noAutofit/>
          </a:bodyPr>
          <a:lstStyle/>
          <a:p>
            <a:pPr>
              <a:defRPr sz="1500" b="1">
                <a:solidFill>
                  <a:srgbClr val="007F82"/>
                </a:solidFill>
                <a:latin typeface="Arial"/>
                <a:ea typeface="Arial"/>
                <a:cs typeface="Arial"/>
              </a:defRPr>
            </a:pPr>
            <a:r>
              <a:rPr sz="1500" b="1">
                <a:solidFill>
                  <a:srgbClr val="007F82"/>
                </a:solidFill>
                <a:latin typeface="Arial"/>
                <a:ea typeface="Arial"/>
                <a:cs typeface="Arial"/>
              </a:rPr>
              <a:t>Rescue Zone</a:t>
            </a:r>
          </a:p>
        </p:txBody>
      </p:sp>
      <p:sp>
        <p:nvSpPr>
          <p:cNvPr id="26" name="Rectangle 25">
            <a:extLst>
              <a:ext uri="{FF2B5EF4-FFF2-40B4-BE49-F238E27FC236}">
                <a16:creationId xmlns:a16="http://schemas.microsoft.com/office/drawing/2014/main" id="{51F7959D-DB4B-41FE-A201-01FE81178DC8}"/>
              </a:ext>
            </a:extLst>
          </p:cNvPr>
          <p:cNvSpPr>
            <a:spLocks noGrp="1"/>
          </p:cNvSpPr>
          <p:nvPr/>
        </p:nvSpPr>
        <p:spPr>
          <a:xfrm>
            <a:off x="4459288" y="2990850"/>
            <a:ext cx="952500" cy="285750"/>
          </a:xfrm>
          <a:prstGeom prst="rect">
            <a:avLst/>
          </a:prstGeom>
          <a:noFill/>
          <a:ln w="9525">
            <a:noFill/>
          </a:ln>
        </p:spPr>
        <p:txBody>
          <a:bodyPr>
            <a:noAutofit/>
          </a:bodyPr>
          <a:lstStyle/>
          <a:p>
            <a:endParaRPr/>
          </a:p>
        </p:txBody>
      </p:sp>
      <p:sp>
        <p:nvSpPr>
          <p:cNvPr id="27" name="Oval 26">
            <a:extLst>
              <a:ext uri="{FF2B5EF4-FFF2-40B4-BE49-F238E27FC236}">
                <a16:creationId xmlns:a16="http://schemas.microsoft.com/office/drawing/2014/main" id="{05037616-3B6E-4A2C-8556-4765AE9252FE}"/>
              </a:ext>
            </a:extLst>
          </p:cNvPr>
          <p:cNvSpPr>
            <a:spLocks noGrp="1"/>
          </p:cNvSpPr>
          <p:nvPr/>
        </p:nvSpPr>
        <p:spPr>
          <a:xfrm>
            <a:off x="6977064" y="2228850"/>
            <a:ext cx="1219200" cy="1047750"/>
          </a:xfrm>
          <a:prstGeom prst="ellipse">
            <a:avLst/>
          </a:prstGeom>
          <a:solidFill>
            <a:srgbClr val="FFF1E4"/>
          </a:solidFill>
          <a:ln w="9525">
            <a:solidFill>
              <a:srgbClr val="007F82"/>
            </a:solidFill>
          </a:ln>
        </p:spPr>
        <p:txBody>
          <a:bodyPr/>
          <a:lstStyle/>
          <a:p>
            <a:endParaRPr lang="zh-CN" altLang="en-US"/>
          </a:p>
        </p:txBody>
      </p:sp>
      <p:sp>
        <p:nvSpPr>
          <p:cNvPr id="28" name="Rectangle 27">
            <a:extLst>
              <a:ext uri="{FF2B5EF4-FFF2-40B4-BE49-F238E27FC236}">
                <a16:creationId xmlns:a16="http://schemas.microsoft.com/office/drawing/2014/main" id="{AF2B9D7E-55B3-4CFE-AA7F-9D9004A9FCF5}"/>
              </a:ext>
            </a:extLst>
          </p:cNvPr>
          <p:cNvSpPr>
            <a:spLocks noGrp="1"/>
          </p:cNvSpPr>
          <p:nvPr/>
        </p:nvSpPr>
        <p:spPr>
          <a:xfrm>
            <a:off x="7131053" y="3361167"/>
            <a:ext cx="1428750" cy="304800"/>
          </a:xfrm>
          <a:prstGeom prst="rect">
            <a:avLst/>
          </a:prstGeom>
          <a:noFill/>
          <a:ln w="9525">
            <a:noFill/>
          </a:ln>
        </p:spPr>
        <p:txBody>
          <a:bodyPr>
            <a:noAutofit/>
          </a:bodyPr>
          <a:lstStyle/>
          <a:p>
            <a:pPr>
              <a:defRPr sz="1500" b="1">
                <a:solidFill>
                  <a:srgbClr val="007F82"/>
                </a:solidFill>
                <a:latin typeface="Arial"/>
                <a:ea typeface="Arial"/>
                <a:cs typeface="Arial"/>
              </a:defRPr>
            </a:pPr>
            <a:r>
              <a:rPr sz="1500" b="1">
                <a:solidFill>
                  <a:srgbClr val="007F82"/>
                </a:solidFill>
                <a:latin typeface="Arial"/>
                <a:ea typeface="Arial"/>
                <a:cs typeface="Arial"/>
              </a:rPr>
              <a:t>Zone A</a:t>
            </a:r>
          </a:p>
        </p:txBody>
      </p:sp>
      <p:sp>
        <p:nvSpPr>
          <p:cNvPr id="29" name="Oval 28">
            <a:extLst>
              <a:ext uri="{FF2B5EF4-FFF2-40B4-BE49-F238E27FC236}">
                <a16:creationId xmlns:a16="http://schemas.microsoft.com/office/drawing/2014/main" id="{6D037371-DD3F-43B2-91BA-82DC8CB2FE1E}"/>
              </a:ext>
            </a:extLst>
          </p:cNvPr>
          <p:cNvSpPr>
            <a:spLocks noGrp="1"/>
          </p:cNvSpPr>
          <p:nvPr/>
        </p:nvSpPr>
        <p:spPr>
          <a:xfrm>
            <a:off x="8210551" y="2266950"/>
            <a:ext cx="1219200" cy="1047750"/>
          </a:xfrm>
          <a:prstGeom prst="ellipse">
            <a:avLst/>
          </a:prstGeom>
          <a:solidFill>
            <a:srgbClr val="FFF1E4"/>
          </a:solidFill>
          <a:ln w="9525">
            <a:solidFill>
              <a:srgbClr val="007F82"/>
            </a:solidFill>
          </a:ln>
        </p:spPr>
        <p:txBody>
          <a:bodyPr/>
          <a:lstStyle/>
          <a:p>
            <a:endParaRPr lang="zh-CN" altLang="en-US"/>
          </a:p>
        </p:txBody>
      </p:sp>
      <p:sp>
        <p:nvSpPr>
          <p:cNvPr id="30" name="Rectangle 29">
            <a:extLst>
              <a:ext uri="{FF2B5EF4-FFF2-40B4-BE49-F238E27FC236}">
                <a16:creationId xmlns:a16="http://schemas.microsoft.com/office/drawing/2014/main" id="{13BE6059-CAD6-46A7-8738-89A410537FBC}"/>
              </a:ext>
            </a:extLst>
          </p:cNvPr>
          <p:cNvSpPr>
            <a:spLocks noGrp="1"/>
          </p:cNvSpPr>
          <p:nvPr/>
        </p:nvSpPr>
        <p:spPr>
          <a:xfrm>
            <a:off x="8429625" y="3352800"/>
            <a:ext cx="1428750" cy="304800"/>
          </a:xfrm>
          <a:prstGeom prst="rect">
            <a:avLst/>
          </a:prstGeom>
          <a:noFill/>
          <a:ln w="9525">
            <a:noFill/>
          </a:ln>
        </p:spPr>
        <p:txBody>
          <a:bodyPr>
            <a:noAutofit/>
          </a:bodyPr>
          <a:lstStyle/>
          <a:p>
            <a:pPr>
              <a:defRPr sz="1500" b="1">
                <a:solidFill>
                  <a:srgbClr val="007F82"/>
                </a:solidFill>
                <a:latin typeface="Arial"/>
                <a:ea typeface="Arial"/>
                <a:cs typeface="Arial"/>
              </a:defRPr>
            </a:pPr>
            <a:r>
              <a:rPr sz="1500" b="1">
                <a:solidFill>
                  <a:srgbClr val="007F82"/>
                </a:solidFill>
                <a:latin typeface="Arial"/>
                <a:ea typeface="Arial"/>
                <a:cs typeface="Arial"/>
              </a:rPr>
              <a:t>Zone B</a:t>
            </a:r>
          </a:p>
        </p:txBody>
      </p:sp>
      <p:sp>
        <p:nvSpPr>
          <p:cNvPr id="35" name="Rectangle 34">
            <a:extLst>
              <a:ext uri="{FF2B5EF4-FFF2-40B4-BE49-F238E27FC236}">
                <a16:creationId xmlns:a16="http://schemas.microsoft.com/office/drawing/2014/main" id="{EF9714D1-D55C-43ED-A7E3-9D2CC6E94E30}"/>
              </a:ext>
            </a:extLst>
          </p:cNvPr>
          <p:cNvSpPr>
            <a:spLocks noGrp="1"/>
          </p:cNvSpPr>
          <p:nvPr/>
        </p:nvSpPr>
        <p:spPr>
          <a:xfrm>
            <a:off x="7196139" y="3048000"/>
            <a:ext cx="952500" cy="285750"/>
          </a:xfrm>
          <a:prstGeom prst="rect">
            <a:avLst/>
          </a:prstGeom>
          <a:noFill/>
          <a:ln w="9525">
            <a:noFill/>
          </a:ln>
        </p:spPr>
        <p:txBody>
          <a:bodyPr>
            <a:noAutofit/>
          </a:bodyPr>
          <a:lstStyle/>
          <a:p>
            <a:endParaRPr/>
          </a:p>
        </p:txBody>
      </p:sp>
      <p:sp>
        <p:nvSpPr>
          <p:cNvPr id="40" name="Rectangle 39">
            <a:extLst>
              <a:ext uri="{FF2B5EF4-FFF2-40B4-BE49-F238E27FC236}">
                <a16:creationId xmlns:a16="http://schemas.microsoft.com/office/drawing/2014/main" id="{FF8F5D2B-C07D-4D3F-B701-F12C8151D0EA}"/>
              </a:ext>
            </a:extLst>
          </p:cNvPr>
          <p:cNvSpPr>
            <a:spLocks noGrp="1"/>
          </p:cNvSpPr>
          <p:nvPr/>
        </p:nvSpPr>
        <p:spPr>
          <a:xfrm>
            <a:off x="8429626" y="3086100"/>
            <a:ext cx="952500" cy="285750"/>
          </a:xfrm>
          <a:prstGeom prst="rect">
            <a:avLst/>
          </a:prstGeom>
          <a:noFill/>
          <a:ln w="9525">
            <a:noFill/>
          </a:ln>
        </p:spPr>
        <p:txBody>
          <a:bodyPr>
            <a:noAutofit/>
          </a:bodyPr>
          <a:lstStyle/>
          <a:p>
            <a:endParaRPr/>
          </a:p>
        </p:txBody>
      </p:sp>
      <p:sp>
        <p:nvSpPr>
          <p:cNvPr id="41" name="Rectangle 40">
            <a:extLst>
              <a:ext uri="{FF2B5EF4-FFF2-40B4-BE49-F238E27FC236}">
                <a16:creationId xmlns:a16="http://schemas.microsoft.com/office/drawing/2014/main" id="{CD67E847-9416-4F86-BA9A-653ED4AFECBF}"/>
              </a:ext>
            </a:extLst>
          </p:cNvPr>
          <p:cNvSpPr>
            <a:spLocks noGrp="1"/>
          </p:cNvSpPr>
          <p:nvPr/>
        </p:nvSpPr>
        <p:spPr>
          <a:xfrm>
            <a:off x="4164648" y="3657600"/>
            <a:ext cx="2108200" cy="766762"/>
          </a:xfrm>
          <a:prstGeom prst="rect">
            <a:avLst/>
          </a:prstGeom>
          <a:noFill/>
          <a:ln w="9525">
            <a:noFill/>
          </a:ln>
        </p:spPr>
        <p:txBody>
          <a:bodyPr>
            <a:noAutofit/>
          </a:bodyPr>
          <a:lstStyle/>
          <a:p>
            <a:pPr>
              <a:defRPr sz="2175" b="1">
                <a:solidFill>
                  <a:srgbClr val="007F82"/>
                </a:solidFill>
                <a:latin typeface="Arial"/>
                <a:ea typeface="Arial"/>
                <a:cs typeface="Arial"/>
              </a:defRPr>
            </a:pPr>
            <a:r>
              <a:rPr sz="1600" b="1" dirty="0">
                <a:solidFill>
                  <a:schemeClr val="tx1">
                    <a:lumMod val="95000"/>
                    <a:lumOff val="5000"/>
                  </a:schemeClr>
                </a:solidFill>
                <a:latin typeface="Arial"/>
                <a:ea typeface="Arial"/>
                <a:cs typeface="Arial"/>
              </a:rPr>
              <a:t>1 robot</a:t>
            </a:r>
          </a:p>
          <a:p>
            <a:pPr>
              <a:defRPr sz="2175" b="1">
                <a:solidFill>
                  <a:srgbClr val="007F82"/>
                </a:solidFill>
                <a:latin typeface="Arial"/>
                <a:ea typeface="Arial"/>
                <a:cs typeface="Arial"/>
              </a:defRPr>
            </a:pPr>
            <a:r>
              <a:rPr sz="1600" b="1" dirty="0">
                <a:solidFill>
                  <a:schemeClr val="tx1">
                    <a:lumMod val="95000"/>
                    <a:lumOff val="5000"/>
                  </a:schemeClr>
                </a:solidFill>
                <a:latin typeface="Arial"/>
                <a:ea typeface="Arial"/>
                <a:cs typeface="Arial"/>
              </a:rPr>
              <a:t>Continuous dwell</a:t>
            </a:r>
          </a:p>
        </p:txBody>
      </p:sp>
      <p:sp>
        <p:nvSpPr>
          <p:cNvPr id="42" name="Rectangle 41">
            <a:extLst>
              <a:ext uri="{FF2B5EF4-FFF2-40B4-BE49-F238E27FC236}">
                <a16:creationId xmlns:a16="http://schemas.microsoft.com/office/drawing/2014/main" id="{3F5C0F0F-622B-4AAD-9FD9-204AE925CB79}"/>
              </a:ext>
            </a:extLst>
          </p:cNvPr>
          <p:cNvSpPr>
            <a:spLocks noGrp="1"/>
          </p:cNvSpPr>
          <p:nvPr/>
        </p:nvSpPr>
        <p:spPr>
          <a:xfrm>
            <a:off x="7131053" y="3672317"/>
            <a:ext cx="3340100" cy="679450"/>
          </a:xfrm>
          <a:prstGeom prst="rect">
            <a:avLst/>
          </a:prstGeom>
          <a:noFill/>
          <a:ln w="9525">
            <a:noFill/>
          </a:ln>
        </p:spPr>
        <p:txBody>
          <a:bodyPr>
            <a:noAutofit/>
          </a:bodyPr>
          <a:lstStyle/>
          <a:p>
            <a:pPr>
              <a:defRPr sz="2175" b="1">
                <a:solidFill>
                  <a:srgbClr val="007F82"/>
                </a:solidFill>
                <a:latin typeface="Arial"/>
                <a:ea typeface="Arial"/>
                <a:cs typeface="Arial"/>
              </a:defRPr>
            </a:pPr>
            <a:r>
              <a:rPr sz="1600" b="1" dirty="0">
                <a:solidFill>
                  <a:schemeClr val="tx1">
                    <a:lumMod val="95000"/>
                    <a:lumOff val="5000"/>
                  </a:schemeClr>
                </a:solidFill>
                <a:latin typeface="Arial"/>
                <a:ea typeface="Arial"/>
                <a:cs typeface="Arial"/>
              </a:rPr>
              <a:t>2 different robots</a:t>
            </a:r>
          </a:p>
          <a:p>
            <a:pPr>
              <a:defRPr sz="2175" b="1">
                <a:solidFill>
                  <a:srgbClr val="007F82"/>
                </a:solidFill>
                <a:latin typeface="Arial"/>
                <a:ea typeface="Arial"/>
                <a:cs typeface="Arial"/>
              </a:defRPr>
            </a:pPr>
            <a:r>
              <a:rPr sz="1600" b="1" dirty="0">
                <a:solidFill>
                  <a:schemeClr val="tx1">
                    <a:lumMod val="95000"/>
                    <a:lumOff val="5000"/>
                  </a:schemeClr>
                </a:solidFill>
                <a:latin typeface="Arial"/>
                <a:ea typeface="Arial"/>
                <a:cs typeface="Arial"/>
              </a:rPr>
              <a:t>Simultaneous continuous dwell</a:t>
            </a:r>
          </a:p>
        </p:txBody>
      </p:sp>
      <p:sp>
        <p:nvSpPr>
          <p:cNvPr id="46" name="Shape 2">
            <a:extLst>
              <a:ext uri="{FF2B5EF4-FFF2-40B4-BE49-F238E27FC236}">
                <a16:creationId xmlns:a16="http://schemas.microsoft.com/office/drawing/2014/main" id="{C964A02F-187A-01ED-624E-F5C05F965D51}"/>
              </a:ext>
            </a:extLst>
          </p:cNvPr>
          <p:cNvSpPr/>
          <p:nvPr/>
        </p:nvSpPr>
        <p:spPr>
          <a:xfrm>
            <a:off x="502920" y="1033272"/>
            <a:ext cx="11155680" cy="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48" name="Picture 47">
            <a:extLst>
              <a:ext uri="{FF2B5EF4-FFF2-40B4-BE49-F238E27FC236}">
                <a16:creationId xmlns:a16="http://schemas.microsoft.com/office/drawing/2014/main" id="{C3AB3C2C-575D-0447-C399-DFE35E18E5F4}"/>
              </a:ext>
            </a:extLst>
          </p:cNvPr>
          <p:cNvPicPr>
            <a:picLocks/>
          </p:cNvPicPr>
          <p:nvPr/>
        </p:nvPicPr>
        <p:blipFill>
          <a:blip r:embed="rId3"/>
          <a:srcRect l="11062" t="9522" r="29209"/>
          <a:stretch>
            <a:fillRect/>
          </a:stretch>
        </p:blipFill>
        <p:spPr>
          <a:xfrm>
            <a:off x="521810" y="1459341"/>
            <a:ext cx="2678114" cy="2472467"/>
          </a:xfrm>
          <a:prstGeom prst="rect">
            <a:avLst/>
          </a:prstGeom>
        </p:spPr>
      </p:pic>
      <p:pic>
        <p:nvPicPr>
          <p:cNvPr id="50" name="Picture 49">
            <a:extLst>
              <a:ext uri="{FF2B5EF4-FFF2-40B4-BE49-F238E27FC236}">
                <a16:creationId xmlns:a16="http://schemas.microsoft.com/office/drawing/2014/main" id="{2827528C-2E3B-0B81-C69A-D75F3A3212A4}"/>
              </a:ext>
            </a:extLst>
          </p:cNvPr>
          <p:cNvPicPr>
            <a:picLocks noChangeAspect="1"/>
          </p:cNvPicPr>
          <p:nvPr/>
        </p:nvPicPr>
        <p:blipFill>
          <a:blip r:embed="rId4"/>
          <a:stretch>
            <a:fillRect/>
          </a:stretch>
        </p:blipFill>
        <p:spPr>
          <a:xfrm>
            <a:off x="4602138" y="2381222"/>
            <a:ext cx="495325" cy="552478"/>
          </a:xfrm>
          <a:prstGeom prst="rect">
            <a:avLst/>
          </a:prstGeom>
        </p:spPr>
      </p:pic>
      <p:pic>
        <p:nvPicPr>
          <p:cNvPr id="52" name="Picture 51">
            <a:extLst>
              <a:ext uri="{FF2B5EF4-FFF2-40B4-BE49-F238E27FC236}">
                <a16:creationId xmlns:a16="http://schemas.microsoft.com/office/drawing/2014/main" id="{C097B0C3-B9D7-C477-9993-98CCB30AB951}"/>
              </a:ext>
            </a:extLst>
          </p:cNvPr>
          <p:cNvPicPr>
            <a:picLocks noChangeAspect="1"/>
          </p:cNvPicPr>
          <p:nvPr/>
        </p:nvPicPr>
        <p:blipFill>
          <a:blip r:embed="rId4"/>
          <a:stretch>
            <a:fillRect/>
          </a:stretch>
        </p:blipFill>
        <p:spPr>
          <a:xfrm>
            <a:off x="7339001" y="2495508"/>
            <a:ext cx="495325" cy="552478"/>
          </a:xfrm>
          <a:prstGeom prst="rect">
            <a:avLst/>
          </a:prstGeom>
        </p:spPr>
      </p:pic>
      <p:pic>
        <p:nvPicPr>
          <p:cNvPr id="54" name="Picture 53">
            <a:extLst>
              <a:ext uri="{FF2B5EF4-FFF2-40B4-BE49-F238E27FC236}">
                <a16:creationId xmlns:a16="http://schemas.microsoft.com/office/drawing/2014/main" id="{FFB2A1A4-F475-2370-5AED-2E70ADE2E234}"/>
              </a:ext>
            </a:extLst>
          </p:cNvPr>
          <p:cNvPicPr>
            <a:picLocks noChangeAspect="1"/>
          </p:cNvPicPr>
          <p:nvPr/>
        </p:nvPicPr>
        <p:blipFill>
          <a:blip r:embed="rId5"/>
          <a:stretch>
            <a:fillRect/>
          </a:stretch>
        </p:blipFill>
        <p:spPr>
          <a:xfrm>
            <a:off x="8559787" y="2470119"/>
            <a:ext cx="520727" cy="596931"/>
          </a:xfrm>
          <a:prstGeom prst="rect">
            <a:avLst/>
          </a:prstGeom>
        </p:spPr>
      </p:pic>
      <p:sp>
        <p:nvSpPr>
          <p:cNvPr id="56" name="Text 6">
            <a:extLst>
              <a:ext uri="{FF2B5EF4-FFF2-40B4-BE49-F238E27FC236}">
                <a16:creationId xmlns:a16="http://schemas.microsoft.com/office/drawing/2014/main" id="{C8F11E56-9423-204F-5D25-DA6F1B0F8493}"/>
              </a:ext>
            </a:extLst>
          </p:cNvPr>
          <p:cNvSpPr/>
          <p:nvPr/>
        </p:nvSpPr>
        <p:spPr>
          <a:xfrm>
            <a:off x="521810" y="4302092"/>
            <a:ext cx="9899558" cy="2298733"/>
          </a:xfrm>
          <a:prstGeom prst="rect">
            <a:avLst/>
          </a:prstGeom>
          <a:noFill/>
          <a:ln/>
        </p:spPr>
        <p:txBody>
          <a:bodyPr wrap="square" lIns="254" tIns="254" rIns="254" bIns="254" rtlCol="0" anchor="ctr">
            <a:noAutofit/>
          </a:bodyPr>
          <a:lstStyle/>
          <a:p>
            <a:pPr marL="285750" lvl="0" indent="-285750">
              <a:spcAft>
                <a:spcPts val="600"/>
              </a:spcAft>
              <a:buFont typeface="Wingdings" panose="05000000000000000000" pitchFamily="2" charset="2"/>
              <a:buChar char="l"/>
            </a:pPr>
            <a:r>
              <a:rPr lang="en-US" altLang="zh-CN" sz="1600" dirty="0"/>
              <a:t>Rescue zone position is determined from the marker pose using unified and publicly specified geometric rules (TBD) </a:t>
            </a:r>
            <a:endParaRPr lang="zh-CN" altLang="zh-CN" sz="1600" dirty="0"/>
          </a:p>
          <a:p>
            <a:pPr marL="285750" lvl="0" indent="-285750">
              <a:spcAft>
                <a:spcPts val="600"/>
              </a:spcAft>
              <a:buFont typeface="Wingdings" panose="05000000000000000000" pitchFamily="2" charset="2"/>
              <a:buChar char="l"/>
            </a:pPr>
            <a:r>
              <a:rPr lang="en-US" altLang="zh-CN" sz="1600" dirty="0"/>
              <a:t>Task 2A is also time-limited and ends when one of the following conditions occurs: (1) The competition time limit is reached; (2) All valid rescue targets have been successfully completed; (3) The referee terminates the run due to safety, equipment failure, or another necessary reason. </a:t>
            </a:r>
          </a:p>
          <a:p>
            <a:pPr marL="285750" lvl="0" indent="-285750">
              <a:spcAft>
                <a:spcPts val="600"/>
              </a:spcAft>
              <a:buFont typeface="Wingdings" panose="05000000000000000000" pitchFamily="2" charset="2"/>
              <a:buChar char="l"/>
            </a:pPr>
            <a:r>
              <a:rPr lang="en-US" altLang="zh-CN" sz="1600" dirty="0"/>
              <a:t>After Task 2A results have been verified, the organizers will reposition the robots to predefined Task 2B starting positions. The map, target list, and other environment information obtained previously are retained. </a:t>
            </a:r>
          </a:p>
          <a:p>
            <a:pPr lvl="0" indent="360000">
              <a:spcAft>
                <a:spcPts val="600"/>
              </a:spcAft>
            </a:pPr>
            <a:endParaRPr lang="en-US" altLang="zh-CN" sz="1600" dirty="0"/>
          </a:p>
        </p:txBody>
      </p:sp>
      <p:sp>
        <p:nvSpPr>
          <p:cNvPr id="22" name="Rectangle 21">
            <a:extLst>
              <a:ext uri="{FF2B5EF4-FFF2-40B4-BE49-F238E27FC236}">
                <a16:creationId xmlns:a16="http://schemas.microsoft.com/office/drawing/2014/main" id="{415F5498-7549-6B2A-B3CC-3578D43AA5E8}"/>
              </a:ext>
            </a:extLst>
          </p:cNvPr>
          <p:cNvSpPr/>
          <p:nvPr/>
        </p:nvSpPr>
        <p:spPr>
          <a:xfrm>
            <a:off x="2387211" y="2699824"/>
            <a:ext cx="648684" cy="1480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92671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B6ABBA98-3622-49BB-AB63-CF0D107E1D94}"/>
              </a:ext>
            </a:extLst>
          </p:cNvPr>
          <p:cNvSpPr>
            <a:spLocks noGrp="1"/>
          </p:cNvSpPr>
          <p:nvPr/>
        </p:nvSpPr>
        <p:spPr>
          <a:xfrm>
            <a:off x="571500" y="409575"/>
            <a:ext cx="10953750" cy="762000"/>
          </a:xfrm>
          <a:prstGeom prst="rect">
            <a:avLst/>
          </a:prstGeom>
          <a:noFill/>
          <a:ln w="9525">
            <a:noFill/>
          </a:ln>
        </p:spPr>
        <p:txBody>
          <a:bodyPr>
            <a:noAutofit/>
          </a:bodyPr>
          <a:lstStyle/>
          <a:p>
            <a:pPr>
              <a:defRPr sz="3000" b="1">
                <a:solidFill>
                  <a:srgbClr val="12283B"/>
                </a:solidFill>
                <a:latin typeface="Arial"/>
                <a:ea typeface="Arial"/>
                <a:cs typeface="Arial"/>
              </a:defRPr>
            </a:pPr>
            <a:r>
              <a:rPr sz="3000" b="1" dirty="0">
                <a:solidFill>
                  <a:srgbClr val="12283B"/>
                </a:solidFill>
                <a:latin typeface="Arial"/>
                <a:ea typeface="Arial"/>
                <a:cs typeface="Arial"/>
              </a:rPr>
              <a:t>Task 2B   LLM-guided mission</a:t>
            </a:r>
            <a:r>
              <a:rPr lang="en-US" sz="3000" b="1" dirty="0">
                <a:solidFill>
                  <a:srgbClr val="12283B"/>
                </a:solidFill>
                <a:latin typeface="Arial"/>
                <a:ea typeface="Arial"/>
                <a:cs typeface="Arial"/>
              </a:rPr>
              <a:t>: Task flow</a:t>
            </a:r>
            <a:endParaRPr sz="3000" b="1" dirty="0">
              <a:solidFill>
                <a:srgbClr val="12283B"/>
              </a:solidFill>
              <a:latin typeface="Arial"/>
              <a:ea typeface="Arial"/>
              <a:cs typeface="Arial"/>
            </a:endParaRPr>
          </a:p>
        </p:txBody>
      </p:sp>
      <p:sp>
        <p:nvSpPr>
          <p:cNvPr id="3" name="Rectangle 2">
            <a:extLst>
              <a:ext uri="{FF2B5EF4-FFF2-40B4-BE49-F238E27FC236}">
                <a16:creationId xmlns:a16="http://schemas.microsoft.com/office/drawing/2014/main" id="{7104DD3D-8304-43D5-B57B-2649CBAF6AE5}"/>
              </a:ext>
            </a:extLst>
          </p:cNvPr>
          <p:cNvSpPr>
            <a:spLocks noGrp="1"/>
          </p:cNvSpPr>
          <p:nvPr/>
        </p:nvSpPr>
        <p:spPr>
          <a:xfrm>
            <a:off x="11144250" y="6362700"/>
            <a:ext cx="571500" cy="238125"/>
          </a:xfrm>
          <a:prstGeom prst="rect">
            <a:avLst/>
          </a:prstGeom>
          <a:noFill/>
          <a:ln w="9525">
            <a:noFill/>
          </a:ln>
        </p:spPr>
        <p:txBody>
          <a:bodyPr>
            <a:noAutofit/>
          </a:bodyPr>
          <a:lstStyle/>
          <a:p>
            <a:pPr>
              <a:defRPr sz="1125" b="0">
                <a:solidFill>
                  <a:srgbClr val="4E6473"/>
                </a:solidFill>
                <a:latin typeface="Arial"/>
                <a:ea typeface="Arial"/>
                <a:cs typeface="Arial"/>
              </a:defRPr>
            </a:pPr>
            <a:r>
              <a:rPr sz="1125" b="0">
                <a:solidFill>
                  <a:srgbClr val="4E6473"/>
                </a:solidFill>
                <a:latin typeface="Arial"/>
                <a:ea typeface="Arial"/>
                <a:cs typeface="Arial"/>
              </a:rPr>
              <a:t>11</a:t>
            </a:r>
          </a:p>
        </p:txBody>
      </p:sp>
      <p:sp>
        <p:nvSpPr>
          <p:cNvPr id="25" name="Shape 2">
            <a:extLst>
              <a:ext uri="{FF2B5EF4-FFF2-40B4-BE49-F238E27FC236}">
                <a16:creationId xmlns:a16="http://schemas.microsoft.com/office/drawing/2014/main" id="{E4C22755-7856-70BB-A4E4-17F5BDB1B833}"/>
              </a:ext>
            </a:extLst>
          </p:cNvPr>
          <p:cNvSpPr/>
          <p:nvPr/>
        </p:nvSpPr>
        <p:spPr>
          <a:xfrm>
            <a:off x="502920" y="1033272"/>
            <a:ext cx="11155680" cy="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7" name="Rectangle 26">
            <a:extLst>
              <a:ext uri="{FF2B5EF4-FFF2-40B4-BE49-F238E27FC236}">
                <a16:creationId xmlns:a16="http://schemas.microsoft.com/office/drawing/2014/main" id="{37F1C946-2B1A-E151-24D5-C4EE2C5BC140}"/>
              </a:ext>
            </a:extLst>
          </p:cNvPr>
          <p:cNvSpPr>
            <a:spLocks noGrp="1"/>
          </p:cNvSpPr>
          <p:nvPr/>
        </p:nvSpPr>
        <p:spPr>
          <a:xfrm>
            <a:off x="425450" y="1285876"/>
            <a:ext cx="11290300" cy="832374"/>
          </a:xfrm>
          <a:prstGeom prst="rect">
            <a:avLst/>
          </a:prstGeom>
          <a:noFill/>
          <a:ln w="9525">
            <a:noFill/>
          </a:ln>
        </p:spPr>
        <p:txBody>
          <a:bodyPr>
            <a:noAutofit/>
          </a:bodyPr>
          <a:lstStyle/>
          <a:p>
            <a:pPr algn="just">
              <a:spcAft>
                <a:spcPts val="600"/>
              </a:spcAft>
            </a:pPr>
            <a:r>
              <a:rPr lang="en-US" altLang="zh-CN" dirty="0"/>
              <a:t>In this task, the LLM acts as a high-level mission interpreter and planner. Its primary role is to understand the natural-language mission instruction and convert mission objectives and high-level constraints into a structured mission plan.</a:t>
            </a:r>
            <a:endParaRPr lang="en-US" altLang="zh-CN" sz="2000" dirty="0"/>
          </a:p>
        </p:txBody>
      </p:sp>
      <p:sp>
        <p:nvSpPr>
          <p:cNvPr id="29" name="Shape 13">
            <a:extLst>
              <a:ext uri="{FF2B5EF4-FFF2-40B4-BE49-F238E27FC236}">
                <a16:creationId xmlns:a16="http://schemas.microsoft.com/office/drawing/2014/main" id="{F7119699-080C-DE4A-3147-6116049B2EE9}"/>
              </a:ext>
            </a:extLst>
          </p:cNvPr>
          <p:cNvSpPr/>
          <p:nvPr/>
        </p:nvSpPr>
        <p:spPr>
          <a:xfrm>
            <a:off x="3480085" y="2345341"/>
            <a:ext cx="4743166" cy="2722845"/>
          </a:xfrm>
          <a:prstGeom prst="roundRect">
            <a:avLst>
              <a:gd name="adj" fmla="val 2500"/>
            </a:avLst>
          </a:prstGeom>
          <a:solidFill>
            <a:srgbClr val="FFF1E4"/>
          </a:solidFill>
          <a:ln w="15240">
            <a:solidFill>
              <a:srgbClr val="F0C69A"/>
            </a:solidFill>
            <a:prstDash val="solid"/>
          </a:ln>
        </p:spPr>
        <p:txBody>
          <a:bodyPr/>
          <a:lstStyle/>
          <a:p>
            <a:endParaRPr lang="zh-CN" altLang="en-US"/>
          </a:p>
        </p:txBody>
      </p:sp>
      <p:sp>
        <p:nvSpPr>
          <p:cNvPr id="31" name="Text 14">
            <a:extLst>
              <a:ext uri="{FF2B5EF4-FFF2-40B4-BE49-F238E27FC236}">
                <a16:creationId xmlns:a16="http://schemas.microsoft.com/office/drawing/2014/main" id="{73382155-0258-CC0E-550B-0670CA10D341}"/>
              </a:ext>
            </a:extLst>
          </p:cNvPr>
          <p:cNvSpPr/>
          <p:nvPr/>
        </p:nvSpPr>
        <p:spPr>
          <a:xfrm>
            <a:off x="3688964" y="2416136"/>
            <a:ext cx="1131129" cy="292608"/>
          </a:xfrm>
          <a:prstGeom prst="rect">
            <a:avLst/>
          </a:prstGeom>
          <a:noFill/>
          <a:ln/>
        </p:spPr>
        <p:txBody>
          <a:bodyPr wrap="square" lIns="0" tIns="0" rIns="0" bIns="0" rtlCol="0" anchor="ctr"/>
          <a:lstStyle/>
          <a:p>
            <a:pPr marL="0" indent="0">
              <a:buNone/>
            </a:pPr>
            <a:r>
              <a:rPr lang="en-US" sz="1600" b="1" dirty="0">
                <a:solidFill>
                  <a:srgbClr val="C97522"/>
                </a:solidFill>
              </a:rPr>
              <a:t>Edge Node</a:t>
            </a:r>
            <a:endParaRPr lang="en-US" sz="1600" dirty="0"/>
          </a:p>
        </p:txBody>
      </p:sp>
      <p:sp>
        <p:nvSpPr>
          <p:cNvPr id="33" name="Text 65">
            <a:extLst>
              <a:ext uri="{FF2B5EF4-FFF2-40B4-BE49-F238E27FC236}">
                <a16:creationId xmlns:a16="http://schemas.microsoft.com/office/drawing/2014/main" id="{CE61B699-2268-92E6-6390-2EC3DC89DEB3}"/>
              </a:ext>
            </a:extLst>
          </p:cNvPr>
          <p:cNvSpPr/>
          <p:nvPr/>
        </p:nvSpPr>
        <p:spPr>
          <a:xfrm>
            <a:off x="8143750" y="4122322"/>
            <a:ext cx="1417320" cy="201168"/>
          </a:xfrm>
          <a:prstGeom prst="rect">
            <a:avLst/>
          </a:prstGeom>
          <a:noFill/>
          <a:ln/>
        </p:spPr>
        <p:txBody>
          <a:bodyPr wrap="square" lIns="0" tIns="0" rIns="0" bIns="0" rtlCol="0" anchor="ctr"/>
          <a:lstStyle/>
          <a:p>
            <a:pPr marL="0" indent="0" algn="ctr">
              <a:buNone/>
            </a:pPr>
            <a:r>
              <a:rPr lang="en-US" sz="1400" b="1" dirty="0">
                <a:solidFill>
                  <a:srgbClr val="2F6FB0"/>
                </a:solidFill>
              </a:rPr>
              <a:t>Task assignments</a:t>
            </a:r>
            <a:endParaRPr lang="en-US" sz="1400" dirty="0"/>
          </a:p>
        </p:txBody>
      </p:sp>
      <p:sp>
        <p:nvSpPr>
          <p:cNvPr id="35" name="Text 67">
            <a:extLst>
              <a:ext uri="{FF2B5EF4-FFF2-40B4-BE49-F238E27FC236}">
                <a16:creationId xmlns:a16="http://schemas.microsoft.com/office/drawing/2014/main" id="{1D762716-D676-8794-723A-ABDA970C310F}"/>
              </a:ext>
            </a:extLst>
          </p:cNvPr>
          <p:cNvSpPr/>
          <p:nvPr/>
        </p:nvSpPr>
        <p:spPr>
          <a:xfrm>
            <a:off x="8143750" y="3108703"/>
            <a:ext cx="1417320" cy="201168"/>
          </a:xfrm>
          <a:prstGeom prst="rect">
            <a:avLst/>
          </a:prstGeom>
          <a:noFill/>
          <a:ln/>
        </p:spPr>
        <p:txBody>
          <a:bodyPr wrap="square" lIns="0" tIns="0" rIns="0" bIns="0" rtlCol="0" anchor="ctr"/>
          <a:lstStyle/>
          <a:p>
            <a:pPr marL="0" indent="0" algn="ctr">
              <a:buNone/>
            </a:pPr>
            <a:r>
              <a:rPr lang="en-US" sz="1400" b="1" dirty="0">
                <a:solidFill>
                  <a:srgbClr val="2F8B57"/>
                </a:solidFill>
              </a:rPr>
              <a:t>State / progress</a:t>
            </a:r>
            <a:endParaRPr lang="en-US" sz="1400" dirty="0"/>
          </a:p>
        </p:txBody>
      </p:sp>
      <p:sp>
        <p:nvSpPr>
          <p:cNvPr id="39" name="Shape 40">
            <a:extLst>
              <a:ext uri="{FF2B5EF4-FFF2-40B4-BE49-F238E27FC236}">
                <a16:creationId xmlns:a16="http://schemas.microsoft.com/office/drawing/2014/main" id="{9259B255-8ABD-ED77-34E2-4C23B2C677D8}"/>
              </a:ext>
            </a:extLst>
          </p:cNvPr>
          <p:cNvSpPr/>
          <p:nvPr/>
        </p:nvSpPr>
        <p:spPr>
          <a:xfrm>
            <a:off x="9481569" y="2480086"/>
            <a:ext cx="2110740" cy="2580947"/>
          </a:xfrm>
          <a:prstGeom prst="roundRect">
            <a:avLst>
              <a:gd name="adj" fmla="val 4118"/>
            </a:avLst>
          </a:prstGeom>
          <a:solidFill>
            <a:srgbClr val="F5FAF7"/>
          </a:solidFill>
          <a:ln w="15240">
            <a:solidFill>
              <a:srgbClr val="CFE5D6"/>
            </a:solidFill>
            <a:prstDash val="solid"/>
          </a:ln>
        </p:spPr>
        <p:txBody>
          <a:bodyPr/>
          <a:lstStyle/>
          <a:p>
            <a:endParaRPr lang="zh-CN" altLang="en-US"/>
          </a:p>
        </p:txBody>
      </p:sp>
      <p:sp>
        <p:nvSpPr>
          <p:cNvPr id="41" name="Text 41">
            <a:extLst>
              <a:ext uri="{FF2B5EF4-FFF2-40B4-BE49-F238E27FC236}">
                <a16:creationId xmlns:a16="http://schemas.microsoft.com/office/drawing/2014/main" id="{4CDF86F8-91A9-3A6C-6CBE-9B445FB09279}"/>
              </a:ext>
            </a:extLst>
          </p:cNvPr>
          <p:cNvSpPr/>
          <p:nvPr/>
        </p:nvSpPr>
        <p:spPr>
          <a:xfrm>
            <a:off x="9568182" y="2576986"/>
            <a:ext cx="1576068" cy="256032"/>
          </a:xfrm>
          <a:prstGeom prst="rect">
            <a:avLst/>
          </a:prstGeom>
          <a:noFill/>
          <a:ln/>
        </p:spPr>
        <p:txBody>
          <a:bodyPr wrap="square" lIns="0" tIns="0" rIns="0" bIns="0" rtlCol="0" anchor="ctr"/>
          <a:lstStyle/>
          <a:p>
            <a:pPr marL="0" indent="0">
              <a:buNone/>
            </a:pPr>
            <a:r>
              <a:rPr lang="en-US" sz="1500" b="1" dirty="0">
                <a:solidFill>
                  <a:srgbClr val="2F8B57"/>
                </a:solidFill>
              </a:rPr>
              <a:t>Multiple Robots</a:t>
            </a:r>
            <a:endParaRPr lang="en-US" sz="1500" dirty="0"/>
          </a:p>
        </p:txBody>
      </p:sp>
      <p:pic>
        <p:nvPicPr>
          <p:cNvPr id="43" name="Picture 42">
            <a:extLst>
              <a:ext uri="{FF2B5EF4-FFF2-40B4-BE49-F238E27FC236}">
                <a16:creationId xmlns:a16="http://schemas.microsoft.com/office/drawing/2014/main" id="{066E4122-C16C-1902-FB62-3F5FF6A9425C}"/>
              </a:ext>
            </a:extLst>
          </p:cNvPr>
          <p:cNvPicPr>
            <a:picLocks noChangeAspect="1"/>
          </p:cNvPicPr>
          <p:nvPr/>
        </p:nvPicPr>
        <p:blipFill>
          <a:blip r:embed="rId3"/>
          <a:stretch>
            <a:fillRect/>
          </a:stretch>
        </p:blipFill>
        <p:spPr>
          <a:xfrm>
            <a:off x="9933777" y="3133173"/>
            <a:ext cx="495325" cy="552478"/>
          </a:xfrm>
          <a:prstGeom prst="rect">
            <a:avLst/>
          </a:prstGeom>
        </p:spPr>
      </p:pic>
      <p:pic>
        <p:nvPicPr>
          <p:cNvPr id="45" name="Picture 44">
            <a:extLst>
              <a:ext uri="{FF2B5EF4-FFF2-40B4-BE49-F238E27FC236}">
                <a16:creationId xmlns:a16="http://schemas.microsoft.com/office/drawing/2014/main" id="{731FD52B-4285-68AA-7AD2-173EEBE1D2D7}"/>
              </a:ext>
            </a:extLst>
          </p:cNvPr>
          <p:cNvPicPr>
            <a:picLocks noChangeAspect="1"/>
          </p:cNvPicPr>
          <p:nvPr/>
        </p:nvPicPr>
        <p:blipFill>
          <a:blip r:embed="rId4"/>
          <a:stretch>
            <a:fillRect/>
          </a:stretch>
        </p:blipFill>
        <p:spPr>
          <a:xfrm>
            <a:off x="10623523" y="3100307"/>
            <a:ext cx="520727" cy="596931"/>
          </a:xfrm>
          <a:prstGeom prst="rect">
            <a:avLst/>
          </a:prstGeom>
        </p:spPr>
      </p:pic>
      <p:sp>
        <p:nvSpPr>
          <p:cNvPr id="47" name="Text 6">
            <a:extLst>
              <a:ext uri="{FF2B5EF4-FFF2-40B4-BE49-F238E27FC236}">
                <a16:creationId xmlns:a16="http://schemas.microsoft.com/office/drawing/2014/main" id="{8531968F-F2FB-D4C8-9ACF-347C0AC0306D}"/>
              </a:ext>
            </a:extLst>
          </p:cNvPr>
          <p:cNvSpPr/>
          <p:nvPr/>
        </p:nvSpPr>
        <p:spPr>
          <a:xfrm>
            <a:off x="9492742" y="4253957"/>
            <a:ext cx="2127758" cy="940755"/>
          </a:xfrm>
          <a:prstGeom prst="rect">
            <a:avLst/>
          </a:prstGeom>
          <a:noFill/>
          <a:ln/>
        </p:spPr>
        <p:txBody>
          <a:bodyPr wrap="square" lIns="254" tIns="254" rIns="254" bIns="254" rtlCol="0" anchor="ctr">
            <a:noAutofit/>
          </a:bodyPr>
          <a:lstStyle/>
          <a:p>
            <a:pPr algn="ctr"/>
            <a:r>
              <a:rPr lang="en-US" altLang="zh-CN" sz="1400" b="1" dirty="0">
                <a:solidFill>
                  <a:srgbClr val="183B66"/>
                </a:solidFill>
              </a:rPr>
              <a:t>Autonomous Navigation &amp; Rescue Execution</a:t>
            </a:r>
            <a:endParaRPr lang="en-US" altLang="zh-CN" sz="1400" dirty="0"/>
          </a:p>
        </p:txBody>
      </p:sp>
      <p:pic>
        <p:nvPicPr>
          <p:cNvPr id="49" name="Picture 48">
            <a:extLst>
              <a:ext uri="{FF2B5EF4-FFF2-40B4-BE49-F238E27FC236}">
                <a16:creationId xmlns:a16="http://schemas.microsoft.com/office/drawing/2014/main" id="{66FCDF45-223D-128E-5C28-FCCA11BABEDB}"/>
              </a:ext>
            </a:extLst>
          </p:cNvPr>
          <p:cNvPicPr>
            <a:picLocks noChangeAspect="1"/>
          </p:cNvPicPr>
          <p:nvPr/>
        </p:nvPicPr>
        <p:blipFill>
          <a:blip r:embed="rId4"/>
          <a:stretch>
            <a:fillRect/>
          </a:stretch>
        </p:blipFill>
        <p:spPr>
          <a:xfrm>
            <a:off x="9908375" y="3726559"/>
            <a:ext cx="520727" cy="596931"/>
          </a:xfrm>
          <a:prstGeom prst="rect">
            <a:avLst/>
          </a:prstGeom>
        </p:spPr>
      </p:pic>
      <p:pic>
        <p:nvPicPr>
          <p:cNvPr id="51" name="Picture 50">
            <a:extLst>
              <a:ext uri="{FF2B5EF4-FFF2-40B4-BE49-F238E27FC236}">
                <a16:creationId xmlns:a16="http://schemas.microsoft.com/office/drawing/2014/main" id="{9ADA3A69-D956-67EA-AAC8-C6251713F794}"/>
              </a:ext>
            </a:extLst>
          </p:cNvPr>
          <p:cNvPicPr>
            <a:picLocks noChangeAspect="1"/>
          </p:cNvPicPr>
          <p:nvPr/>
        </p:nvPicPr>
        <p:blipFill>
          <a:blip r:embed="rId3"/>
          <a:stretch>
            <a:fillRect/>
          </a:stretch>
        </p:blipFill>
        <p:spPr>
          <a:xfrm>
            <a:off x="10623523" y="3760103"/>
            <a:ext cx="495325" cy="552478"/>
          </a:xfrm>
          <a:prstGeom prst="rect">
            <a:avLst/>
          </a:prstGeom>
        </p:spPr>
      </p:pic>
      <p:sp>
        <p:nvSpPr>
          <p:cNvPr id="53" name="Shape 66">
            <a:extLst>
              <a:ext uri="{FF2B5EF4-FFF2-40B4-BE49-F238E27FC236}">
                <a16:creationId xmlns:a16="http://schemas.microsoft.com/office/drawing/2014/main" id="{A8DAA7ED-0017-16CE-5413-F941E836037F}"/>
              </a:ext>
            </a:extLst>
          </p:cNvPr>
          <p:cNvSpPr/>
          <p:nvPr/>
        </p:nvSpPr>
        <p:spPr>
          <a:xfrm rot="16200000">
            <a:off x="8665051" y="3119274"/>
            <a:ext cx="276098" cy="725935"/>
          </a:xfrm>
          <a:prstGeom prst="upArrow">
            <a:avLst/>
          </a:prstGeom>
          <a:solidFill>
            <a:srgbClr val="2F8B57"/>
          </a:solidFill>
          <a:ln w="12700">
            <a:solidFill>
              <a:srgbClr val="2F8B57"/>
            </a:solidFill>
            <a:prstDash val="solid"/>
          </a:ln>
        </p:spPr>
        <p:txBody>
          <a:bodyPr/>
          <a:lstStyle/>
          <a:p>
            <a:endParaRPr lang="zh-CN" altLang="en-US"/>
          </a:p>
        </p:txBody>
      </p:sp>
      <p:sp>
        <p:nvSpPr>
          <p:cNvPr id="55" name="Shape 64">
            <a:extLst>
              <a:ext uri="{FF2B5EF4-FFF2-40B4-BE49-F238E27FC236}">
                <a16:creationId xmlns:a16="http://schemas.microsoft.com/office/drawing/2014/main" id="{B1A726D6-D48C-4C25-8759-04E7EBBACB5E}"/>
              </a:ext>
            </a:extLst>
          </p:cNvPr>
          <p:cNvSpPr/>
          <p:nvPr/>
        </p:nvSpPr>
        <p:spPr>
          <a:xfrm rot="16200000">
            <a:off x="8696344" y="3574505"/>
            <a:ext cx="312132" cy="727966"/>
          </a:xfrm>
          <a:prstGeom prst="downArrow">
            <a:avLst>
              <a:gd name="adj1" fmla="val 50000"/>
              <a:gd name="adj2" fmla="val 50000"/>
            </a:avLst>
          </a:prstGeom>
          <a:solidFill>
            <a:srgbClr val="FFF1E4"/>
          </a:solidFill>
          <a:ln w="12700">
            <a:solidFill>
              <a:srgbClr val="2F6FB0"/>
            </a:solidFill>
            <a:prstDash val="solid"/>
          </a:ln>
        </p:spPr>
        <p:txBody>
          <a:bodyPr/>
          <a:lstStyle/>
          <a:p>
            <a:endParaRPr lang="zh-CN" altLang="en-US"/>
          </a:p>
        </p:txBody>
      </p:sp>
      <p:sp>
        <p:nvSpPr>
          <p:cNvPr id="57" name="Rounded Rectangle 4">
            <a:extLst>
              <a:ext uri="{FF2B5EF4-FFF2-40B4-BE49-F238E27FC236}">
                <a16:creationId xmlns:a16="http://schemas.microsoft.com/office/drawing/2014/main" id="{98205D07-6988-75BF-CD3F-5A4A57C87EE4}"/>
              </a:ext>
            </a:extLst>
          </p:cNvPr>
          <p:cNvSpPr/>
          <p:nvPr/>
        </p:nvSpPr>
        <p:spPr>
          <a:xfrm>
            <a:off x="502920" y="2429627"/>
            <a:ext cx="1874519" cy="1058570"/>
          </a:xfrm>
          <a:prstGeom prst="roundRect">
            <a:avLst/>
          </a:prstGeom>
          <a:solidFill>
            <a:srgbClr val="EFF7FE"/>
          </a:solidFill>
          <a:ln w="15240">
            <a:solidFill>
              <a:srgbClr val="A5C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a:extLst>
              <a:ext uri="{FF2B5EF4-FFF2-40B4-BE49-F238E27FC236}">
                <a16:creationId xmlns:a16="http://schemas.microsoft.com/office/drawing/2014/main" id="{70F99602-031B-A5A1-ED70-4514A66406DB}"/>
              </a:ext>
            </a:extLst>
          </p:cNvPr>
          <p:cNvSpPr txBox="1"/>
          <p:nvPr/>
        </p:nvSpPr>
        <p:spPr>
          <a:xfrm>
            <a:off x="502920" y="2491706"/>
            <a:ext cx="1116703" cy="353943"/>
          </a:xfrm>
          <a:prstGeom prst="rect">
            <a:avLst/>
          </a:prstGeom>
          <a:noFill/>
        </p:spPr>
        <p:txBody>
          <a:bodyPr wrap="square" anchor="ctr">
            <a:spAutoFit/>
          </a:bodyPr>
          <a:lstStyle/>
          <a:p>
            <a:pPr algn="ctr"/>
            <a:r>
              <a:rPr sz="1600" b="1" dirty="0">
                <a:solidFill>
                  <a:srgbClr val="152F46"/>
                </a:solidFill>
                <a:latin typeface="Aptos"/>
              </a:rPr>
              <a:t>Operator</a:t>
            </a:r>
            <a:r>
              <a:rPr sz="1700" b="1" dirty="0">
                <a:solidFill>
                  <a:srgbClr val="152F46"/>
                </a:solidFill>
                <a:latin typeface="Aptos"/>
              </a:rPr>
              <a:t> </a:t>
            </a:r>
          </a:p>
        </p:txBody>
      </p:sp>
      <p:sp>
        <p:nvSpPr>
          <p:cNvPr id="61" name="TextBox 60">
            <a:extLst>
              <a:ext uri="{FF2B5EF4-FFF2-40B4-BE49-F238E27FC236}">
                <a16:creationId xmlns:a16="http://schemas.microsoft.com/office/drawing/2014/main" id="{EEBF010A-7F59-6FF3-56AD-01A7C795A7A1}"/>
              </a:ext>
            </a:extLst>
          </p:cNvPr>
          <p:cNvSpPr txBox="1"/>
          <p:nvPr/>
        </p:nvSpPr>
        <p:spPr>
          <a:xfrm>
            <a:off x="683178" y="2835419"/>
            <a:ext cx="1594667" cy="523220"/>
          </a:xfrm>
          <a:prstGeom prst="rect">
            <a:avLst/>
          </a:prstGeom>
          <a:noFill/>
        </p:spPr>
        <p:txBody>
          <a:bodyPr wrap="none" anchor="ctr">
            <a:spAutoFit/>
          </a:bodyPr>
          <a:lstStyle/>
          <a:p>
            <a:pPr algn="ctr"/>
            <a:r>
              <a:rPr sz="1400" b="1" dirty="0">
                <a:solidFill>
                  <a:srgbClr val="232323"/>
                </a:solidFill>
                <a:latin typeface="Aptos"/>
              </a:rPr>
              <a:t>Natural-language
mission input</a:t>
            </a:r>
          </a:p>
        </p:txBody>
      </p:sp>
      <p:sp>
        <p:nvSpPr>
          <p:cNvPr id="63" name="Shape 64">
            <a:extLst>
              <a:ext uri="{FF2B5EF4-FFF2-40B4-BE49-F238E27FC236}">
                <a16:creationId xmlns:a16="http://schemas.microsoft.com/office/drawing/2014/main" id="{0E923CAE-C011-04AD-4D29-6E4B07DA23E8}"/>
              </a:ext>
            </a:extLst>
          </p:cNvPr>
          <p:cNvSpPr/>
          <p:nvPr/>
        </p:nvSpPr>
        <p:spPr>
          <a:xfrm rot="16200000">
            <a:off x="2772696" y="2573385"/>
            <a:ext cx="312132" cy="727966"/>
          </a:xfrm>
          <a:prstGeom prst="downArrow">
            <a:avLst>
              <a:gd name="adj1" fmla="val 50000"/>
              <a:gd name="adj2" fmla="val 50000"/>
            </a:avLst>
          </a:prstGeom>
          <a:solidFill>
            <a:schemeClr val="tx2">
              <a:lumMod val="10000"/>
              <a:lumOff val="90000"/>
            </a:schemeClr>
          </a:solidFill>
          <a:ln w="12700">
            <a:solidFill>
              <a:srgbClr val="2F6FB0"/>
            </a:solidFill>
            <a:prstDash val="solid"/>
          </a:ln>
        </p:spPr>
        <p:txBody>
          <a:bodyPr/>
          <a:lstStyle/>
          <a:p>
            <a:endParaRPr lang="zh-CN" altLang="en-US"/>
          </a:p>
        </p:txBody>
      </p:sp>
      <p:sp>
        <p:nvSpPr>
          <p:cNvPr id="65" name="Rounded Rectangle 12">
            <a:extLst>
              <a:ext uri="{FF2B5EF4-FFF2-40B4-BE49-F238E27FC236}">
                <a16:creationId xmlns:a16="http://schemas.microsoft.com/office/drawing/2014/main" id="{62A5436B-25E8-CD10-1C39-BEB7232ADC64}"/>
              </a:ext>
            </a:extLst>
          </p:cNvPr>
          <p:cNvSpPr/>
          <p:nvPr/>
        </p:nvSpPr>
        <p:spPr>
          <a:xfrm>
            <a:off x="3601164" y="2759587"/>
            <a:ext cx="4445685" cy="931024"/>
          </a:xfrm>
          <a:prstGeom prst="roundRect">
            <a:avLst/>
          </a:prstGeom>
          <a:solidFill>
            <a:srgbClr val="FFFFFF"/>
          </a:solidFill>
          <a:ln w="15240">
            <a:solidFill>
              <a:srgbClr val="E5B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a:extLst>
              <a:ext uri="{FF2B5EF4-FFF2-40B4-BE49-F238E27FC236}">
                <a16:creationId xmlns:a16="http://schemas.microsoft.com/office/drawing/2014/main" id="{6155F29A-6669-D8A6-C67F-5462A3735182}"/>
              </a:ext>
            </a:extLst>
          </p:cNvPr>
          <p:cNvSpPr txBox="1"/>
          <p:nvPr/>
        </p:nvSpPr>
        <p:spPr>
          <a:xfrm>
            <a:off x="3652994" y="2823481"/>
            <a:ext cx="2382832" cy="338554"/>
          </a:xfrm>
          <a:prstGeom prst="rect">
            <a:avLst/>
          </a:prstGeom>
          <a:noFill/>
        </p:spPr>
        <p:txBody>
          <a:bodyPr wrap="none" anchor="ctr">
            <a:spAutoFit/>
          </a:bodyPr>
          <a:lstStyle/>
          <a:p>
            <a:pPr algn="l"/>
            <a:r>
              <a:rPr sz="1600" b="1" dirty="0">
                <a:solidFill>
                  <a:srgbClr val="744718"/>
                </a:solidFill>
                <a:latin typeface="Aptos"/>
              </a:rPr>
              <a:t>LLM Mission Interpreter</a:t>
            </a:r>
          </a:p>
        </p:txBody>
      </p:sp>
      <p:sp>
        <p:nvSpPr>
          <p:cNvPr id="69" name="TextBox 68">
            <a:extLst>
              <a:ext uri="{FF2B5EF4-FFF2-40B4-BE49-F238E27FC236}">
                <a16:creationId xmlns:a16="http://schemas.microsoft.com/office/drawing/2014/main" id="{AF72A8C5-62F4-2D14-E7AB-72D92B82BBF0}"/>
              </a:ext>
            </a:extLst>
          </p:cNvPr>
          <p:cNvSpPr txBox="1"/>
          <p:nvPr/>
        </p:nvSpPr>
        <p:spPr>
          <a:xfrm>
            <a:off x="3616529" y="3167390"/>
            <a:ext cx="4558427" cy="523220"/>
          </a:xfrm>
          <a:prstGeom prst="rect">
            <a:avLst/>
          </a:prstGeom>
          <a:noFill/>
        </p:spPr>
        <p:txBody>
          <a:bodyPr wrap="none" anchor="t">
            <a:spAutoFit/>
          </a:bodyPr>
          <a:lstStyle/>
          <a:p>
            <a:pPr algn="l"/>
            <a:r>
              <a:rPr sz="1400" dirty="0">
                <a:solidFill>
                  <a:srgbClr val="2D2D2D"/>
                </a:solidFill>
                <a:latin typeface="Aptos"/>
              </a:rPr>
              <a:t>Interpret instruction</a:t>
            </a:r>
            <a:r>
              <a:rPr lang="zh-CN" altLang="en-US" sz="1400" dirty="0">
                <a:solidFill>
                  <a:srgbClr val="2D2D2D"/>
                </a:solidFill>
                <a:latin typeface="Aptos"/>
              </a:rPr>
              <a:t>，</a:t>
            </a:r>
            <a:r>
              <a:rPr sz="1400" dirty="0">
                <a:solidFill>
                  <a:srgbClr val="2D2D2D"/>
                </a:solidFill>
                <a:latin typeface="Aptos"/>
              </a:rPr>
              <a:t>Extract objectives &amp; constraints</a:t>
            </a:r>
            <a:r>
              <a:rPr lang="zh-CN" altLang="en-US" sz="1400" dirty="0">
                <a:solidFill>
                  <a:srgbClr val="2D2D2D"/>
                </a:solidFill>
                <a:latin typeface="Aptos"/>
              </a:rPr>
              <a:t>，</a:t>
            </a:r>
            <a:r>
              <a:rPr sz="1400" dirty="0">
                <a:solidFill>
                  <a:srgbClr val="2D2D2D"/>
                </a:solidFill>
                <a:latin typeface="Aptos"/>
              </a:rPr>
              <a:t>
Generate a structured mission plan</a:t>
            </a:r>
          </a:p>
        </p:txBody>
      </p:sp>
      <p:sp>
        <p:nvSpPr>
          <p:cNvPr id="71" name="Rounded Rectangle 12">
            <a:extLst>
              <a:ext uri="{FF2B5EF4-FFF2-40B4-BE49-F238E27FC236}">
                <a16:creationId xmlns:a16="http://schemas.microsoft.com/office/drawing/2014/main" id="{AECABCA0-F263-F178-79C3-18A8C31E6E58}"/>
              </a:ext>
            </a:extLst>
          </p:cNvPr>
          <p:cNvSpPr/>
          <p:nvPr/>
        </p:nvSpPr>
        <p:spPr>
          <a:xfrm>
            <a:off x="3601164" y="4087572"/>
            <a:ext cx="4445685" cy="931024"/>
          </a:xfrm>
          <a:prstGeom prst="roundRect">
            <a:avLst/>
          </a:prstGeom>
          <a:solidFill>
            <a:srgbClr val="FFFFFF"/>
          </a:solidFill>
          <a:ln w="15240">
            <a:solidFill>
              <a:srgbClr val="E5B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a:extLst>
              <a:ext uri="{FF2B5EF4-FFF2-40B4-BE49-F238E27FC236}">
                <a16:creationId xmlns:a16="http://schemas.microsoft.com/office/drawing/2014/main" id="{E47083FF-7594-B950-DCD9-1E843FD4DBB7}"/>
              </a:ext>
            </a:extLst>
          </p:cNvPr>
          <p:cNvSpPr txBox="1"/>
          <p:nvPr/>
        </p:nvSpPr>
        <p:spPr>
          <a:xfrm>
            <a:off x="3616529" y="4167293"/>
            <a:ext cx="2453107" cy="338554"/>
          </a:xfrm>
          <a:prstGeom prst="rect">
            <a:avLst/>
          </a:prstGeom>
          <a:noFill/>
        </p:spPr>
        <p:txBody>
          <a:bodyPr wrap="none" anchor="ctr">
            <a:spAutoFit/>
          </a:bodyPr>
          <a:lstStyle/>
          <a:p>
            <a:pPr algn="l"/>
            <a:r>
              <a:rPr lang="en-US" altLang="zh-CN" sz="1600" b="1" dirty="0">
                <a:solidFill>
                  <a:srgbClr val="744718"/>
                </a:solidFill>
                <a:latin typeface="Aptos"/>
              </a:rPr>
              <a:t>Multi-Robot Coordinator</a:t>
            </a:r>
            <a:endParaRPr sz="1600" b="1" dirty="0">
              <a:solidFill>
                <a:srgbClr val="744718"/>
              </a:solidFill>
              <a:latin typeface="Aptos"/>
            </a:endParaRPr>
          </a:p>
        </p:txBody>
      </p:sp>
      <p:sp>
        <p:nvSpPr>
          <p:cNvPr id="75" name="TextBox 74">
            <a:extLst>
              <a:ext uri="{FF2B5EF4-FFF2-40B4-BE49-F238E27FC236}">
                <a16:creationId xmlns:a16="http://schemas.microsoft.com/office/drawing/2014/main" id="{F5845482-B9A0-6B65-7108-95B6C9ED574C}"/>
              </a:ext>
            </a:extLst>
          </p:cNvPr>
          <p:cNvSpPr txBox="1"/>
          <p:nvPr/>
        </p:nvSpPr>
        <p:spPr>
          <a:xfrm>
            <a:off x="3652994" y="4495376"/>
            <a:ext cx="4533677" cy="523220"/>
          </a:xfrm>
          <a:prstGeom prst="rect">
            <a:avLst/>
          </a:prstGeom>
          <a:noFill/>
        </p:spPr>
        <p:txBody>
          <a:bodyPr wrap="none" anchor="t">
            <a:spAutoFit/>
          </a:bodyPr>
          <a:lstStyle/>
          <a:p>
            <a:r>
              <a:rPr lang="en-US" altLang="zh-CN" sz="1400" dirty="0">
                <a:solidFill>
                  <a:srgbClr val="2D2D2D"/>
                </a:solidFill>
                <a:latin typeface="Aptos"/>
              </a:rPr>
              <a:t>Execution planning </a:t>
            </a:r>
            <a:r>
              <a:rPr lang="zh-CN" altLang="en-US" sz="1400" dirty="0">
                <a:solidFill>
                  <a:srgbClr val="2D2D2D"/>
                </a:solidFill>
                <a:latin typeface="Aptos"/>
              </a:rPr>
              <a:t>，</a:t>
            </a:r>
            <a:r>
              <a:rPr lang="en-US" altLang="zh-CN" sz="1400" dirty="0">
                <a:solidFill>
                  <a:srgbClr val="2D2D2D"/>
                </a:solidFill>
                <a:latin typeface="Aptos"/>
              </a:rPr>
              <a:t>Robot allocation</a:t>
            </a:r>
            <a:r>
              <a:rPr lang="zh-CN" altLang="en-US" sz="1400" dirty="0">
                <a:solidFill>
                  <a:srgbClr val="2D2D2D"/>
                </a:solidFill>
                <a:latin typeface="Aptos"/>
              </a:rPr>
              <a:t>，</a:t>
            </a:r>
            <a:r>
              <a:rPr lang="en-US" altLang="zh-CN" sz="1400" dirty="0">
                <a:solidFill>
                  <a:srgbClr val="2D2D2D"/>
                </a:solidFill>
                <a:latin typeface="Aptos"/>
              </a:rPr>
              <a:t>Coordination</a:t>
            </a:r>
            <a:r>
              <a:rPr lang="zh-CN" altLang="en-US" sz="1400" dirty="0">
                <a:solidFill>
                  <a:srgbClr val="2D2D2D"/>
                </a:solidFill>
                <a:latin typeface="Aptos"/>
              </a:rPr>
              <a:t>，</a:t>
            </a:r>
            <a:endParaRPr lang="en-US" altLang="zh-CN" sz="1400" dirty="0">
              <a:solidFill>
                <a:srgbClr val="2D2D2D"/>
              </a:solidFill>
              <a:latin typeface="Aptos"/>
            </a:endParaRPr>
          </a:p>
          <a:p>
            <a:r>
              <a:rPr lang="en-US" altLang="zh-CN" sz="1400" dirty="0">
                <a:solidFill>
                  <a:srgbClr val="2D2D2D"/>
                </a:solidFill>
                <a:latin typeface="Aptos"/>
              </a:rPr>
              <a:t>Global state management</a:t>
            </a:r>
          </a:p>
        </p:txBody>
      </p:sp>
      <p:sp>
        <p:nvSpPr>
          <p:cNvPr id="77" name="Down Arrow 15">
            <a:extLst>
              <a:ext uri="{FF2B5EF4-FFF2-40B4-BE49-F238E27FC236}">
                <a16:creationId xmlns:a16="http://schemas.microsoft.com/office/drawing/2014/main" id="{CC3DE0F6-044D-83F6-4EC0-8B5D7A089D35}"/>
              </a:ext>
            </a:extLst>
          </p:cNvPr>
          <p:cNvSpPr/>
          <p:nvPr/>
        </p:nvSpPr>
        <p:spPr>
          <a:xfrm>
            <a:off x="5663800" y="3770331"/>
            <a:ext cx="256032" cy="256032"/>
          </a:xfrm>
          <a:prstGeom prst="downArrow">
            <a:avLst/>
          </a:prstGeom>
          <a:solidFill>
            <a:srgbClr val="C46914"/>
          </a:solidFill>
          <a:ln>
            <a:solidFill>
              <a:srgbClr val="C469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a:extLst>
              <a:ext uri="{FF2B5EF4-FFF2-40B4-BE49-F238E27FC236}">
                <a16:creationId xmlns:a16="http://schemas.microsoft.com/office/drawing/2014/main" id="{84ABDBF5-2AC4-B6CD-A45F-5049DC988295}"/>
              </a:ext>
            </a:extLst>
          </p:cNvPr>
          <p:cNvSpPr txBox="1"/>
          <p:nvPr/>
        </p:nvSpPr>
        <p:spPr>
          <a:xfrm>
            <a:off x="5919832" y="3755654"/>
            <a:ext cx="1828800" cy="256032"/>
          </a:xfrm>
          <a:prstGeom prst="rect">
            <a:avLst/>
          </a:prstGeom>
          <a:noFill/>
        </p:spPr>
        <p:txBody>
          <a:bodyPr wrap="none" anchor="ctr">
            <a:spAutoFit/>
          </a:bodyPr>
          <a:lstStyle/>
          <a:p>
            <a:pPr algn="l"/>
            <a:r>
              <a:rPr sz="1120" b="1" dirty="0">
                <a:solidFill>
                  <a:srgbClr val="C46914"/>
                </a:solidFill>
                <a:latin typeface="Aptos"/>
              </a:rPr>
              <a:t>Structured mission plan</a:t>
            </a:r>
          </a:p>
        </p:txBody>
      </p:sp>
      <p:sp>
        <p:nvSpPr>
          <p:cNvPr id="80" name="Text 6">
            <a:extLst>
              <a:ext uri="{FF2B5EF4-FFF2-40B4-BE49-F238E27FC236}">
                <a16:creationId xmlns:a16="http://schemas.microsoft.com/office/drawing/2014/main" id="{F5201DC8-CCC7-0485-4499-B7B528CABFE2}"/>
              </a:ext>
            </a:extLst>
          </p:cNvPr>
          <p:cNvSpPr/>
          <p:nvPr/>
        </p:nvSpPr>
        <p:spPr>
          <a:xfrm>
            <a:off x="571500" y="5548358"/>
            <a:ext cx="4099737" cy="1058569"/>
          </a:xfrm>
          <a:prstGeom prst="rect">
            <a:avLst/>
          </a:prstGeom>
          <a:noFill/>
          <a:ln/>
        </p:spPr>
        <p:txBody>
          <a:bodyPr wrap="square" lIns="254" tIns="254" rIns="254" bIns="254" rtlCol="0" anchor="ctr">
            <a:noAutofit/>
          </a:bodyPr>
          <a:lstStyle/>
          <a:p>
            <a:pPr marL="285750" lvl="0" indent="-285750">
              <a:spcAft>
                <a:spcPts val="600"/>
              </a:spcAft>
              <a:buFont typeface="Wingdings" panose="05000000000000000000" pitchFamily="2" charset="2"/>
              <a:buChar char="l"/>
            </a:pPr>
            <a:r>
              <a:rPr lang="zh-CN" altLang="zh-CN" sz="1600" dirty="0"/>
              <a:t>Natural-language mission input interface</a:t>
            </a:r>
            <a:endParaRPr lang="en-US" altLang="zh-CN" sz="1600" dirty="0"/>
          </a:p>
          <a:p>
            <a:pPr marL="285750" lvl="0" indent="-285750">
              <a:spcAft>
                <a:spcPts val="600"/>
              </a:spcAft>
              <a:buFont typeface="Wingdings" panose="05000000000000000000" pitchFamily="2" charset="2"/>
              <a:buChar char="l"/>
            </a:pPr>
            <a:r>
              <a:rPr lang="zh-CN" altLang="zh-CN" sz="1600" dirty="0"/>
              <a:t>LLM prompting and mission interpretation</a:t>
            </a:r>
            <a:endParaRPr lang="en-US" altLang="zh-CN" sz="1600" dirty="0"/>
          </a:p>
          <a:p>
            <a:pPr marL="285750" lvl="0" indent="-285750">
              <a:spcAft>
                <a:spcPts val="600"/>
              </a:spcAft>
              <a:buFont typeface="Wingdings" panose="05000000000000000000" pitchFamily="2" charset="2"/>
              <a:buChar char="l"/>
            </a:pPr>
            <a:r>
              <a:rPr lang="zh-CN" altLang="zh-CN" sz="1600" dirty="0"/>
              <a:t>Structured mission-plan representation</a:t>
            </a:r>
            <a:endParaRPr lang="en-US" altLang="zh-CN" sz="1600" dirty="0"/>
          </a:p>
        </p:txBody>
      </p:sp>
      <p:sp>
        <p:nvSpPr>
          <p:cNvPr id="81" name="TextBox 80">
            <a:extLst>
              <a:ext uri="{FF2B5EF4-FFF2-40B4-BE49-F238E27FC236}">
                <a16:creationId xmlns:a16="http://schemas.microsoft.com/office/drawing/2014/main" id="{6E632995-B5FE-AD80-F3F5-35876CF36AF3}"/>
              </a:ext>
            </a:extLst>
          </p:cNvPr>
          <p:cNvSpPr txBox="1"/>
          <p:nvPr/>
        </p:nvSpPr>
        <p:spPr>
          <a:xfrm>
            <a:off x="476250" y="5179026"/>
            <a:ext cx="1623059" cy="369332"/>
          </a:xfrm>
          <a:prstGeom prst="rect">
            <a:avLst/>
          </a:prstGeom>
          <a:noFill/>
        </p:spPr>
        <p:txBody>
          <a:bodyPr wrap="square" rtlCol="0">
            <a:spAutoFit/>
          </a:bodyPr>
          <a:lstStyle/>
          <a:p>
            <a:r>
              <a:rPr lang="en-US" altLang="zh-CN" b="1" dirty="0"/>
              <a:t>Teams develop</a:t>
            </a:r>
            <a:endParaRPr lang="zh-CN" altLang="en-US" b="1" dirty="0"/>
          </a:p>
        </p:txBody>
      </p:sp>
      <p:sp>
        <p:nvSpPr>
          <p:cNvPr id="82" name="Text 6">
            <a:extLst>
              <a:ext uri="{FF2B5EF4-FFF2-40B4-BE49-F238E27FC236}">
                <a16:creationId xmlns:a16="http://schemas.microsoft.com/office/drawing/2014/main" id="{9048307D-9F8A-9129-1701-E750AEACA6C8}"/>
              </a:ext>
            </a:extLst>
          </p:cNvPr>
          <p:cNvSpPr/>
          <p:nvPr/>
        </p:nvSpPr>
        <p:spPr>
          <a:xfrm>
            <a:off x="5056865" y="5562040"/>
            <a:ext cx="5814320" cy="624341"/>
          </a:xfrm>
          <a:prstGeom prst="rect">
            <a:avLst/>
          </a:prstGeom>
          <a:noFill/>
          <a:ln/>
        </p:spPr>
        <p:txBody>
          <a:bodyPr wrap="square" lIns="254" tIns="254" rIns="254" bIns="254" rtlCol="0" anchor="ctr">
            <a:noAutofit/>
          </a:bodyPr>
          <a:lstStyle/>
          <a:p>
            <a:pPr marL="285750" lvl="0" indent="-285750">
              <a:spcAft>
                <a:spcPts val="600"/>
              </a:spcAft>
              <a:buFont typeface="Wingdings" panose="05000000000000000000" pitchFamily="2" charset="2"/>
              <a:buChar char="l"/>
            </a:pPr>
            <a:r>
              <a:rPr lang="zh-CN" altLang="zh-CN" sz="1600" dirty="0"/>
              <a:t>Integrate the LLM mission layer with the existing Task 2A coordination framewor</a:t>
            </a:r>
            <a:r>
              <a:rPr lang="en-US" altLang="zh-CN" sz="1600" dirty="0"/>
              <a:t>k</a:t>
            </a:r>
          </a:p>
        </p:txBody>
      </p:sp>
      <p:sp>
        <p:nvSpPr>
          <p:cNvPr id="84" name="Rounded Rectangle 4">
            <a:extLst>
              <a:ext uri="{FF2B5EF4-FFF2-40B4-BE49-F238E27FC236}">
                <a16:creationId xmlns:a16="http://schemas.microsoft.com/office/drawing/2014/main" id="{6BC3C2C1-8C7B-51AE-95F7-84115C2A028E}"/>
              </a:ext>
            </a:extLst>
          </p:cNvPr>
          <p:cNvSpPr/>
          <p:nvPr/>
        </p:nvSpPr>
        <p:spPr>
          <a:xfrm>
            <a:off x="914144" y="4038121"/>
            <a:ext cx="1456214" cy="774148"/>
          </a:xfrm>
          <a:prstGeom prst="roundRect">
            <a:avLst/>
          </a:prstGeom>
          <a:solidFill>
            <a:schemeClr val="accent2">
              <a:lumMod val="60000"/>
              <a:lumOff val="40000"/>
            </a:schemeClr>
          </a:solidFill>
          <a:ln w="15240">
            <a:solidFill>
              <a:srgbClr val="A5C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a:extLst>
              <a:ext uri="{FF2B5EF4-FFF2-40B4-BE49-F238E27FC236}">
                <a16:creationId xmlns:a16="http://schemas.microsoft.com/office/drawing/2014/main" id="{52449B81-3E66-D412-E5B2-D3D3EEE5BB15}"/>
              </a:ext>
            </a:extLst>
          </p:cNvPr>
          <p:cNvSpPr txBox="1"/>
          <p:nvPr/>
        </p:nvSpPr>
        <p:spPr>
          <a:xfrm>
            <a:off x="1062249" y="4159491"/>
            <a:ext cx="1142299" cy="523220"/>
          </a:xfrm>
          <a:prstGeom prst="rect">
            <a:avLst/>
          </a:prstGeom>
          <a:noFill/>
        </p:spPr>
        <p:txBody>
          <a:bodyPr wrap="none" anchor="ctr">
            <a:spAutoFit/>
          </a:bodyPr>
          <a:lstStyle/>
          <a:p>
            <a:pPr algn="ctr"/>
            <a:r>
              <a:rPr lang="en-US" altLang="zh-CN" sz="1400" b="1" dirty="0">
                <a:solidFill>
                  <a:srgbClr val="232323"/>
                </a:solidFill>
                <a:latin typeface="Aptos"/>
              </a:rPr>
              <a:t>Retained </a:t>
            </a:r>
          </a:p>
          <a:p>
            <a:pPr algn="ctr"/>
            <a:r>
              <a:rPr lang="en-US" altLang="zh-CN" sz="1400" b="1" dirty="0">
                <a:solidFill>
                  <a:srgbClr val="232323"/>
                </a:solidFill>
                <a:latin typeface="Aptos"/>
              </a:rPr>
              <a:t>information</a:t>
            </a:r>
            <a:endParaRPr sz="1400" b="1" dirty="0">
              <a:solidFill>
                <a:srgbClr val="232323"/>
              </a:solidFill>
              <a:latin typeface="Aptos"/>
            </a:endParaRPr>
          </a:p>
        </p:txBody>
      </p:sp>
      <p:sp>
        <p:nvSpPr>
          <p:cNvPr id="90" name="Shape 64">
            <a:extLst>
              <a:ext uri="{FF2B5EF4-FFF2-40B4-BE49-F238E27FC236}">
                <a16:creationId xmlns:a16="http://schemas.microsoft.com/office/drawing/2014/main" id="{12E968EF-C1FC-4AD4-63A4-7F548547D89B}"/>
              </a:ext>
            </a:extLst>
          </p:cNvPr>
          <p:cNvSpPr/>
          <p:nvPr/>
        </p:nvSpPr>
        <p:spPr>
          <a:xfrm rot="16200000">
            <a:off x="2724815" y="4046040"/>
            <a:ext cx="312132" cy="727966"/>
          </a:xfrm>
          <a:prstGeom prst="downArrow">
            <a:avLst>
              <a:gd name="adj1" fmla="val 50000"/>
              <a:gd name="adj2" fmla="val 50000"/>
            </a:avLst>
          </a:prstGeom>
          <a:solidFill>
            <a:schemeClr val="accent2">
              <a:lumMod val="60000"/>
              <a:lumOff val="40000"/>
            </a:schemeClr>
          </a:solidFill>
          <a:ln w="12700">
            <a:solidFill>
              <a:srgbClr val="2F6FB0"/>
            </a:solidFill>
            <a:prstDash val="solid"/>
          </a:ln>
        </p:spPr>
        <p:txBody>
          <a:bodyPr/>
          <a:lstStyle/>
          <a:p>
            <a:endParaRPr lang="zh-CN" altLang="en-US"/>
          </a:p>
        </p:txBody>
      </p:sp>
    </p:spTree>
    <p:extLst>
      <p:ext uri="{BB962C8B-B14F-4D97-AF65-F5344CB8AC3E}">
        <p14:creationId xmlns:p14="http://schemas.microsoft.com/office/powerpoint/2010/main" val="1643881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81" grpId="0"/>
      <p:bldP spid="8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DF56E-7A4E-5DB7-6749-0B2A513CB266}"/>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73A16D32-3AB2-F848-B498-86EB0BB528F8}"/>
              </a:ext>
            </a:extLst>
          </p:cNvPr>
          <p:cNvSpPr>
            <a:spLocks noGrp="1"/>
          </p:cNvSpPr>
          <p:nvPr/>
        </p:nvSpPr>
        <p:spPr>
          <a:xfrm>
            <a:off x="571500" y="409575"/>
            <a:ext cx="10953750" cy="762000"/>
          </a:xfrm>
          <a:prstGeom prst="rect">
            <a:avLst/>
          </a:prstGeom>
          <a:noFill/>
          <a:ln w="9525">
            <a:noFill/>
          </a:ln>
        </p:spPr>
        <p:txBody>
          <a:bodyPr>
            <a:noAutofit/>
          </a:bodyPr>
          <a:lstStyle/>
          <a:p>
            <a:pPr>
              <a:defRPr sz="3000" b="1">
                <a:solidFill>
                  <a:srgbClr val="12283B"/>
                </a:solidFill>
                <a:latin typeface="Arial"/>
                <a:ea typeface="Arial"/>
                <a:cs typeface="Arial"/>
              </a:defRPr>
            </a:pPr>
            <a:r>
              <a:rPr sz="3000" b="1" dirty="0">
                <a:solidFill>
                  <a:srgbClr val="12283B"/>
                </a:solidFill>
                <a:latin typeface="Arial"/>
                <a:ea typeface="Arial"/>
                <a:cs typeface="Arial"/>
              </a:rPr>
              <a:t>Task 2B   LLM-guided mission</a:t>
            </a:r>
            <a:r>
              <a:rPr lang="en-US" sz="3000" b="1" dirty="0">
                <a:solidFill>
                  <a:srgbClr val="12283B"/>
                </a:solidFill>
                <a:latin typeface="Arial"/>
                <a:ea typeface="Arial"/>
                <a:cs typeface="Arial"/>
              </a:rPr>
              <a:t>: Task flow</a:t>
            </a:r>
            <a:endParaRPr sz="3000" b="1" dirty="0">
              <a:solidFill>
                <a:srgbClr val="12283B"/>
              </a:solidFill>
              <a:latin typeface="Arial"/>
              <a:ea typeface="Arial"/>
              <a:cs typeface="Arial"/>
            </a:endParaRPr>
          </a:p>
        </p:txBody>
      </p:sp>
      <p:sp>
        <p:nvSpPr>
          <p:cNvPr id="3" name="Rectangle 2">
            <a:extLst>
              <a:ext uri="{FF2B5EF4-FFF2-40B4-BE49-F238E27FC236}">
                <a16:creationId xmlns:a16="http://schemas.microsoft.com/office/drawing/2014/main" id="{91130AB0-E96F-BC23-DD6C-E585667A8C3F}"/>
              </a:ext>
            </a:extLst>
          </p:cNvPr>
          <p:cNvSpPr>
            <a:spLocks noGrp="1"/>
          </p:cNvSpPr>
          <p:nvPr/>
        </p:nvSpPr>
        <p:spPr>
          <a:xfrm>
            <a:off x="11144250" y="6362700"/>
            <a:ext cx="571500" cy="238125"/>
          </a:xfrm>
          <a:prstGeom prst="rect">
            <a:avLst/>
          </a:prstGeom>
          <a:noFill/>
          <a:ln w="9525">
            <a:noFill/>
          </a:ln>
        </p:spPr>
        <p:txBody>
          <a:bodyPr>
            <a:noAutofit/>
          </a:bodyPr>
          <a:lstStyle/>
          <a:p>
            <a:pPr>
              <a:defRPr sz="1125" b="0">
                <a:solidFill>
                  <a:srgbClr val="4E6473"/>
                </a:solidFill>
                <a:latin typeface="Arial"/>
                <a:ea typeface="Arial"/>
                <a:cs typeface="Arial"/>
              </a:defRPr>
            </a:pPr>
            <a:r>
              <a:rPr sz="1125" b="0">
                <a:solidFill>
                  <a:srgbClr val="4E6473"/>
                </a:solidFill>
                <a:latin typeface="Arial"/>
                <a:ea typeface="Arial"/>
                <a:cs typeface="Arial"/>
              </a:rPr>
              <a:t>11</a:t>
            </a:r>
          </a:p>
        </p:txBody>
      </p:sp>
      <p:sp>
        <p:nvSpPr>
          <p:cNvPr id="25" name="Shape 2">
            <a:extLst>
              <a:ext uri="{FF2B5EF4-FFF2-40B4-BE49-F238E27FC236}">
                <a16:creationId xmlns:a16="http://schemas.microsoft.com/office/drawing/2014/main" id="{9D91BFC4-4A98-AE32-46A9-ED010BC6E45F}"/>
              </a:ext>
            </a:extLst>
          </p:cNvPr>
          <p:cNvSpPr/>
          <p:nvPr/>
        </p:nvSpPr>
        <p:spPr>
          <a:xfrm>
            <a:off x="502920" y="1033272"/>
            <a:ext cx="11155680" cy="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7" name="Rectangle 26">
            <a:extLst>
              <a:ext uri="{FF2B5EF4-FFF2-40B4-BE49-F238E27FC236}">
                <a16:creationId xmlns:a16="http://schemas.microsoft.com/office/drawing/2014/main" id="{94B0EF53-40FC-66D9-E6C1-4DFECB8755AA}"/>
              </a:ext>
            </a:extLst>
          </p:cNvPr>
          <p:cNvSpPr>
            <a:spLocks noGrp="1"/>
          </p:cNvSpPr>
          <p:nvPr/>
        </p:nvSpPr>
        <p:spPr>
          <a:xfrm>
            <a:off x="425450" y="1285876"/>
            <a:ext cx="11290300" cy="832374"/>
          </a:xfrm>
          <a:prstGeom prst="rect">
            <a:avLst/>
          </a:prstGeom>
          <a:noFill/>
          <a:ln w="9525">
            <a:noFill/>
          </a:ln>
        </p:spPr>
        <p:txBody>
          <a:bodyPr>
            <a:noAutofit/>
          </a:bodyPr>
          <a:lstStyle/>
          <a:p>
            <a:pPr algn="just">
              <a:spcAft>
                <a:spcPts val="600"/>
              </a:spcAft>
            </a:pPr>
            <a:r>
              <a:rPr lang="en-US" altLang="zh-CN" dirty="0"/>
              <a:t>In this task, the LLM acts as a high-level mission interpreter and planner. Its primary role is to understand the natural-language mission instruction and convert mission objectives and high-level constraints into a structured mission plan.</a:t>
            </a:r>
            <a:endParaRPr lang="en-US" altLang="zh-CN" sz="2000" dirty="0"/>
          </a:p>
        </p:txBody>
      </p:sp>
      <p:sp>
        <p:nvSpPr>
          <p:cNvPr id="29" name="Shape 13">
            <a:extLst>
              <a:ext uri="{FF2B5EF4-FFF2-40B4-BE49-F238E27FC236}">
                <a16:creationId xmlns:a16="http://schemas.microsoft.com/office/drawing/2014/main" id="{5D32A059-814B-36BE-DCF4-8F2CDEAE099A}"/>
              </a:ext>
            </a:extLst>
          </p:cNvPr>
          <p:cNvSpPr/>
          <p:nvPr/>
        </p:nvSpPr>
        <p:spPr>
          <a:xfrm>
            <a:off x="3480085" y="2345341"/>
            <a:ext cx="4743166" cy="2722845"/>
          </a:xfrm>
          <a:prstGeom prst="roundRect">
            <a:avLst>
              <a:gd name="adj" fmla="val 2500"/>
            </a:avLst>
          </a:prstGeom>
          <a:solidFill>
            <a:srgbClr val="FFF1E4"/>
          </a:solidFill>
          <a:ln w="15240">
            <a:solidFill>
              <a:srgbClr val="F0C69A"/>
            </a:solidFill>
            <a:prstDash val="solid"/>
          </a:ln>
        </p:spPr>
        <p:txBody>
          <a:bodyPr/>
          <a:lstStyle/>
          <a:p>
            <a:endParaRPr lang="zh-CN" altLang="en-US"/>
          </a:p>
        </p:txBody>
      </p:sp>
      <p:sp>
        <p:nvSpPr>
          <p:cNvPr id="31" name="Text 14">
            <a:extLst>
              <a:ext uri="{FF2B5EF4-FFF2-40B4-BE49-F238E27FC236}">
                <a16:creationId xmlns:a16="http://schemas.microsoft.com/office/drawing/2014/main" id="{38123249-AB32-33AB-CE54-A25B39E4A5D6}"/>
              </a:ext>
            </a:extLst>
          </p:cNvPr>
          <p:cNvSpPr/>
          <p:nvPr/>
        </p:nvSpPr>
        <p:spPr>
          <a:xfrm>
            <a:off x="3688964" y="2416136"/>
            <a:ext cx="1131129" cy="292608"/>
          </a:xfrm>
          <a:prstGeom prst="rect">
            <a:avLst/>
          </a:prstGeom>
          <a:noFill/>
          <a:ln/>
        </p:spPr>
        <p:txBody>
          <a:bodyPr wrap="square" lIns="0" tIns="0" rIns="0" bIns="0" rtlCol="0" anchor="ctr"/>
          <a:lstStyle/>
          <a:p>
            <a:pPr marL="0" indent="0">
              <a:buNone/>
            </a:pPr>
            <a:r>
              <a:rPr lang="en-US" sz="1600" b="1" dirty="0">
                <a:solidFill>
                  <a:srgbClr val="C97522"/>
                </a:solidFill>
              </a:rPr>
              <a:t>Edge Node</a:t>
            </a:r>
            <a:endParaRPr lang="en-US" sz="1600" dirty="0"/>
          </a:p>
        </p:txBody>
      </p:sp>
      <p:sp>
        <p:nvSpPr>
          <p:cNvPr id="33" name="Text 65">
            <a:extLst>
              <a:ext uri="{FF2B5EF4-FFF2-40B4-BE49-F238E27FC236}">
                <a16:creationId xmlns:a16="http://schemas.microsoft.com/office/drawing/2014/main" id="{CE6E322E-3D85-0776-18EF-C6F080791FB0}"/>
              </a:ext>
            </a:extLst>
          </p:cNvPr>
          <p:cNvSpPr/>
          <p:nvPr/>
        </p:nvSpPr>
        <p:spPr>
          <a:xfrm>
            <a:off x="8143750" y="4122322"/>
            <a:ext cx="1417320" cy="201168"/>
          </a:xfrm>
          <a:prstGeom prst="rect">
            <a:avLst/>
          </a:prstGeom>
          <a:noFill/>
          <a:ln/>
        </p:spPr>
        <p:txBody>
          <a:bodyPr wrap="square" lIns="0" tIns="0" rIns="0" bIns="0" rtlCol="0" anchor="ctr"/>
          <a:lstStyle/>
          <a:p>
            <a:pPr marL="0" indent="0" algn="ctr">
              <a:buNone/>
            </a:pPr>
            <a:r>
              <a:rPr lang="en-US" sz="1400" b="1" dirty="0">
                <a:solidFill>
                  <a:srgbClr val="2F6FB0"/>
                </a:solidFill>
              </a:rPr>
              <a:t>Task assignments</a:t>
            </a:r>
            <a:endParaRPr lang="en-US" sz="1400" dirty="0"/>
          </a:p>
        </p:txBody>
      </p:sp>
      <p:sp>
        <p:nvSpPr>
          <p:cNvPr id="35" name="Text 67">
            <a:extLst>
              <a:ext uri="{FF2B5EF4-FFF2-40B4-BE49-F238E27FC236}">
                <a16:creationId xmlns:a16="http://schemas.microsoft.com/office/drawing/2014/main" id="{FE31EE88-D929-9593-2436-D3805BF107E8}"/>
              </a:ext>
            </a:extLst>
          </p:cNvPr>
          <p:cNvSpPr/>
          <p:nvPr/>
        </p:nvSpPr>
        <p:spPr>
          <a:xfrm>
            <a:off x="8143750" y="3108703"/>
            <a:ext cx="1417320" cy="201168"/>
          </a:xfrm>
          <a:prstGeom prst="rect">
            <a:avLst/>
          </a:prstGeom>
          <a:noFill/>
          <a:ln/>
        </p:spPr>
        <p:txBody>
          <a:bodyPr wrap="square" lIns="0" tIns="0" rIns="0" bIns="0" rtlCol="0" anchor="ctr"/>
          <a:lstStyle/>
          <a:p>
            <a:pPr marL="0" indent="0" algn="ctr">
              <a:buNone/>
            </a:pPr>
            <a:r>
              <a:rPr lang="en-US" sz="1400" b="1" dirty="0">
                <a:solidFill>
                  <a:srgbClr val="2F8B57"/>
                </a:solidFill>
              </a:rPr>
              <a:t>State / progress</a:t>
            </a:r>
            <a:endParaRPr lang="en-US" sz="1400" dirty="0"/>
          </a:p>
        </p:txBody>
      </p:sp>
      <p:sp>
        <p:nvSpPr>
          <p:cNvPr id="39" name="Shape 40">
            <a:extLst>
              <a:ext uri="{FF2B5EF4-FFF2-40B4-BE49-F238E27FC236}">
                <a16:creationId xmlns:a16="http://schemas.microsoft.com/office/drawing/2014/main" id="{B27489EC-E393-94DC-C0AE-FAD057DA0EE4}"/>
              </a:ext>
            </a:extLst>
          </p:cNvPr>
          <p:cNvSpPr/>
          <p:nvPr/>
        </p:nvSpPr>
        <p:spPr>
          <a:xfrm>
            <a:off x="9481569" y="2480086"/>
            <a:ext cx="2110740" cy="2580947"/>
          </a:xfrm>
          <a:prstGeom prst="roundRect">
            <a:avLst>
              <a:gd name="adj" fmla="val 4118"/>
            </a:avLst>
          </a:prstGeom>
          <a:solidFill>
            <a:srgbClr val="F5FAF7"/>
          </a:solidFill>
          <a:ln w="15240">
            <a:solidFill>
              <a:srgbClr val="CFE5D6"/>
            </a:solidFill>
            <a:prstDash val="solid"/>
          </a:ln>
        </p:spPr>
        <p:txBody>
          <a:bodyPr/>
          <a:lstStyle/>
          <a:p>
            <a:endParaRPr lang="zh-CN" altLang="en-US"/>
          </a:p>
        </p:txBody>
      </p:sp>
      <p:sp>
        <p:nvSpPr>
          <p:cNvPr id="41" name="Text 41">
            <a:extLst>
              <a:ext uri="{FF2B5EF4-FFF2-40B4-BE49-F238E27FC236}">
                <a16:creationId xmlns:a16="http://schemas.microsoft.com/office/drawing/2014/main" id="{7B5F9924-0F1C-79D8-4B9B-5C42F9C355C8}"/>
              </a:ext>
            </a:extLst>
          </p:cNvPr>
          <p:cNvSpPr/>
          <p:nvPr/>
        </p:nvSpPr>
        <p:spPr>
          <a:xfrm>
            <a:off x="9568182" y="2576986"/>
            <a:ext cx="1576068" cy="256032"/>
          </a:xfrm>
          <a:prstGeom prst="rect">
            <a:avLst/>
          </a:prstGeom>
          <a:noFill/>
          <a:ln/>
        </p:spPr>
        <p:txBody>
          <a:bodyPr wrap="square" lIns="0" tIns="0" rIns="0" bIns="0" rtlCol="0" anchor="ctr"/>
          <a:lstStyle/>
          <a:p>
            <a:pPr marL="0" indent="0">
              <a:buNone/>
            </a:pPr>
            <a:r>
              <a:rPr lang="en-US" sz="1500" b="1" dirty="0">
                <a:solidFill>
                  <a:srgbClr val="2F8B57"/>
                </a:solidFill>
              </a:rPr>
              <a:t>Multiple Robots</a:t>
            </a:r>
            <a:endParaRPr lang="en-US" sz="1500" dirty="0"/>
          </a:p>
        </p:txBody>
      </p:sp>
      <p:pic>
        <p:nvPicPr>
          <p:cNvPr id="43" name="Picture 42">
            <a:extLst>
              <a:ext uri="{FF2B5EF4-FFF2-40B4-BE49-F238E27FC236}">
                <a16:creationId xmlns:a16="http://schemas.microsoft.com/office/drawing/2014/main" id="{DA0806BA-3CE9-9754-EAA7-AF5737CF4455}"/>
              </a:ext>
            </a:extLst>
          </p:cNvPr>
          <p:cNvPicPr>
            <a:picLocks noChangeAspect="1"/>
          </p:cNvPicPr>
          <p:nvPr/>
        </p:nvPicPr>
        <p:blipFill>
          <a:blip r:embed="rId3"/>
          <a:stretch>
            <a:fillRect/>
          </a:stretch>
        </p:blipFill>
        <p:spPr>
          <a:xfrm>
            <a:off x="9933777" y="3133173"/>
            <a:ext cx="495325" cy="552478"/>
          </a:xfrm>
          <a:prstGeom prst="rect">
            <a:avLst/>
          </a:prstGeom>
        </p:spPr>
      </p:pic>
      <p:pic>
        <p:nvPicPr>
          <p:cNvPr id="45" name="Picture 44">
            <a:extLst>
              <a:ext uri="{FF2B5EF4-FFF2-40B4-BE49-F238E27FC236}">
                <a16:creationId xmlns:a16="http://schemas.microsoft.com/office/drawing/2014/main" id="{F1DC4822-48EC-8A4A-ECF7-D5F099094146}"/>
              </a:ext>
            </a:extLst>
          </p:cNvPr>
          <p:cNvPicPr>
            <a:picLocks noChangeAspect="1"/>
          </p:cNvPicPr>
          <p:nvPr/>
        </p:nvPicPr>
        <p:blipFill>
          <a:blip r:embed="rId4"/>
          <a:stretch>
            <a:fillRect/>
          </a:stretch>
        </p:blipFill>
        <p:spPr>
          <a:xfrm>
            <a:off x="10623523" y="3100307"/>
            <a:ext cx="520727" cy="596931"/>
          </a:xfrm>
          <a:prstGeom prst="rect">
            <a:avLst/>
          </a:prstGeom>
        </p:spPr>
      </p:pic>
      <p:sp>
        <p:nvSpPr>
          <p:cNvPr id="47" name="Text 6">
            <a:extLst>
              <a:ext uri="{FF2B5EF4-FFF2-40B4-BE49-F238E27FC236}">
                <a16:creationId xmlns:a16="http://schemas.microsoft.com/office/drawing/2014/main" id="{3E0DB2A8-E79B-CD2C-647D-AA31CE920294}"/>
              </a:ext>
            </a:extLst>
          </p:cNvPr>
          <p:cNvSpPr/>
          <p:nvPr/>
        </p:nvSpPr>
        <p:spPr>
          <a:xfrm>
            <a:off x="9492742" y="4253957"/>
            <a:ext cx="2127758" cy="940755"/>
          </a:xfrm>
          <a:prstGeom prst="rect">
            <a:avLst/>
          </a:prstGeom>
          <a:noFill/>
          <a:ln/>
        </p:spPr>
        <p:txBody>
          <a:bodyPr wrap="square" lIns="254" tIns="254" rIns="254" bIns="254" rtlCol="0" anchor="ctr">
            <a:noAutofit/>
          </a:bodyPr>
          <a:lstStyle/>
          <a:p>
            <a:pPr algn="ctr"/>
            <a:r>
              <a:rPr lang="en-US" altLang="zh-CN" sz="1400" b="1" dirty="0">
                <a:solidFill>
                  <a:srgbClr val="183B66"/>
                </a:solidFill>
              </a:rPr>
              <a:t>Autonomous Navigation &amp; Rescue Execution</a:t>
            </a:r>
            <a:endParaRPr lang="en-US" altLang="zh-CN" sz="1400" dirty="0"/>
          </a:p>
        </p:txBody>
      </p:sp>
      <p:pic>
        <p:nvPicPr>
          <p:cNvPr id="49" name="Picture 48">
            <a:extLst>
              <a:ext uri="{FF2B5EF4-FFF2-40B4-BE49-F238E27FC236}">
                <a16:creationId xmlns:a16="http://schemas.microsoft.com/office/drawing/2014/main" id="{9CA4122C-C51D-8D90-ECE5-8BCCF3277458}"/>
              </a:ext>
            </a:extLst>
          </p:cNvPr>
          <p:cNvPicPr>
            <a:picLocks noChangeAspect="1"/>
          </p:cNvPicPr>
          <p:nvPr/>
        </p:nvPicPr>
        <p:blipFill>
          <a:blip r:embed="rId4"/>
          <a:stretch>
            <a:fillRect/>
          </a:stretch>
        </p:blipFill>
        <p:spPr>
          <a:xfrm>
            <a:off x="9908375" y="3726559"/>
            <a:ext cx="520727" cy="596931"/>
          </a:xfrm>
          <a:prstGeom prst="rect">
            <a:avLst/>
          </a:prstGeom>
        </p:spPr>
      </p:pic>
      <p:pic>
        <p:nvPicPr>
          <p:cNvPr id="51" name="Picture 50">
            <a:extLst>
              <a:ext uri="{FF2B5EF4-FFF2-40B4-BE49-F238E27FC236}">
                <a16:creationId xmlns:a16="http://schemas.microsoft.com/office/drawing/2014/main" id="{D176BF7C-7F3C-2ACD-A811-398DC15BCB63}"/>
              </a:ext>
            </a:extLst>
          </p:cNvPr>
          <p:cNvPicPr>
            <a:picLocks noChangeAspect="1"/>
          </p:cNvPicPr>
          <p:nvPr/>
        </p:nvPicPr>
        <p:blipFill>
          <a:blip r:embed="rId3"/>
          <a:stretch>
            <a:fillRect/>
          </a:stretch>
        </p:blipFill>
        <p:spPr>
          <a:xfrm>
            <a:off x="10623523" y="3760103"/>
            <a:ext cx="495325" cy="552478"/>
          </a:xfrm>
          <a:prstGeom prst="rect">
            <a:avLst/>
          </a:prstGeom>
        </p:spPr>
      </p:pic>
      <p:sp>
        <p:nvSpPr>
          <p:cNvPr id="53" name="Shape 66">
            <a:extLst>
              <a:ext uri="{FF2B5EF4-FFF2-40B4-BE49-F238E27FC236}">
                <a16:creationId xmlns:a16="http://schemas.microsoft.com/office/drawing/2014/main" id="{14432301-D16F-1A66-FF99-90786FB41A61}"/>
              </a:ext>
            </a:extLst>
          </p:cNvPr>
          <p:cNvSpPr/>
          <p:nvPr/>
        </p:nvSpPr>
        <p:spPr>
          <a:xfrm rot="16200000">
            <a:off x="8665051" y="3119274"/>
            <a:ext cx="276098" cy="725935"/>
          </a:xfrm>
          <a:prstGeom prst="upArrow">
            <a:avLst/>
          </a:prstGeom>
          <a:solidFill>
            <a:srgbClr val="2F8B57"/>
          </a:solidFill>
          <a:ln w="12700">
            <a:solidFill>
              <a:srgbClr val="2F8B57"/>
            </a:solidFill>
            <a:prstDash val="solid"/>
          </a:ln>
        </p:spPr>
        <p:txBody>
          <a:bodyPr/>
          <a:lstStyle/>
          <a:p>
            <a:endParaRPr lang="zh-CN" altLang="en-US"/>
          </a:p>
        </p:txBody>
      </p:sp>
      <p:sp>
        <p:nvSpPr>
          <p:cNvPr id="55" name="Shape 64">
            <a:extLst>
              <a:ext uri="{FF2B5EF4-FFF2-40B4-BE49-F238E27FC236}">
                <a16:creationId xmlns:a16="http://schemas.microsoft.com/office/drawing/2014/main" id="{C4F6C82D-3D5E-E2FC-70CE-2962EBC1A289}"/>
              </a:ext>
            </a:extLst>
          </p:cNvPr>
          <p:cNvSpPr/>
          <p:nvPr/>
        </p:nvSpPr>
        <p:spPr>
          <a:xfrm rot="16200000">
            <a:off x="8696344" y="3574505"/>
            <a:ext cx="312132" cy="727966"/>
          </a:xfrm>
          <a:prstGeom prst="downArrow">
            <a:avLst>
              <a:gd name="adj1" fmla="val 50000"/>
              <a:gd name="adj2" fmla="val 50000"/>
            </a:avLst>
          </a:prstGeom>
          <a:solidFill>
            <a:srgbClr val="FFF1E4"/>
          </a:solidFill>
          <a:ln w="12700">
            <a:solidFill>
              <a:srgbClr val="2F6FB0"/>
            </a:solidFill>
            <a:prstDash val="solid"/>
          </a:ln>
        </p:spPr>
        <p:txBody>
          <a:bodyPr/>
          <a:lstStyle/>
          <a:p>
            <a:endParaRPr lang="zh-CN" altLang="en-US"/>
          </a:p>
        </p:txBody>
      </p:sp>
      <p:sp>
        <p:nvSpPr>
          <p:cNvPr id="57" name="Rounded Rectangle 4">
            <a:extLst>
              <a:ext uri="{FF2B5EF4-FFF2-40B4-BE49-F238E27FC236}">
                <a16:creationId xmlns:a16="http://schemas.microsoft.com/office/drawing/2014/main" id="{92571EF4-6FFB-0626-F39C-E6C3F91AA22B}"/>
              </a:ext>
            </a:extLst>
          </p:cNvPr>
          <p:cNvSpPr/>
          <p:nvPr/>
        </p:nvSpPr>
        <p:spPr>
          <a:xfrm>
            <a:off x="502920" y="2429627"/>
            <a:ext cx="1874519" cy="1058570"/>
          </a:xfrm>
          <a:prstGeom prst="roundRect">
            <a:avLst/>
          </a:prstGeom>
          <a:solidFill>
            <a:srgbClr val="EFF7FE"/>
          </a:solidFill>
          <a:ln w="15240">
            <a:solidFill>
              <a:srgbClr val="A5C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a:extLst>
              <a:ext uri="{FF2B5EF4-FFF2-40B4-BE49-F238E27FC236}">
                <a16:creationId xmlns:a16="http://schemas.microsoft.com/office/drawing/2014/main" id="{51F5C59B-35E5-A02A-2830-64AA65B0A5CA}"/>
              </a:ext>
            </a:extLst>
          </p:cNvPr>
          <p:cNvSpPr txBox="1"/>
          <p:nvPr/>
        </p:nvSpPr>
        <p:spPr>
          <a:xfrm>
            <a:off x="502920" y="2491706"/>
            <a:ext cx="1116703" cy="353943"/>
          </a:xfrm>
          <a:prstGeom prst="rect">
            <a:avLst/>
          </a:prstGeom>
          <a:noFill/>
        </p:spPr>
        <p:txBody>
          <a:bodyPr wrap="square" anchor="ctr">
            <a:spAutoFit/>
          </a:bodyPr>
          <a:lstStyle/>
          <a:p>
            <a:pPr algn="ctr"/>
            <a:r>
              <a:rPr sz="1600" b="1" dirty="0">
                <a:solidFill>
                  <a:srgbClr val="152F46"/>
                </a:solidFill>
                <a:latin typeface="Aptos"/>
              </a:rPr>
              <a:t>Operator</a:t>
            </a:r>
            <a:r>
              <a:rPr sz="1700" b="1" dirty="0">
                <a:solidFill>
                  <a:srgbClr val="152F46"/>
                </a:solidFill>
                <a:latin typeface="Aptos"/>
              </a:rPr>
              <a:t> </a:t>
            </a:r>
          </a:p>
        </p:txBody>
      </p:sp>
      <p:sp>
        <p:nvSpPr>
          <p:cNvPr id="61" name="TextBox 60">
            <a:extLst>
              <a:ext uri="{FF2B5EF4-FFF2-40B4-BE49-F238E27FC236}">
                <a16:creationId xmlns:a16="http://schemas.microsoft.com/office/drawing/2014/main" id="{6C763910-9940-F510-5915-DD166785F88D}"/>
              </a:ext>
            </a:extLst>
          </p:cNvPr>
          <p:cNvSpPr txBox="1"/>
          <p:nvPr/>
        </p:nvSpPr>
        <p:spPr>
          <a:xfrm>
            <a:off x="683178" y="2835419"/>
            <a:ext cx="1594667" cy="523220"/>
          </a:xfrm>
          <a:prstGeom prst="rect">
            <a:avLst/>
          </a:prstGeom>
          <a:noFill/>
        </p:spPr>
        <p:txBody>
          <a:bodyPr wrap="none" anchor="ctr">
            <a:spAutoFit/>
          </a:bodyPr>
          <a:lstStyle/>
          <a:p>
            <a:pPr algn="ctr"/>
            <a:r>
              <a:rPr sz="1400" b="1" dirty="0">
                <a:solidFill>
                  <a:srgbClr val="232323"/>
                </a:solidFill>
                <a:latin typeface="Aptos"/>
              </a:rPr>
              <a:t>Natural-language
mission input</a:t>
            </a:r>
          </a:p>
        </p:txBody>
      </p:sp>
      <p:sp>
        <p:nvSpPr>
          <p:cNvPr id="63" name="Shape 64">
            <a:extLst>
              <a:ext uri="{FF2B5EF4-FFF2-40B4-BE49-F238E27FC236}">
                <a16:creationId xmlns:a16="http://schemas.microsoft.com/office/drawing/2014/main" id="{489871F5-2381-5B0D-AAE4-9DC4AE341736}"/>
              </a:ext>
            </a:extLst>
          </p:cNvPr>
          <p:cNvSpPr/>
          <p:nvPr/>
        </p:nvSpPr>
        <p:spPr>
          <a:xfrm rot="16200000">
            <a:off x="2772696" y="2573385"/>
            <a:ext cx="312132" cy="727966"/>
          </a:xfrm>
          <a:prstGeom prst="downArrow">
            <a:avLst>
              <a:gd name="adj1" fmla="val 50000"/>
              <a:gd name="adj2" fmla="val 50000"/>
            </a:avLst>
          </a:prstGeom>
          <a:solidFill>
            <a:schemeClr val="tx2">
              <a:lumMod val="10000"/>
              <a:lumOff val="90000"/>
            </a:schemeClr>
          </a:solidFill>
          <a:ln w="12700">
            <a:solidFill>
              <a:srgbClr val="2F6FB0"/>
            </a:solidFill>
            <a:prstDash val="solid"/>
          </a:ln>
        </p:spPr>
        <p:txBody>
          <a:bodyPr/>
          <a:lstStyle/>
          <a:p>
            <a:endParaRPr lang="zh-CN" altLang="en-US"/>
          </a:p>
        </p:txBody>
      </p:sp>
      <p:sp>
        <p:nvSpPr>
          <p:cNvPr id="65" name="Rounded Rectangle 12">
            <a:extLst>
              <a:ext uri="{FF2B5EF4-FFF2-40B4-BE49-F238E27FC236}">
                <a16:creationId xmlns:a16="http://schemas.microsoft.com/office/drawing/2014/main" id="{ECBD4D27-45D5-4355-375F-8A0879A71EB8}"/>
              </a:ext>
            </a:extLst>
          </p:cNvPr>
          <p:cNvSpPr/>
          <p:nvPr/>
        </p:nvSpPr>
        <p:spPr>
          <a:xfrm>
            <a:off x="3601164" y="2759587"/>
            <a:ext cx="4445685" cy="931024"/>
          </a:xfrm>
          <a:prstGeom prst="roundRect">
            <a:avLst/>
          </a:prstGeom>
          <a:solidFill>
            <a:srgbClr val="FFFFFF"/>
          </a:solidFill>
          <a:ln w="15240">
            <a:solidFill>
              <a:srgbClr val="E5B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a:extLst>
              <a:ext uri="{FF2B5EF4-FFF2-40B4-BE49-F238E27FC236}">
                <a16:creationId xmlns:a16="http://schemas.microsoft.com/office/drawing/2014/main" id="{D34B3CB5-C096-31D2-BDBE-D528944FC152}"/>
              </a:ext>
            </a:extLst>
          </p:cNvPr>
          <p:cNvSpPr txBox="1"/>
          <p:nvPr/>
        </p:nvSpPr>
        <p:spPr>
          <a:xfrm>
            <a:off x="3652994" y="2823481"/>
            <a:ext cx="2382832" cy="338554"/>
          </a:xfrm>
          <a:prstGeom prst="rect">
            <a:avLst/>
          </a:prstGeom>
          <a:noFill/>
        </p:spPr>
        <p:txBody>
          <a:bodyPr wrap="none" anchor="ctr">
            <a:spAutoFit/>
          </a:bodyPr>
          <a:lstStyle/>
          <a:p>
            <a:pPr algn="l"/>
            <a:r>
              <a:rPr sz="1600" b="1" dirty="0">
                <a:solidFill>
                  <a:srgbClr val="744718"/>
                </a:solidFill>
                <a:latin typeface="Aptos"/>
              </a:rPr>
              <a:t>LLM Mission Interpreter</a:t>
            </a:r>
          </a:p>
        </p:txBody>
      </p:sp>
      <p:sp>
        <p:nvSpPr>
          <p:cNvPr id="69" name="TextBox 68">
            <a:extLst>
              <a:ext uri="{FF2B5EF4-FFF2-40B4-BE49-F238E27FC236}">
                <a16:creationId xmlns:a16="http://schemas.microsoft.com/office/drawing/2014/main" id="{D1056ED9-F546-D79D-63ED-5EE8A625064F}"/>
              </a:ext>
            </a:extLst>
          </p:cNvPr>
          <p:cNvSpPr txBox="1"/>
          <p:nvPr/>
        </p:nvSpPr>
        <p:spPr>
          <a:xfrm>
            <a:off x="3616529" y="3167390"/>
            <a:ext cx="4558427" cy="523220"/>
          </a:xfrm>
          <a:prstGeom prst="rect">
            <a:avLst/>
          </a:prstGeom>
          <a:noFill/>
        </p:spPr>
        <p:txBody>
          <a:bodyPr wrap="none" anchor="t">
            <a:spAutoFit/>
          </a:bodyPr>
          <a:lstStyle/>
          <a:p>
            <a:pPr algn="l"/>
            <a:r>
              <a:rPr sz="1400" dirty="0">
                <a:solidFill>
                  <a:srgbClr val="2D2D2D"/>
                </a:solidFill>
                <a:latin typeface="Aptos"/>
              </a:rPr>
              <a:t>Interpret instruction</a:t>
            </a:r>
            <a:r>
              <a:rPr lang="zh-CN" altLang="en-US" sz="1400" dirty="0">
                <a:solidFill>
                  <a:srgbClr val="2D2D2D"/>
                </a:solidFill>
                <a:latin typeface="Aptos"/>
              </a:rPr>
              <a:t>，</a:t>
            </a:r>
            <a:r>
              <a:rPr sz="1400" dirty="0">
                <a:solidFill>
                  <a:srgbClr val="2D2D2D"/>
                </a:solidFill>
                <a:latin typeface="Aptos"/>
              </a:rPr>
              <a:t>Extract objectives &amp; constraints</a:t>
            </a:r>
            <a:r>
              <a:rPr lang="zh-CN" altLang="en-US" sz="1400" dirty="0">
                <a:solidFill>
                  <a:srgbClr val="2D2D2D"/>
                </a:solidFill>
                <a:latin typeface="Aptos"/>
              </a:rPr>
              <a:t>，</a:t>
            </a:r>
            <a:r>
              <a:rPr sz="1400" dirty="0">
                <a:solidFill>
                  <a:srgbClr val="2D2D2D"/>
                </a:solidFill>
                <a:latin typeface="Aptos"/>
              </a:rPr>
              <a:t>
Generate a structured mission plan</a:t>
            </a:r>
          </a:p>
        </p:txBody>
      </p:sp>
      <p:sp>
        <p:nvSpPr>
          <p:cNvPr id="71" name="Rounded Rectangle 12">
            <a:extLst>
              <a:ext uri="{FF2B5EF4-FFF2-40B4-BE49-F238E27FC236}">
                <a16:creationId xmlns:a16="http://schemas.microsoft.com/office/drawing/2014/main" id="{44E27B78-4206-64C8-4214-43ACF021C43A}"/>
              </a:ext>
            </a:extLst>
          </p:cNvPr>
          <p:cNvSpPr/>
          <p:nvPr/>
        </p:nvSpPr>
        <p:spPr>
          <a:xfrm>
            <a:off x="3601164" y="4087572"/>
            <a:ext cx="4445685" cy="931024"/>
          </a:xfrm>
          <a:prstGeom prst="roundRect">
            <a:avLst/>
          </a:prstGeom>
          <a:solidFill>
            <a:srgbClr val="FFFFFF"/>
          </a:solidFill>
          <a:ln w="15240">
            <a:solidFill>
              <a:srgbClr val="E5B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a:extLst>
              <a:ext uri="{FF2B5EF4-FFF2-40B4-BE49-F238E27FC236}">
                <a16:creationId xmlns:a16="http://schemas.microsoft.com/office/drawing/2014/main" id="{FF54C80D-B289-7E36-BD67-0B60B08246BC}"/>
              </a:ext>
            </a:extLst>
          </p:cNvPr>
          <p:cNvSpPr txBox="1"/>
          <p:nvPr/>
        </p:nvSpPr>
        <p:spPr>
          <a:xfrm>
            <a:off x="3616529" y="4167293"/>
            <a:ext cx="2453107" cy="338554"/>
          </a:xfrm>
          <a:prstGeom prst="rect">
            <a:avLst/>
          </a:prstGeom>
          <a:noFill/>
        </p:spPr>
        <p:txBody>
          <a:bodyPr wrap="none" anchor="ctr">
            <a:spAutoFit/>
          </a:bodyPr>
          <a:lstStyle/>
          <a:p>
            <a:pPr algn="l"/>
            <a:r>
              <a:rPr lang="en-US" altLang="zh-CN" sz="1600" b="1" dirty="0">
                <a:solidFill>
                  <a:srgbClr val="744718"/>
                </a:solidFill>
                <a:latin typeface="Aptos"/>
              </a:rPr>
              <a:t>Multi-Robot Coordinator</a:t>
            </a:r>
            <a:endParaRPr sz="1600" b="1" dirty="0">
              <a:solidFill>
                <a:srgbClr val="744718"/>
              </a:solidFill>
              <a:latin typeface="Aptos"/>
            </a:endParaRPr>
          </a:p>
        </p:txBody>
      </p:sp>
      <p:sp>
        <p:nvSpPr>
          <p:cNvPr id="75" name="TextBox 74">
            <a:extLst>
              <a:ext uri="{FF2B5EF4-FFF2-40B4-BE49-F238E27FC236}">
                <a16:creationId xmlns:a16="http://schemas.microsoft.com/office/drawing/2014/main" id="{9B2826BA-0D70-A86B-66FF-C3BCE68E343D}"/>
              </a:ext>
            </a:extLst>
          </p:cNvPr>
          <p:cNvSpPr txBox="1"/>
          <p:nvPr/>
        </p:nvSpPr>
        <p:spPr>
          <a:xfrm>
            <a:off x="3652994" y="4495376"/>
            <a:ext cx="4533677" cy="523220"/>
          </a:xfrm>
          <a:prstGeom prst="rect">
            <a:avLst/>
          </a:prstGeom>
          <a:noFill/>
        </p:spPr>
        <p:txBody>
          <a:bodyPr wrap="none" anchor="t">
            <a:spAutoFit/>
          </a:bodyPr>
          <a:lstStyle/>
          <a:p>
            <a:r>
              <a:rPr lang="en-US" altLang="zh-CN" sz="1400" dirty="0">
                <a:solidFill>
                  <a:srgbClr val="2D2D2D"/>
                </a:solidFill>
                <a:latin typeface="Aptos"/>
              </a:rPr>
              <a:t>Execution planning </a:t>
            </a:r>
            <a:r>
              <a:rPr lang="zh-CN" altLang="en-US" sz="1400" dirty="0">
                <a:solidFill>
                  <a:srgbClr val="2D2D2D"/>
                </a:solidFill>
                <a:latin typeface="Aptos"/>
              </a:rPr>
              <a:t>，</a:t>
            </a:r>
            <a:r>
              <a:rPr lang="en-US" altLang="zh-CN" sz="1400" dirty="0">
                <a:solidFill>
                  <a:srgbClr val="2D2D2D"/>
                </a:solidFill>
                <a:latin typeface="Aptos"/>
              </a:rPr>
              <a:t>Robot allocation</a:t>
            </a:r>
            <a:r>
              <a:rPr lang="zh-CN" altLang="en-US" sz="1400" dirty="0">
                <a:solidFill>
                  <a:srgbClr val="2D2D2D"/>
                </a:solidFill>
                <a:latin typeface="Aptos"/>
              </a:rPr>
              <a:t>，</a:t>
            </a:r>
            <a:r>
              <a:rPr lang="en-US" altLang="zh-CN" sz="1400" dirty="0">
                <a:solidFill>
                  <a:srgbClr val="2D2D2D"/>
                </a:solidFill>
                <a:latin typeface="Aptos"/>
              </a:rPr>
              <a:t>Coordination</a:t>
            </a:r>
            <a:r>
              <a:rPr lang="zh-CN" altLang="en-US" sz="1400" dirty="0">
                <a:solidFill>
                  <a:srgbClr val="2D2D2D"/>
                </a:solidFill>
                <a:latin typeface="Aptos"/>
              </a:rPr>
              <a:t>，</a:t>
            </a:r>
            <a:endParaRPr lang="en-US" altLang="zh-CN" sz="1400" dirty="0">
              <a:solidFill>
                <a:srgbClr val="2D2D2D"/>
              </a:solidFill>
              <a:latin typeface="Aptos"/>
            </a:endParaRPr>
          </a:p>
          <a:p>
            <a:r>
              <a:rPr lang="en-US" altLang="zh-CN" sz="1400" dirty="0">
                <a:solidFill>
                  <a:srgbClr val="2D2D2D"/>
                </a:solidFill>
                <a:latin typeface="Aptos"/>
              </a:rPr>
              <a:t>Global state management</a:t>
            </a:r>
          </a:p>
        </p:txBody>
      </p:sp>
      <p:sp>
        <p:nvSpPr>
          <p:cNvPr id="77" name="Down Arrow 15">
            <a:extLst>
              <a:ext uri="{FF2B5EF4-FFF2-40B4-BE49-F238E27FC236}">
                <a16:creationId xmlns:a16="http://schemas.microsoft.com/office/drawing/2014/main" id="{FD56C035-13B3-9EFE-06DF-97CD92129657}"/>
              </a:ext>
            </a:extLst>
          </p:cNvPr>
          <p:cNvSpPr/>
          <p:nvPr/>
        </p:nvSpPr>
        <p:spPr>
          <a:xfrm>
            <a:off x="5663800" y="3770331"/>
            <a:ext cx="256032" cy="256032"/>
          </a:xfrm>
          <a:prstGeom prst="downArrow">
            <a:avLst/>
          </a:prstGeom>
          <a:solidFill>
            <a:srgbClr val="C46914"/>
          </a:solidFill>
          <a:ln>
            <a:solidFill>
              <a:srgbClr val="C469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a:extLst>
              <a:ext uri="{FF2B5EF4-FFF2-40B4-BE49-F238E27FC236}">
                <a16:creationId xmlns:a16="http://schemas.microsoft.com/office/drawing/2014/main" id="{E3281391-8EC6-39B4-1A99-B49E5280097F}"/>
              </a:ext>
            </a:extLst>
          </p:cNvPr>
          <p:cNvSpPr txBox="1"/>
          <p:nvPr/>
        </p:nvSpPr>
        <p:spPr>
          <a:xfrm>
            <a:off x="5919832" y="3755654"/>
            <a:ext cx="1828800" cy="256032"/>
          </a:xfrm>
          <a:prstGeom prst="rect">
            <a:avLst/>
          </a:prstGeom>
          <a:noFill/>
        </p:spPr>
        <p:txBody>
          <a:bodyPr wrap="none" anchor="ctr">
            <a:spAutoFit/>
          </a:bodyPr>
          <a:lstStyle/>
          <a:p>
            <a:pPr algn="l"/>
            <a:r>
              <a:rPr sz="1120" b="1" dirty="0">
                <a:solidFill>
                  <a:srgbClr val="C46914"/>
                </a:solidFill>
                <a:latin typeface="Aptos"/>
              </a:rPr>
              <a:t>Structured mission plan</a:t>
            </a:r>
          </a:p>
        </p:txBody>
      </p:sp>
      <p:sp>
        <p:nvSpPr>
          <p:cNvPr id="84" name="Rounded Rectangle 4">
            <a:extLst>
              <a:ext uri="{FF2B5EF4-FFF2-40B4-BE49-F238E27FC236}">
                <a16:creationId xmlns:a16="http://schemas.microsoft.com/office/drawing/2014/main" id="{9D1E0FE9-429F-7904-6A59-7B5DF44B52F3}"/>
              </a:ext>
            </a:extLst>
          </p:cNvPr>
          <p:cNvSpPr/>
          <p:nvPr/>
        </p:nvSpPr>
        <p:spPr>
          <a:xfrm>
            <a:off x="914144" y="4038121"/>
            <a:ext cx="1456214" cy="774148"/>
          </a:xfrm>
          <a:prstGeom prst="roundRect">
            <a:avLst/>
          </a:prstGeom>
          <a:solidFill>
            <a:schemeClr val="accent2">
              <a:lumMod val="60000"/>
              <a:lumOff val="40000"/>
            </a:schemeClr>
          </a:solidFill>
          <a:ln w="15240">
            <a:solidFill>
              <a:srgbClr val="A5C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a:extLst>
              <a:ext uri="{FF2B5EF4-FFF2-40B4-BE49-F238E27FC236}">
                <a16:creationId xmlns:a16="http://schemas.microsoft.com/office/drawing/2014/main" id="{D7AEB385-4A97-3C8A-5696-63E6C15B371A}"/>
              </a:ext>
            </a:extLst>
          </p:cNvPr>
          <p:cNvSpPr txBox="1"/>
          <p:nvPr/>
        </p:nvSpPr>
        <p:spPr>
          <a:xfrm>
            <a:off x="1062249" y="4159491"/>
            <a:ext cx="1142299" cy="523220"/>
          </a:xfrm>
          <a:prstGeom prst="rect">
            <a:avLst/>
          </a:prstGeom>
          <a:noFill/>
        </p:spPr>
        <p:txBody>
          <a:bodyPr wrap="none" anchor="ctr">
            <a:spAutoFit/>
          </a:bodyPr>
          <a:lstStyle/>
          <a:p>
            <a:pPr algn="ctr"/>
            <a:r>
              <a:rPr lang="en-US" altLang="zh-CN" sz="1400" b="1" dirty="0">
                <a:solidFill>
                  <a:srgbClr val="232323"/>
                </a:solidFill>
                <a:latin typeface="Aptos"/>
              </a:rPr>
              <a:t>Retained </a:t>
            </a:r>
          </a:p>
          <a:p>
            <a:pPr algn="ctr"/>
            <a:r>
              <a:rPr lang="en-US" altLang="zh-CN" sz="1400" b="1" dirty="0">
                <a:solidFill>
                  <a:srgbClr val="232323"/>
                </a:solidFill>
                <a:latin typeface="Aptos"/>
              </a:rPr>
              <a:t>information</a:t>
            </a:r>
            <a:endParaRPr sz="1400" b="1" dirty="0">
              <a:solidFill>
                <a:srgbClr val="232323"/>
              </a:solidFill>
              <a:latin typeface="Aptos"/>
            </a:endParaRPr>
          </a:p>
        </p:txBody>
      </p:sp>
      <p:sp>
        <p:nvSpPr>
          <p:cNvPr id="90" name="Shape 64">
            <a:extLst>
              <a:ext uri="{FF2B5EF4-FFF2-40B4-BE49-F238E27FC236}">
                <a16:creationId xmlns:a16="http://schemas.microsoft.com/office/drawing/2014/main" id="{170ED645-0B33-AB31-F410-F1DF8E5F8438}"/>
              </a:ext>
            </a:extLst>
          </p:cNvPr>
          <p:cNvSpPr/>
          <p:nvPr/>
        </p:nvSpPr>
        <p:spPr>
          <a:xfrm rot="16200000">
            <a:off x="2724815" y="4046040"/>
            <a:ext cx="312132" cy="727966"/>
          </a:xfrm>
          <a:prstGeom prst="downArrow">
            <a:avLst>
              <a:gd name="adj1" fmla="val 50000"/>
              <a:gd name="adj2" fmla="val 50000"/>
            </a:avLst>
          </a:prstGeom>
          <a:solidFill>
            <a:schemeClr val="accent2">
              <a:lumMod val="60000"/>
              <a:lumOff val="40000"/>
            </a:schemeClr>
          </a:solidFill>
          <a:ln w="12700">
            <a:solidFill>
              <a:srgbClr val="2F6FB0"/>
            </a:solidFill>
            <a:prstDash val="solid"/>
          </a:ln>
        </p:spPr>
        <p:txBody>
          <a:bodyPr/>
          <a:lstStyle/>
          <a:p>
            <a:endParaRPr lang="zh-CN" altLang="en-US"/>
          </a:p>
        </p:txBody>
      </p:sp>
      <p:sp>
        <p:nvSpPr>
          <p:cNvPr id="4" name="TextBox 3">
            <a:extLst>
              <a:ext uri="{FF2B5EF4-FFF2-40B4-BE49-F238E27FC236}">
                <a16:creationId xmlns:a16="http://schemas.microsoft.com/office/drawing/2014/main" id="{35752CDE-FC9B-7C3D-61B0-9827389F87A9}"/>
              </a:ext>
            </a:extLst>
          </p:cNvPr>
          <p:cNvSpPr txBox="1"/>
          <p:nvPr/>
        </p:nvSpPr>
        <p:spPr>
          <a:xfrm>
            <a:off x="434339" y="5202173"/>
            <a:ext cx="2011680" cy="320040"/>
          </a:xfrm>
          <a:prstGeom prst="rect">
            <a:avLst/>
          </a:prstGeom>
          <a:noFill/>
        </p:spPr>
        <p:txBody>
          <a:bodyPr wrap="square" anchor="t">
            <a:spAutoFit/>
          </a:bodyPr>
          <a:lstStyle/>
          <a:p>
            <a:pPr algn="l"/>
            <a:r>
              <a:rPr sz="1750" b="1" dirty="0">
                <a:solidFill>
                  <a:srgbClr val="173047"/>
                </a:solidFill>
                <a:latin typeface="Aptos"/>
              </a:rPr>
              <a:t>Simple Example</a:t>
            </a:r>
          </a:p>
        </p:txBody>
      </p:sp>
      <p:sp>
        <p:nvSpPr>
          <p:cNvPr id="6" name="Rounded Rectangle 11">
            <a:extLst>
              <a:ext uri="{FF2B5EF4-FFF2-40B4-BE49-F238E27FC236}">
                <a16:creationId xmlns:a16="http://schemas.microsoft.com/office/drawing/2014/main" id="{141BDC30-A72A-2106-1750-4B8680561C55}"/>
              </a:ext>
            </a:extLst>
          </p:cNvPr>
          <p:cNvSpPr/>
          <p:nvPr/>
        </p:nvSpPr>
        <p:spPr>
          <a:xfrm>
            <a:off x="562919" y="5637861"/>
            <a:ext cx="2971800" cy="1078992"/>
          </a:xfrm>
          <a:prstGeom prst="roundRect">
            <a:avLst/>
          </a:prstGeom>
          <a:solidFill>
            <a:srgbClr val="F2F7FC"/>
          </a:solidFill>
          <a:ln w="15240">
            <a:solidFill>
              <a:srgbClr val="B6C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8BA14C67-1ADE-AFF2-737F-F878AEFA4F97}"/>
              </a:ext>
            </a:extLst>
          </p:cNvPr>
          <p:cNvSpPr txBox="1"/>
          <p:nvPr/>
        </p:nvSpPr>
        <p:spPr>
          <a:xfrm>
            <a:off x="745799" y="5775021"/>
            <a:ext cx="2606040" cy="338554"/>
          </a:xfrm>
          <a:prstGeom prst="rect">
            <a:avLst/>
          </a:prstGeom>
          <a:noFill/>
        </p:spPr>
        <p:txBody>
          <a:bodyPr wrap="square" anchor="t">
            <a:spAutoFit/>
          </a:bodyPr>
          <a:lstStyle/>
          <a:p>
            <a:pPr algn="ctr"/>
            <a:r>
              <a:rPr sz="1600" b="1" dirty="0">
                <a:solidFill>
                  <a:srgbClr val="306AA7"/>
                </a:solidFill>
                <a:latin typeface="Aptos"/>
              </a:rPr>
              <a:t>Natural-language mission</a:t>
            </a:r>
          </a:p>
        </p:txBody>
      </p:sp>
      <p:sp>
        <p:nvSpPr>
          <p:cNvPr id="10" name="TextBox 9">
            <a:extLst>
              <a:ext uri="{FF2B5EF4-FFF2-40B4-BE49-F238E27FC236}">
                <a16:creationId xmlns:a16="http://schemas.microsoft.com/office/drawing/2014/main" id="{7DBBD5DC-A202-87AF-33A2-84A59563C5E9}"/>
              </a:ext>
            </a:extLst>
          </p:cNvPr>
          <p:cNvSpPr txBox="1"/>
          <p:nvPr/>
        </p:nvSpPr>
        <p:spPr>
          <a:xfrm>
            <a:off x="658931" y="6070765"/>
            <a:ext cx="2779776" cy="523220"/>
          </a:xfrm>
          <a:prstGeom prst="rect">
            <a:avLst/>
          </a:prstGeom>
          <a:noFill/>
        </p:spPr>
        <p:txBody>
          <a:bodyPr wrap="square" anchor="ctr">
            <a:spAutoFit/>
          </a:bodyPr>
          <a:lstStyle/>
          <a:p>
            <a:pPr algn="ctr"/>
            <a:r>
              <a:rPr sz="1400" b="0" dirty="0">
                <a:solidFill>
                  <a:srgbClr val="232323"/>
                </a:solidFill>
                <a:latin typeface="Aptos"/>
              </a:rPr>
              <a:t>“Rescue T2 first. Then T1 and T3.
Complete TC1 last.”</a:t>
            </a:r>
          </a:p>
        </p:txBody>
      </p:sp>
      <p:sp>
        <p:nvSpPr>
          <p:cNvPr id="12" name="Chevron 14">
            <a:extLst>
              <a:ext uri="{FF2B5EF4-FFF2-40B4-BE49-F238E27FC236}">
                <a16:creationId xmlns:a16="http://schemas.microsoft.com/office/drawing/2014/main" id="{3E214267-1A11-70DF-E381-7140E3805BD8}"/>
              </a:ext>
            </a:extLst>
          </p:cNvPr>
          <p:cNvSpPr/>
          <p:nvPr/>
        </p:nvSpPr>
        <p:spPr>
          <a:xfrm>
            <a:off x="3653591" y="5930469"/>
            <a:ext cx="502920" cy="384048"/>
          </a:xfrm>
          <a:prstGeom prst="chevron">
            <a:avLst/>
          </a:prstGeom>
          <a:solidFill>
            <a:srgbClr val="306AA7"/>
          </a:solidFill>
          <a:ln>
            <a:solidFill>
              <a:srgbClr val="306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5">
            <a:extLst>
              <a:ext uri="{FF2B5EF4-FFF2-40B4-BE49-F238E27FC236}">
                <a16:creationId xmlns:a16="http://schemas.microsoft.com/office/drawing/2014/main" id="{E2CDB599-C742-5BFB-92C8-5CBCFD977BDF}"/>
              </a:ext>
            </a:extLst>
          </p:cNvPr>
          <p:cNvSpPr/>
          <p:nvPr/>
        </p:nvSpPr>
        <p:spPr>
          <a:xfrm>
            <a:off x="4266239" y="5637861"/>
            <a:ext cx="3246120" cy="1078992"/>
          </a:xfrm>
          <a:prstGeom prst="roundRect">
            <a:avLst/>
          </a:prstGeom>
          <a:solidFill>
            <a:srgbClr val="FFF8EF"/>
          </a:solidFill>
          <a:ln w="15240">
            <a:solidFill>
              <a:srgbClr val="EBC39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8ADC4C0E-77E8-442E-5411-E487AF4D512D}"/>
              </a:ext>
            </a:extLst>
          </p:cNvPr>
          <p:cNvSpPr txBox="1"/>
          <p:nvPr/>
        </p:nvSpPr>
        <p:spPr>
          <a:xfrm>
            <a:off x="4449119" y="5775021"/>
            <a:ext cx="3063240" cy="338554"/>
          </a:xfrm>
          <a:prstGeom prst="rect">
            <a:avLst/>
          </a:prstGeom>
          <a:noFill/>
        </p:spPr>
        <p:txBody>
          <a:bodyPr wrap="square" anchor="t">
            <a:spAutoFit/>
          </a:bodyPr>
          <a:lstStyle/>
          <a:p>
            <a:pPr algn="ctr"/>
            <a:r>
              <a:rPr sz="1600" b="1" dirty="0">
                <a:solidFill>
                  <a:srgbClr val="B76819"/>
                </a:solidFill>
                <a:latin typeface="Aptos"/>
              </a:rPr>
              <a:t>LLM → Structured mission plan</a:t>
            </a:r>
          </a:p>
        </p:txBody>
      </p:sp>
      <p:sp>
        <p:nvSpPr>
          <p:cNvPr id="18" name="TextBox 17">
            <a:extLst>
              <a:ext uri="{FF2B5EF4-FFF2-40B4-BE49-F238E27FC236}">
                <a16:creationId xmlns:a16="http://schemas.microsoft.com/office/drawing/2014/main" id="{64C2E03C-BB5E-E53A-9481-2401AB7B92A9}"/>
              </a:ext>
            </a:extLst>
          </p:cNvPr>
          <p:cNvSpPr txBox="1"/>
          <p:nvPr/>
        </p:nvSpPr>
        <p:spPr>
          <a:xfrm>
            <a:off x="4449119" y="6142340"/>
            <a:ext cx="2880360" cy="307777"/>
          </a:xfrm>
          <a:prstGeom prst="rect">
            <a:avLst/>
          </a:prstGeom>
          <a:noFill/>
        </p:spPr>
        <p:txBody>
          <a:bodyPr wrap="square" anchor="ctr">
            <a:spAutoFit/>
          </a:bodyPr>
          <a:lstStyle/>
          <a:p>
            <a:pPr algn="ctr"/>
            <a:r>
              <a:rPr sz="1400" b="1" dirty="0">
                <a:solidFill>
                  <a:srgbClr val="414141"/>
                </a:solidFill>
                <a:latin typeface="Aptos"/>
              </a:rPr>
              <a:t>T2  →  {T1, T3}  →  TC1</a:t>
            </a:r>
          </a:p>
        </p:txBody>
      </p:sp>
      <p:sp>
        <p:nvSpPr>
          <p:cNvPr id="20" name="Chevron 18">
            <a:extLst>
              <a:ext uri="{FF2B5EF4-FFF2-40B4-BE49-F238E27FC236}">
                <a16:creationId xmlns:a16="http://schemas.microsoft.com/office/drawing/2014/main" id="{DC792127-5FD1-C45E-1318-0E1ECB338824}"/>
              </a:ext>
            </a:extLst>
          </p:cNvPr>
          <p:cNvSpPr/>
          <p:nvPr/>
        </p:nvSpPr>
        <p:spPr>
          <a:xfrm>
            <a:off x="7631231" y="5930469"/>
            <a:ext cx="502920" cy="384048"/>
          </a:xfrm>
          <a:prstGeom prst="chevron">
            <a:avLst/>
          </a:prstGeom>
          <a:solidFill>
            <a:srgbClr val="306AA7"/>
          </a:solidFill>
          <a:ln>
            <a:solidFill>
              <a:srgbClr val="306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19">
            <a:extLst>
              <a:ext uri="{FF2B5EF4-FFF2-40B4-BE49-F238E27FC236}">
                <a16:creationId xmlns:a16="http://schemas.microsoft.com/office/drawing/2014/main" id="{A2A73A3B-CCBB-4647-5A1B-0161F2C3B458}"/>
              </a:ext>
            </a:extLst>
          </p:cNvPr>
          <p:cNvSpPr/>
          <p:nvPr/>
        </p:nvSpPr>
        <p:spPr>
          <a:xfrm>
            <a:off x="8243879" y="5637861"/>
            <a:ext cx="3246120" cy="1078992"/>
          </a:xfrm>
          <a:prstGeom prst="roundRect">
            <a:avLst/>
          </a:prstGeom>
          <a:solidFill>
            <a:srgbClr val="F7F9FB"/>
          </a:solidFill>
          <a:ln w="15240">
            <a:solidFill>
              <a:srgbClr val="C6C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FB1AA73C-7929-B2CD-D0C3-3BEF0AD817C7}"/>
              </a:ext>
            </a:extLst>
          </p:cNvPr>
          <p:cNvSpPr txBox="1"/>
          <p:nvPr/>
        </p:nvSpPr>
        <p:spPr>
          <a:xfrm>
            <a:off x="8426759" y="5775021"/>
            <a:ext cx="2880360" cy="338554"/>
          </a:xfrm>
          <a:prstGeom prst="rect">
            <a:avLst/>
          </a:prstGeom>
          <a:noFill/>
        </p:spPr>
        <p:txBody>
          <a:bodyPr wrap="square" anchor="t">
            <a:spAutoFit/>
          </a:bodyPr>
          <a:lstStyle/>
          <a:p>
            <a:pPr algn="ctr"/>
            <a:r>
              <a:rPr sz="1600" b="1" dirty="0">
                <a:solidFill>
                  <a:srgbClr val="173047"/>
                </a:solidFill>
                <a:latin typeface="Aptos"/>
              </a:rPr>
              <a:t>Coordinator / Robots</a:t>
            </a:r>
          </a:p>
        </p:txBody>
      </p:sp>
      <p:sp>
        <p:nvSpPr>
          <p:cNvPr id="30" name="TextBox 29">
            <a:extLst>
              <a:ext uri="{FF2B5EF4-FFF2-40B4-BE49-F238E27FC236}">
                <a16:creationId xmlns:a16="http://schemas.microsoft.com/office/drawing/2014/main" id="{C5F501D0-5148-796E-A89B-EC2F8974F1B8}"/>
              </a:ext>
            </a:extLst>
          </p:cNvPr>
          <p:cNvSpPr txBox="1"/>
          <p:nvPr/>
        </p:nvSpPr>
        <p:spPr>
          <a:xfrm>
            <a:off x="8426759" y="6025475"/>
            <a:ext cx="2880360" cy="523220"/>
          </a:xfrm>
          <a:prstGeom prst="rect">
            <a:avLst/>
          </a:prstGeom>
          <a:noFill/>
        </p:spPr>
        <p:txBody>
          <a:bodyPr wrap="square" anchor="ctr">
            <a:spAutoFit/>
          </a:bodyPr>
          <a:lstStyle/>
          <a:p>
            <a:pPr algn="ctr"/>
            <a:r>
              <a:rPr sz="1400" b="0" dirty="0">
                <a:solidFill>
                  <a:srgbClr val="2D2D2D"/>
                </a:solidFill>
                <a:latin typeface="Aptos"/>
              </a:rPr>
              <a:t>Robot assignment, navigation,
coordination and rescue execution</a:t>
            </a:r>
          </a:p>
        </p:txBody>
      </p:sp>
    </p:spTree>
    <p:extLst>
      <p:ext uri="{BB962C8B-B14F-4D97-AF65-F5344CB8AC3E}">
        <p14:creationId xmlns:p14="http://schemas.microsoft.com/office/powerpoint/2010/main" val="42660510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2532DFD-6AD0-4A07-BCFA-306C83012AF2}"/>
              </a:ext>
            </a:extLst>
          </p:cNvPr>
          <p:cNvSpPr>
            <a:spLocks noGrp="1"/>
          </p:cNvSpPr>
          <p:nvPr/>
        </p:nvSpPr>
        <p:spPr>
          <a:xfrm>
            <a:off x="571500" y="409575"/>
            <a:ext cx="10953750" cy="762000"/>
          </a:xfrm>
          <a:prstGeom prst="rect">
            <a:avLst/>
          </a:prstGeom>
          <a:noFill/>
          <a:ln w="9525">
            <a:noFill/>
          </a:ln>
        </p:spPr>
        <p:txBody>
          <a:bodyPr>
            <a:noAutofit/>
          </a:bodyPr>
          <a:lstStyle/>
          <a:p>
            <a:pPr>
              <a:defRPr sz="3000" b="1">
                <a:solidFill>
                  <a:srgbClr val="12283B"/>
                </a:solidFill>
                <a:latin typeface="Arial"/>
                <a:ea typeface="Arial"/>
                <a:cs typeface="Arial"/>
              </a:defRPr>
            </a:pPr>
            <a:r>
              <a:rPr sz="3000" b="1" dirty="0">
                <a:solidFill>
                  <a:srgbClr val="12283B"/>
                </a:solidFill>
                <a:latin typeface="Arial"/>
                <a:ea typeface="Arial"/>
                <a:cs typeface="Arial"/>
              </a:rPr>
              <a:t>Robot platform and development environment</a:t>
            </a:r>
          </a:p>
        </p:txBody>
      </p:sp>
      <p:sp>
        <p:nvSpPr>
          <p:cNvPr id="3" name="Rectangle 2">
            <a:extLst>
              <a:ext uri="{FF2B5EF4-FFF2-40B4-BE49-F238E27FC236}">
                <a16:creationId xmlns:a16="http://schemas.microsoft.com/office/drawing/2014/main" id="{296E1E3C-3FD3-4FB5-A124-E5F8997F721A}"/>
              </a:ext>
            </a:extLst>
          </p:cNvPr>
          <p:cNvSpPr>
            <a:spLocks noGrp="1"/>
          </p:cNvSpPr>
          <p:nvPr/>
        </p:nvSpPr>
        <p:spPr>
          <a:xfrm>
            <a:off x="11144250" y="6362700"/>
            <a:ext cx="571500" cy="238125"/>
          </a:xfrm>
          <a:prstGeom prst="rect">
            <a:avLst/>
          </a:prstGeom>
          <a:noFill/>
          <a:ln w="9525">
            <a:noFill/>
          </a:ln>
        </p:spPr>
        <p:txBody>
          <a:bodyPr>
            <a:noAutofit/>
          </a:bodyPr>
          <a:lstStyle/>
          <a:p>
            <a:pPr>
              <a:defRPr sz="1125" b="0">
                <a:solidFill>
                  <a:srgbClr val="4E6473"/>
                </a:solidFill>
                <a:latin typeface="Arial"/>
                <a:ea typeface="Arial"/>
                <a:cs typeface="Arial"/>
              </a:defRPr>
            </a:pPr>
            <a:r>
              <a:rPr sz="1125" b="0">
                <a:solidFill>
                  <a:srgbClr val="4E6473"/>
                </a:solidFill>
                <a:latin typeface="Arial"/>
                <a:ea typeface="Arial"/>
                <a:cs typeface="Arial"/>
              </a:rPr>
              <a:t>04</a:t>
            </a:r>
          </a:p>
        </p:txBody>
      </p:sp>
      <p:sp>
        <p:nvSpPr>
          <p:cNvPr id="13" name="Shape 2">
            <a:extLst>
              <a:ext uri="{FF2B5EF4-FFF2-40B4-BE49-F238E27FC236}">
                <a16:creationId xmlns:a16="http://schemas.microsoft.com/office/drawing/2014/main" id="{90A7C3E0-3CBC-272C-C9C5-531940A1A6F9}"/>
              </a:ext>
            </a:extLst>
          </p:cNvPr>
          <p:cNvSpPr/>
          <p:nvPr/>
        </p:nvSpPr>
        <p:spPr>
          <a:xfrm>
            <a:off x="502920" y="1033272"/>
            <a:ext cx="11155680" cy="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14" name="Picture 13">
            <a:extLst>
              <a:ext uri="{FF2B5EF4-FFF2-40B4-BE49-F238E27FC236}">
                <a16:creationId xmlns:a16="http://schemas.microsoft.com/office/drawing/2014/main" id="{BB0B82D2-8F70-0B97-D44C-90A3335A7A33}"/>
              </a:ext>
            </a:extLst>
          </p:cNvPr>
          <p:cNvPicPr>
            <a:picLocks noChangeAspect="1"/>
          </p:cNvPicPr>
          <p:nvPr/>
        </p:nvPicPr>
        <p:blipFill>
          <a:blip r:embed="rId3"/>
          <a:stretch>
            <a:fillRect/>
          </a:stretch>
        </p:blipFill>
        <p:spPr>
          <a:xfrm>
            <a:off x="7744208" y="1634777"/>
            <a:ext cx="3590380" cy="2083117"/>
          </a:xfrm>
          <a:prstGeom prst="rect">
            <a:avLst/>
          </a:prstGeom>
        </p:spPr>
      </p:pic>
      <p:sp>
        <p:nvSpPr>
          <p:cNvPr id="16" name="Rectangle 15">
            <a:extLst>
              <a:ext uri="{FF2B5EF4-FFF2-40B4-BE49-F238E27FC236}">
                <a16:creationId xmlns:a16="http://schemas.microsoft.com/office/drawing/2014/main" id="{2E43065C-13C8-CD42-948A-70CF6C3463EA}"/>
              </a:ext>
            </a:extLst>
          </p:cNvPr>
          <p:cNvSpPr>
            <a:spLocks noGrp="1"/>
          </p:cNvSpPr>
          <p:nvPr/>
        </p:nvSpPr>
        <p:spPr>
          <a:xfrm>
            <a:off x="438150" y="1170395"/>
            <a:ext cx="7078980" cy="408545"/>
          </a:xfrm>
          <a:prstGeom prst="rect">
            <a:avLst/>
          </a:prstGeom>
          <a:noFill/>
          <a:ln w="9525">
            <a:noFill/>
          </a:ln>
        </p:spPr>
        <p:txBody>
          <a:bodyPr>
            <a:noAutofit/>
          </a:bodyPr>
          <a:lstStyle/>
          <a:p>
            <a:pPr algn="just"/>
            <a:r>
              <a:rPr lang="en-US" altLang="zh-CN" sz="2000" dirty="0"/>
              <a:t>The competition uses differential-drive wheeled mobile robots:</a:t>
            </a:r>
          </a:p>
        </p:txBody>
      </p:sp>
      <p:sp>
        <p:nvSpPr>
          <p:cNvPr id="18" name="Shape 8">
            <a:extLst>
              <a:ext uri="{FF2B5EF4-FFF2-40B4-BE49-F238E27FC236}">
                <a16:creationId xmlns:a16="http://schemas.microsoft.com/office/drawing/2014/main" id="{0F16FF22-2487-44A7-B724-07CD93ED416C}"/>
              </a:ext>
            </a:extLst>
          </p:cNvPr>
          <p:cNvSpPr/>
          <p:nvPr/>
        </p:nvSpPr>
        <p:spPr>
          <a:xfrm>
            <a:off x="944141" y="1718540"/>
            <a:ext cx="2844800" cy="1321107"/>
          </a:xfrm>
          <a:prstGeom prst="roundRect">
            <a:avLst>
              <a:gd name="adj" fmla="val 5714"/>
            </a:avLst>
          </a:prstGeom>
          <a:solidFill>
            <a:srgbClr val="FFFFFF"/>
          </a:solidFill>
          <a:ln w="12700">
            <a:solidFill>
              <a:srgbClr val="D7E3F7"/>
            </a:solidFill>
            <a:prstDash val="solid"/>
          </a:ln>
        </p:spPr>
        <p:txBody>
          <a:bodyPr/>
          <a:lstStyle/>
          <a:p>
            <a:endParaRPr lang="zh-CN" altLang="en-US"/>
          </a:p>
        </p:txBody>
      </p:sp>
      <p:sp>
        <p:nvSpPr>
          <p:cNvPr id="20" name="Shape 8">
            <a:extLst>
              <a:ext uri="{FF2B5EF4-FFF2-40B4-BE49-F238E27FC236}">
                <a16:creationId xmlns:a16="http://schemas.microsoft.com/office/drawing/2014/main" id="{A32F6876-D55F-6D22-71F5-EEA6AC807861}"/>
              </a:ext>
            </a:extLst>
          </p:cNvPr>
          <p:cNvSpPr/>
          <p:nvPr/>
        </p:nvSpPr>
        <p:spPr>
          <a:xfrm>
            <a:off x="4030241" y="1718540"/>
            <a:ext cx="2844800" cy="1321107"/>
          </a:xfrm>
          <a:prstGeom prst="roundRect">
            <a:avLst>
              <a:gd name="adj" fmla="val 5714"/>
            </a:avLst>
          </a:prstGeom>
          <a:solidFill>
            <a:srgbClr val="FFFFFF"/>
          </a:solidFill>
          <a:ln w="12700">
            <a:solidFill>
              <a:srgbClr val="D7E3F7"/>
            </a:solidFill>
            <a:prstDash val="solid"/>
          </a:ln>
        </p:spPr>
        <p:txBody>
          <a:bodyPr/>
          <a:lstStyle/>
          <a:p>
            <a:endParaRPr lang="zh-CN" altLang="en-US"/>
          </a:p>
        </p:txBody>
      </p:sp>
      <p:sp>
        <p:nvSpPr>
          <p:cNvPr id="22" name="Shape 8">
            <a:extLst>
              <a:ext uri="{FF2B5EF4-FFF2-40B4-BE49-F238E27FC236}">
                <a16:creationId xmlns:a16="http://schemas.microsoft.com/office/drawing/2014/main" id="{4C499C22-63C3-F750-02C3-3A07A769C7C2}"/>
              </a:ext>
            </a:extLst>
          </p:cNvPr>
          <p:cNvSpPr/>
          <p:nvPr/>
        </p:nvSpPr>
        <p:spPr>
          <a:xfrm>
            <a:off x="944141" y="3225704"/>
            <a:ext cx="2844800" cy="1782148"/>
          </a:xfrm>
          <a:prstGeom prst="roundRect">
            <a:avLst>
              <a:gd name="adj" fmla="val 5714"/>
            </a:avLst>
          </a:prstGeom>
          <a:solidFill>
            <a:srgbClr val="FFFFFF"/>
          </a:solidFill>
          <a:ln w="12700">
            <a:solidFill>
              <a:srgbClr val="D7E3F7"/>
            </a:solidFill>
            <a:prstDash val="solid"/>
          </a:ln>
        </p:spPr>
        <p:txBody>
          <a:bodyPr/>
          <a:lstStyle/>
          <a:p>
            <a:endParaRPr lang="zh-CN" altLang="en-US"/>
          </a:p>
        </p:txBody>
      </p:sp>
      <p:sp>
        <p:nvSpPr>
          <p:cNvPr id="24" name="Shape 8">
            <a:extLst>
              <a:ext uri="{FF2B5EF4-FFF2-40B4-BE49-F238E27FC236}">
                <a16:creationId xmlns:a16="http://schemas.microsoft.com/office/drawing/2014/main" id="{970799CA-985A-AADE-5E98-7960BB0BFCFB}"/>
              </a:ext>
            </a:extLst>
          </p:cNvPr>
          <p:cNvSpPr/>
          <p:nvPr/>
        </p:nvSpPr>
        <p:spPr>
          <a:xfrm>
            <a:off x="4030241" y="3225703"/>
            <a:ext cx="2844800" cy="1782149"/>
          </a:xfrm>
          <a:prstGeom prst="roundRect">
            <a:avLst>
              <a:gd name="adj" fmla="val 5714"/>
            </a:avLst>
          </a:prstGeom>
          <a:solidFill>
            <a:srgbClr val="FFFFFF"/>
          </a:solidFill>
          <a:ln w="12700">
            <a:solidFill>
              <a:srgbClr val="D7E3F7"/>
            </a:solidFill>
            <a:prstDash val="solid"/>
          </a:ln>
        </p:spPr>
        <p:txBody>
          <a:bodyPr/>
          <a:lstStyle/>
          <a:p>
            <a:endParaRPr lang="zh-CN" altLang="en-US"/>
          </a:p>
        </p:txBody>
      </p:sp>
      <p:sp>
        <p:nvSpPr>
          <p:cNvPr id="26" name="Text 6">
            <a:extLst>
              <a:ext uri="{FF2B5EF4-FFF2-40B4-BE49-F238E27FC236}">
                <a16:creationId xmlns:a16="http://schemas.microsoft.com/office/drawing/2014/main" id="{6500C6FD-7CB4-2B8B-C860-6C92CC5E9D54}"/>
              </a:ext>
            </a:extLst>
          </p:cNvPr>
          <p:cNvSpPr/>
          <p:nvPr/>
        </p:nvSpPr>
        <p:spPr>
          <a:xfrm>
            <a:off x="1072909" y="2152996"/>
            <a:ext cx="2587264" cy="655980"/>
          </a:xfrm>
          <a:prstGeom prst="rect">
            <a:avLst/>
          </a:prstGeom>
          <a:noFill/>
          <a:ln/>
        </p:spPr>
        <p:txBody>
          <a:bodyPr wrap="square" lIns="254" tIns="254" rIns="254" bIns="254" rtlCol="0" anchor="ctr">
            <a:noAutofit/>
          </a:bodyPr>
          <a:lstStyle/>
          <a:p>
            <a:pPr marL="285750" lvl="0" indent="-285750">
              <a:buFont typeface="Wingdings" panose="05000000000000000000" pitchFamily="2" charset="2"/>
              <a:buChar char="l"/>
            </a:pPr>
            <a:r>
              <a:rPr lang="en-US" altLang="zh-CN" sz="1600" dirty="0"/>
              <a:t>Differential-drive platform</a:t>
            </a:r>
            <a:r>
              <a:rPr lang="zh-CN" altLang="zh-CN" sz="1600" dirty="0"/>
              <a:t> </a:t>
            </a:r>
          </a:p>
          <a:p>
            <a:pPr marL="285750" lvl="0" indent="-285750">
              <a:buFont typeface="Wingdings" panose="05000000000000000000" pitchFamily="2" charset="2"/>
              <a:buChar char="l"/>
            </a:pPr>
            <a:r>
              <a:rPr lang="en-US" altLang="zh-CN" sz="1600" dirty="0"/>
              <a:t>Wheel encoders</a:t>
            </a:r>
            <a:endParaRPr lang="zh-CN" altLang="zh-CN" sz="1600" dirty="0"/>
          </a:p>
        </p:txBody>
      </p:sp>
      <p:sp>
        <p:nvSpPr>
          <p:cNvPr id="28" name="Text 5">
            <a:extLst>
              <a:ext uri="{FF2B5EF4-FFF2-40B4-BE49-F238E27FC236}">
                <a16:creationId xmlns:a16="http://schemas.microsoft.com/office/drawing/2014/main" id="{1D9D1FC2-41AC-674C-727F-9A7CFA0A57A8}"/>
              </a:ext>
            </a:extLst>
          </p:cNvPr>
          <p:cNvSpPr/>
          <p:nvPr/>
        </p:nvSpPr>
        <p:spPr>
          <a:xfrm>
            <a:off x="1108323" y="1727223"/>
            <a:ext cx="1556668" cy="492517"/>
          </a:xfrm>
          <a:prstGeom prst="rect">
            <a:avLst/>
          </a:prstGeom>
          <a:noFill/>
          <a:ln/>
        </p:spPr>
        <p:txBody>
          <a:bodyPr wrap="square" lIns="0" tIns="0" rIns="0" bIns="0" rtlCol="0" anchor="ctr"/>
          <a:lstStyle/>
          <a:p>
            <a:pPr marL="0" indent="0">
              <a:buNone/>
            </a:pPr>
            <a:r>
              <a:rPr lang="en-US" altLang="zh-CN" b="1" dirty="0">
                <a:solidFill>
                  <a:schemeClr val="accent1"/>
                </a:solidFill>
              </a:rPr>
              <a:t>Mobile Base</a:t>
            </a:r>
            <a:endParaRPr lang="en-US" dirty="0">
              <a:solidFill>
                <a:schemeClr val="accent1"/>
              </a:solidFill>
            </a:endParaRPr>
          </a:p>
        </p:txBody>
      </p:sp>
      <p:sp>
        <p:nvSpPr>
          <p:cNvPr id="30" name="Text 5">
            <a:extLst>
              <a:ext uri="{FF2B5EF4-FFF2-40B4-BE49-F238E27FC236}">
                <a16:creationId xmlns:a16="http://schemas.microsoft.com/office/drawing/2014/main" id="{3DEFCD60-9C89-F59E-B905-AE8198FDCB4B}"/>
              </a:ext>
            </a:extLst>
          </p:cNvPr>
          <p:cNvSpPr/>
          <p:nvPr/>
        </p:nvSpPr>
        <p:spPr>
          <a:xfrm>
            <a:off x="1072909" y="3215210"/>
            <a:ext cx="1556668" cy="492517"/>
          </a:xfrm>
          <a:prstGeom prst="rect">
            <a:avLst/>
          </a:prstGeom>
          <a:noFill/>
          <a:ln/>
        </p:spPr>
        <p:txBody>
          <a:bodyPr wrap="square" lIns="0" tIns="0" rIns="0" bIns="0" rtlCol="0" anchor="ctr"/>
          <a:lstStyle/>
          <a:p>
            <a:pPr marL="0" indent="0">
              <a:buNone/>
            </a:pPr>
            <a:r>
              <a:rPr lang="en-US" altLang="zh-CN" b="1" dirty="0">
                <a:solidFill>
                  <a:schemeClr val="accent6">
                    <a:lumMod val="75000"/>
                  </a:schemeClr>
                </a:solidFill>
              </a:rPr>
              <a:t>Perception</a:t>
            </a:r>
            <a:endParaRPr lang="en-US" dirty="0">
              <a:solidFill>
                <a:schemeClr val="accent6">
                  <a:lumMod val="75000"/>
                </a:schemeClr>
              </a:solidFill>
            </a:endParaRPr>
          </a:p>
        </p:txBody>
      </p:sp>
      <p:sp>
        <p:nvSpPr>
          <p:cNvPr id="32" name="Text 6">
            <a:extLst>
              <a:ext uri="{FF2B5EF4-FFF2-40B4-BE49-F238E27FC236}">
                <a16:creationId xmlns:a16="http://schemas.microsoft.com/office/drawing/2014/main" id="{1A9A3584-8CD1-6291-D1CA-2B6C6FDC216D}"/>
              </a:ext>
            </a:extLst>
          </p:cNvPr>
          <p:cNvSpPr/>
          <p:nvPr/>
        </p:nvSpPr>
        <p:spPr>
          <a:xfrm>
            <a:off x="1108323" y="3567643"/>
            <a:ext cx="2587264" cy="1504284"/>
          </a:xfrm>
          <a:prstGeom prst="rect">
            <a:avLst/>
          </a:prstGeom>
          <a:noFill/>
          <a:ln/>
        </p:spPr>
        <p:txBody>
          <a:bodyPr wrap="square" lIns="254" tIns="254" rIns="254" bIns="254" rtlCol="0" anchor="ctr">
            <a:noAutofit/>
          </a:bodyPr>
          <a:lstStyle/>
          <a:p>
            <a:pPr marL="285750" lvl="0" indent="-285750">
              <a:buFont typeface="Wingdings" panose="05000000000000000000" pitchFamily="2" charset="2"/>
              <a:buChar char="l"/>
            </a:pPr>
            <a:r>
              <a:rPr lang="zh-CN" altLang="zh-CN" sz="1600" dirty="0"/>
              <a:t>RPLIDAR — mapping &amp; obstacle sensing. </a:t>
            </a:r>
          </a:p>
          <a:p>
            <a:pPr marL="285750" lvl="0" indent="-285750">
              <a:buFont typeface="Wingdings" panose="05000000000000000000" pitchFamily="2" charset="2"/>
              <a:buChar char="l"/>
            </a:pPr>
            <a:r>
              <a:rPr lang="zh-CN" altLang="zh-CN" sz="1600" dirty="0"/>
              <a:t>RealSense D435i — RGB-D perception &amp; ArUco detection</a:t>
            </a:r>
          </a:p>
        </p:txBody>
      </p:sp>
      <p:sp>
        <p:nvSpPr>
          <p:cNvPr id="34" name="Text 5">
            <a:extLst>
              <a:ext uri="{FF2B5EF4-FFF2-40B4-BE49-F238E27FC236}">
                <a16:creationId xmlns:a16="http://schemas.microsoft.com/office/drawing/2014/main" id="{E3860F22-F28F-6466-7643-11E15BA3E03E}"/>
              </a:ext>
            </a:extLst>
          </p:cNvPr>
          <p:cNvSpPr/>
          <p:nvPr/>
        </p:nvSpPr>
        <p:spPr>
          <a:xfrm>
            <a:off x="4138029" y="3231296"/>
            <a:ext cx="1934493" cy="492517"/>
          </a:xfrm>
          <a:prstGeom prst="rect">
            <a:avLst/>
          </a:prstGeom>
          <a:noFill/>
          <a:ln/>
        </p:spPr>
        <p:txBody>
          <a:bodyPr wrap="square" lIns="0" tIns="0" rIns="0" bIns="0" rtlCol="0" anchor="ctr"/>
          <a:lstStyle/>
          <a:p>
            <a:pPr marL="0" indent="0">
              <a:buNone/>
            </a:pPr>
            <a:r>
              <a:rPr lang="en-US" altLang="zh-CN" b="1" dirty="0">
                <a:solidFill>
                  <a:schemeClr val="accent2">
                    <a:lumMod val="60000"/>
                    <a:lumOff val="40000"/>
                  </a:schemeClr>
                </a:solidFill>
              </a:rPr>
              <a:t>State Estimation</a:t>
            </a:r>
            <a:endParaRPr lang="en-US" dirty="0">
              <a:solidFill>
                <a:schemeClr val="accent2">
                  <a:lumMod val="60000"/>
                  <a:lumOff val="40000"/>
                </a:schemeClr>
              </a:solidFill>
            </a:endParaRPr>
          </a:p>
        </p:txBody>
      </p:sp>
      <p:sp>
        <p:nvSpPr>
          <p:cNvPr id="36" name="Text 6">
            <a:extLst>
              <a:ext uri="{FF2B5EF4-FFF2-40B4-BE49-F238E27FC236}">
                <a16:creationId xmlns:a16="http://schemas.microsoft.com/office/drawing/2014/main" id="{5352E2D6-56B5-8C08-9EBC-0439A97B34E2}"/>
              </a:ext>
            </a:extLst>
          </p:cNvPr>
          <p:cNvSpPr/>
          <p:nvPr/>
        </p:nvSpPr>
        <p:spPr>
          <a:xfrm>
            <a:off x="4159009" y="3567643"/>
            <a:ext cx="2823820" cy="1165885"/>
          </a:xfrm>
          <a:prstGeom prst="rect">
            <a:avLst/>
          </a:prstGeom>
          <a:noFill/>
          <a:ln/>
        </p:spPr>
        <p:txBody>
          <a:bodyPr wrap="square" lIns="254" tIns="254" rIns="254" bIns="254" rtlCol="0" anchor="ctr">
            <a:noAutofit/>
          </a:bodyPr>
          <a:lstStyle/>
          <a:p>
            <a:pPr marL="285750" lvl="0" indent="-285750">
              <a:buFont typeface="Wingdings" panose="05000000000000000000" pitchFamily="2" charset="2"/>
              <a:buChar char="l"/>
            </a:pPr>
            <a:r>
              <a:rPr lang="en-US" altLang="zh-CN" sz="1600" dirty="0"/>
              <a:t>Wheel encoders</a:t>
            </a:r>
          </a:p>
          <a:p>
            <a:pPr marL="285750" lvl="0" indent="-285750">
              <a:buFont typeface="Wingdings" panose="05000000000000000000" pitchFamily="2" charset="2"/>
              <a:buChar char="l"/>
            </a:pPr>
            <a:r>
              <a:rPr lang="en-US" altLang="zh-CN" sz="1600" dirty="0"/>
              <a:t>IMU</a:t>
            </a:r>
          </a:p>
          <a:p>
            <a:pPr marL="285750" lvl="0" indent="-285750">
              <a:buFont typeface="Wingdings" panose="05000000000000000000" pitchFamily="2" charset="2"/>
              <a:buChar char="l"/>
            </a:pPr>
            <a:r>
              <a:rPr lang="en-US" altLang="zh-CN" sz="1600" dirty="0"/>
              <a:t>Odometry/localization support</a:t>
            </a:r>
            <a:endParaRPr lang="zh-CN" altLang="zh-CN" sz="1600" dirty="0"/>
          </a:p>
        </p:txBody>
      </p:sp>
      <p:sp>
        <p:nvSpPr>
          <p:cNvPr id="38" name="Text 5">
            <a:extLst>
              <a:ext uri="{FF2B5EF4-FFF2-40B4-BE49-F238E27FC236}">
                <a16:creationId xmlns:a16="http://schemas.microsoft.com/office/drawing/2014/main" id="{D459FD9A-AA6B-F372-C0DE-5749395D8D91}"/>
              </a:ext>
            </a:extLst>
          </p:cNvPr>
          <p:cNvSpPr/>
          <p:nvPr/>
        </p:nvSpPr>
        <p:spPr>
          <a:xfrm>
            <a:off x="4203947" y="1702207"/>
            <a:ext cx="2036093" cy="492517"/>
          </a:xfrm>
          <a:prstGeom prst="rect">
            <a:avLst/>
          </a:prstGeom>
          <a:noFill/>
          <a:ln/>
        </p:spPr>
        <p:txBody>
          <a:bodyPr wrap="square" lIns="0" tIns="0" rIns="0" bIns="0" rtlCol="0" anchor="ctr"/>
          <a:lstStyle/>
          <a:p>
            <a:pPr marL="0" indent="0">
              <a:buNone/>
            </a:pPr>
            <a:r>
              <a:rPr lang="en-US" altLang="zh-CN" b="1" dirty="0">
                <a:solidFill>
                  <a:srgbClr val="FFC000"/>
                </a:solidFill>
              </a:rPr>
              <a:t>Onboard Computing</a:t>
            </a:r>
            <a:endParaRPr lang="en-US" dirty="0">
              <a:solidFill>
                <a:srgbClr val="FFC000"/>
              </a:solidFill>
            </a:endParaRPr>
          </a:p>
        </p:txBody>
      </p:sp>
      <p:sp>
        <p:nvSpPr>
          <p:cNvPr id="40" name="Text 6">
            <a:extLst>
              <a:ext uri="{FF2B5EF4-FFF2-40B4-BE49-F238E27FC236}">
                <a16:creationId xmlns:a16="http://schemas.microsoft.com/office/drawing/2014/main" id="{3EC25EB7-1DD1-F3D9-8612-2E862785A32E}"/>
              </a:ext>
            </a:extLst>
          </p:cNvPr>
          <p:cNvSpPr/>
          <p:nvPr/>
        </p:nvSpPr>
        <p:spPr>
          <a:xfrm>
            <a:off x="4159009" y="2130467"/>
            <a:ext cx="2823820" cy="847719"/>
          </a:xfrm>
          <a:prstGeom prst="rect">
            <a:avLst/>
          </a:prstGeom>
          <a:noFill/>
          <a:ln/>
        </p:spPr>
        <p:txBody>
          <a:bodyPr wrap="square" lIns="254" tIns="254" rIns="254" bIns="254" rtlCol="0" anchor="ctr">
            <a:noAutofit/>
          </a:bodyPr>
          <a:lstStyle/>
          <a:p>
            <a:pPr marL="285750" lvl="0" indent="-285750">
              <a:buFont typeface="Wingdings" panose="05000000000000000000" pitchFamily="2" charset="2"/>
              <a:buChar char="l"/>
            </a:pPr>
            <a:r>
              <a:rPr lang="zh-CN" altLang="zh-CN" sz="1600" dirty="0"/>
              <a:t>Intel NUC11TNKi5</a:t>
            </a:r>
            <a:endParaRPr lang="en-US" altLang="zh-CN" sz="1600" dirty="0"/>
          </a:p>
          <a:p>
            <a:pPr marL="285750" lvl="0" indent="-285750">
              <a:buFont typeface="Wingdings" panose="05000000000000000000" pitchFamily="2" charset="2"/>
              <a:buChar char="l"/>
            </a:pPr>
            <a:r>
              <a:rPr lang="zh-CN" altLang="zh-CN" sz="1600" dirty="0"/>
              <a:t>NVIDIA GT 1030</a:t>
            </a:r>
            <a:endParaRPr lang="en-US" altLang="zh-CN" sz="1600" dirty="0"/>
          </a:p>
          <a:p>
            <a:pPr marL="285750" lvl="0" indent="-285750">
              <a:buFont typeface="Wingdings" panose="05000000000000000000" pitchFamily="2" charset="2"/>
              <a:buChar char="l"/>
            </a:pPr>
            <a:r>
              <a:rPr lang="zh-CN" altLang="zh-CN" sz="1600" dirty="0"/>
              <a:t>ROS 2 onboard software</a:t>
            </a:r>
          </a:p>
        </p:txBody>
      </p:sp>
      <p:sp>
        <p:nvSpPr>
          <p:cNvPr id="42" name="Rectangle 41">
            <a:extLst>
              <a:ext uri="{FF2B5EF4-FFF2-40B4-BE49-F238E27FC236}">
                <a16:creationId xmlns:a16="http://schemas.microsoft.com/office/drawing/2014/main" id="{9D14A197-39CB-1213-23A0-319E8EAD9E08}"/>
              </a:ext>
            </a:extLst>
          </p:cNvPr>
          <p:cNvSpPr>
            <a:spLocks noGrp="1"/>
          </p:cNvSpPr>
          <p:nvPr/>
        </p:nvSpPr>
        <p:spPr>
          <a:xfrm>
            <a:off x="7473950" y="3773730"/>
            <a:ext cx="4241800" cy="934190"/>
          </a:xfrm>
          <a:prstGeom prst="rect">
            <a:avLst/>
          </a:prstGeom>
          <a:noFill/>
          <a:ln w="9525">
            <a:noFill/>
          </a:ln>
        </p:spPr>
        <p:txBody>
          <a:bodyPr>
            <a:noAutofit/>
          </a:bodyPr>
          <a:lstStyle/>
          <a:p>
            <a:pPr>
              <a:defRPr sz="1725" b="0">
                <a:solidFill>
                  <a:srgbClr val="007F82"/>
                </a:solidFill>
                <a:latin typeface="Arial"/>
                <a:ea typeface="Arial"/>
                <a:cs typeface="Arial"/>
              </a:defRPr>
            </a:pPr>
            <a:r>
              <a:rPr lang="en-US" sz="1400" b="0" dirty="0">
                <a:solidFill>
                  <a:schemeClr val="bg2">
                    <a:lumMod val="50000"/>
                  </a:schemeClr>
                </a:solidFill>
                <a:latin typeface="Arial"/>
                <a:ea typeface="Arial"/>
                <a:cs typeface="Arial"/>
              </a:rPr>
              <a:t>More information about the robot can </a:t>
            </a:r>
            <a:r>
              <a:rPr lang="en-US" sz="1400" dirty="0">
                <a:solidFill>
                  <a:schemeClr val="bg2">
                    <a:lumMod val="50000"/>
                  </a:schemeClr>
                </a:solidFill>
                <a:latin typeface="Arial"/>
                <a:ea typeface="Arial"/>
                <a:cs typeface="Arial"/>
              </a:rPr>
              <a:t>be found at: https://canvas.kth.se/courses/59505/pages/robot-setup?module_item_id=1339720</a:t>
            </a:r>
            <a:r>
              <a:rPr lang="en-US" sz="1400" b="0" dirty="0">
                <a:solidFill>
                  <a:srgbClr val="007F82"/>
                </a:solidFill>
                <a:latin typeface="Arial"/>
                <a:ea typeface="Arial"/>
                <a:cs typeface="Arial"/>
              </a:rPr>
              <a:t> </a:t>
            </a:r>
            <a:endParaRPr sz="1400" b="0" dirty="0">
              <a:solidFill>
                <a:srgbClr val="007F82"/>
              </a:solidFill>
              <a:latin typeface="Arial"/>
              <a:ea typeface="Arial"/>
              <a:cs typeface="Arial"/>
            </a:endParaRPr>
          </a:p>
        </p:txBody>
      </p:sp>
      <p:sp>
        <p:nvSpPr>
          <p:cNvPr id="10" name="Rectangle 9">
            <a:extLst>
              <a:ext uri="{FF2B5EF4-FFF2-40B4-BE49-F238E27FC236}">
                <a16:creationId xmlns:a16="http://schemas.microsoft.com/office/drawing/2014/main" id="{BC431A10-24E1-84EE-4012-D6D9365EC261}"/>
              </a:ext>
            </a:extLst>
          </p:cNvPr>
          <p:cNvSpPr>
            <a:spLocks noGrp="1"/>
          </p:cNvSpPr>
          <p:nvPr/>
        </p:nvSpPr>
        <p:spPr>
          <a:xfrm>
            <a:off x="502920" y="5306097"/>
            <a:ext cx="7078980" cy="408545"/>
          </a:xfrm>
          <a:prstGeom prst="rect">
            <a:avLst/>
          </a:prstGeom>
          <a:noFill/>
          <a:ln w="9525">
            <a:noFill/>
          </a:ln>
        </p:spPr>
        <p:txBody>
          <a:bodyPr>
            <a:noAutofit/>
          </a:bodyPr>
          <a:lstStyle/>
          <a:p>
            <a:pPr algn="just"/>
            <a:r>
              <a:rPr lang="en-US" altLang="zh-CN" sz="2000" b="1" dirty="0">
                <a:solidFill>
                  <a:srgbClr val="173047"/>
                </a:solidFill>
                <a:latin typeface="Aptos"/>
              </a:rPr>
              <a:t>Edge node information to be announced later…</a:t>
            </a:r>
          </a:p>
        </p:txBody>
      </p:sp>
    </p:spTree>
    <p:extLst>
      <p:ext uri="{BB962C8B-B14F-4D97-AF65-F5344CB8AC3E}">
        <p14:creationId xmlns:p14="http://schemas.microsoft.com/office/powerpoint/2010/main" val="1511968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F10B7-29E3-A663-55B7-5EC1689B7853}"/>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A9A93D28-4F9A-8D0E-99C2-16FAB0308B65}"/>
              </a:ext>
            </a:extLst>
          </p:cNvPr>
          <p:cNvSpPr>
            <a:spLocks noGrp="1"/>
          </p:cNvSpPr>
          <p:nvPr/>
        </p:nvSpPr>
        <p:spPr>
          <a:xfrm>
            <a:off x="571500" y="409575"/>
            <a:ext cx="10953750" cy="762000"/>
          </a:xfrm>
          <a:prstGeom prst="rect">
            <a:avLst/>
          </a:prstGeom>
          <a:noFill/>
          <a:ln w="9525">
            <a:noFill/>
          </a:ln>
        </p:spPr>
        <p:txBody>
          <a:bodyPr>
            <a:noAutofit/>
          </a:bodyPr>
          <a:lstStyle/>
          <a:p>
            <a:pPr>
              <a:defRPr sz="3000" b="1">
                <a:solidFill>
                  <a:srgbClr val="12283B"/>
                </a:solidFill>
                <a:latin typeface="Arial"/>
                <a:ea typeface="Arial"/>
                <a:cs typeface="Arial"/>
              </a:defRPr>
            </a:pPr>
            <a:r>
              <a:rPr sz="3000" b="1" dirty="0">
                <a:solidFill>
                  <a:srgbClr val="12283B"/>
                </a:solidFill>
                <a:latin typeface="Arial"/>
                <a:ea typeface="Arial"/>
                <a:cs typeface="Arial"/>
              </a:rPr>
              <a:t>Robot platform and development environment</a:t>
            </a:r>
          </a:p>
        </p:txBody>
      </p:sp>
      <p:sp>
        <p:nvSpPr>
          <p:cNvPr id="3" name="Rectangle 2">
            <a:extLst>
              <a:ext uri="{FF2B5EF4-FFF2-40B4-BE49-F238E27FC236}">
                <a16:creationId xmlns:a16="http://schemas.microsoft.com/office/drawing/2014/main" id="{2D4A4AB1-5820-A148-91EB-638779B3F236}"/>
              </a:ext>
            </a:extLst>
          </p:cNvPr>
          <p:cNvSpPr>
            <a:spLocks noGrp="1"/>
          </p:cNvSpPr>
          <p:nvPr/>
        </p:nvSpPr>
        <p:spPr>
          <a:xfrm>
            <a:off x="11144250" y="5887783"/>
            <a:ext cx="571500" cy="238125"/>
          </a:xfrm>
          <a:prstGeom prst="rect">
            <a:avLst/>
          </a:prstGeom>
          <a:noFill/>
          <a:ln w="9525">
            <a:noFill/>
          </a:ln>
        </p:spPr>
        <p:txBody>
          <a:bodyPr>
            <a:noAutofit/>
          </a:bodyPr>
          <a:lstStyle/>
          <a:p>
            <a:pPr>
              <a:defRPr sz="1125" b="0">
                <a:solidFill>
                  <a:srgbClr val="4E6473"/>
                </a:solidFill>
                <a:latin typeface="Arial"/>
                <a:ea typeface="Arial"/>
                <a:cs typeface="Arial"/>
              </a:defRPr>
            </a:pPr>
            <a:r>
              <a:rPr sz="1125" b="0">
                <a:solidFill>
                  <a:srgbClr val="4E6473"/>
                </a:solidFill>
                <a:latin typeface="Arial"/>
                <a:ea typeface="Arial"/>
                <a:cs typeface="Arial"/>
              </a:rPr>
              <a:t>04</a:t>
            </a:r>
          </a:p>
        </p:txBody>
      </p:sp>
      <p:sp>
        <p:nvSpPr>
          <p:cNvPr id="13" name="Shape 2">
            <a:extLst>
              <a:ext uri="{FF2B5EF4-FFF2-40B4-BE49-F238E27FC236}">
                <a16:creationId xmlns:a16="http://schemas.microsoft.com/office/drawing/2014/main" id="{9D6C2A60-02E9-EB12-5F40-288A583665BF}"/>
              </a:ext>
            </a:extLst>
          </p:cNvPr>
          <p:cNvSpPr/>
          <p:nvPr/>
        </p:nvSpPr>
        <p:spPr>
          <a:xfrm>
            <a:off x="502920" y="1033272"/>
            <a:ext cx="11155680" cy="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Rectangle 3">
            <a:extLst>
              <a:ext uri="{FF2B5EF4-FFF2-40B4-BE49-F238E27FC236}">
                <a16:creationId xmlns:a16="http://schemas.microsoft.com/office/drawing/2014/main" id="{100370D3-A449-B568-EC65-1FE89D710409}"/>
              </a:ext>
            </a:extLst>
          </p:cNvPr>
          <p:cNvSpPr>
            <a:spLocks noGrp="1"/>
          </p:cNvSpPr>
          <p:nvPr/>
        </p:nvSpPr>
        <p:spPr>
          <a:xfrm>
            <a:off x="438150" y="1106968"/>
            <a:ext cx="10706100" cy="408545"/>
          </a:xfrm>
          <a:prstGeom prst="rect">
            <a:avLst/>
          </a:prstGeom>
          <a:noFill/>
          <a:ln w="9525">
            <a:noFill/>
          </a:ln>
        </p:spPr>
        <p:txBody>
          <a:bodyPr>
            <a:noAutofit/>
          </a:bodyPr>
          <a:lstStyle/>
          <a:p>
            <a:pPr algn="just"/>
            <a:r>
              <a:rPr lang="en-US" altLang="zh-CN" sz="2000" dirty="0"/>
              <a:t>Environments used to develop, test, integrate, and deploy the challenge system:</a:t>
            </a:r>
          </a:p>
        </p:txBody>
      </p:sp>
      <p:sp>
        <p:nvSpPr>
          <p:cNvPr id="6" name="Shape 8">
            <a:extLst>
              <a:ext uri="{FF2B5EF4-FFF2-40B4-BE49-F238E27FC236}">
                <a16:creationId xmlns:a16="http://schemas.microsoft.com/office/drawing/2014/main" id="{BF0A5734-91C2-872F-E527-959E73D8F00E}"/>
              </a:ext>
            </a:extLst>
          </p:cNvPr>
          <p:cNvSpPr/>
          <p:nvPr/>
        </p:nvSpPr>
        <p:spPr>
          <a:xfrm>
            <a:off x="917058" y="1590760"/>
            <a:ext cx="5007049" cy="2226433"/>
          </a:xfrm>
          <a:prstGeom prst="roundRect">
            <a:avLst>
              <a:gd name="adj" fmla="val 5714"/>
            </a:avLst>
          </a:prstGeom>
          <a:solidFill>
            <a:srgbClr val="FFFFFF"/>
          </a:solidFill>
          <a:ln w="12700">
            <a:solidFill>
              <a:srgbClr val="D7E3F7"/>
            </a:solidFill>
            <a:prstDash val="solid"/>
          </a:ln>
        </p:spPr>
        <p:txBody>
          <a:bodyPr/>
          <a:lstStyle/>
          <a:p>
            <a:endParaRPr lang="zh-CN" altLang="en-US"/>
          </a:p>
        </p:txBody>
      </p:sp>
      <p:sp>
        <p:nvSpPr>
          <p:cNvPr id="23" name="Text 5">
            <a:extLst>
              <a:ext uri="{FF2B5EF4-FFF2-40B4-BE49-F238E27FC236}">
                <a16:creationId xmlns:a16="http://schemas.microsoft.com/office/drawing/2014/main" id="{A14920C8-AF29-2D52-930A-D56524F95411}"/>
              </a:ext>
            </a:extLst>
          </p:cNvPr>
          <p:cNvSpPr/>
          <p:nvPr/>
        </p:nvSpPr>
        <p:spPr>
          <a:xfrm>
            <a:off x="1081241" y="1590760"/>
            <a:ext cx="3063684" cy="492517"/>
          </a:xfrm>
          <a:prstGeom prst="rect">
            <a:avLst/>
          </a:prstGeom>
          <a:noFill/>
          <a:ln/>
        </p:spPr>
        <p:txBody>
          <a:bodyPr wrap="square" lIns="0" tIns="0" rIns="0" bIns="0" rtlCol="0" anchor="ctr"/>
          <a:lstStyle/>
          <a:p>
            <a:pPr marL="0" indent="0">
              <a:buNone/>
            </a:pPr>
            <a:r>
              <a:rPr lang="en-US" altLang="zh-CN" b="1" dirty="0">
                <a:solidFill>
                  <a:schemeClr val="accent1"/>
                </a:solidFill>
              </a:rPr>
              <a:t>1. Robot &amp; Edge computing</a:t>
            </a:r>
            <a:endParaRPr lang="en-US" dirty="0">
              <a:solidFill>
                <a:schemeClr val="accent1"/>
              </a:solidFill>
            </a:endParaRPr>
          </a:p>
        </p:txBody>
      </p:sp>
      <p:sp>
        <p:nvSpPr>
          <p:cNvPr id="49" name="TextBox 48">
            <a:extLst>
              <a:ext uri="{FF2B5EF4-FFF2-40B4-BE49-F238E27FC236}">
                <a16:creationId xmlns:a16="http://schemas.microsoft.com/office/drawing/2014/main" id="{BD86C3C1-5FA4-7179-903D-B0BF521BB7C2}"/>
              </a:ext>
            </a:extLst>
          </p:cNvPr>
          <p:cNvSpPr txBox="1"/>
          <p:nvPr/>
        </p:nvSpPr>
        <p:spPr>
          <a:xfrm>
            <a:off x="1081241" y="2557918"/>
            <a:ext cx="3990755" cy="1192634"/>
          </a:xfrm>
          <a:prstGeom prst="rect">
            <a:avLst/>
          </a:prstGeom>
          <a:noFill/>
        </p:spPr>
        <p:txBody>
          <a:bodyPr wrap="square">
            <a:spAutoFit/>
          </a:bodyPr>
          <a:lstStyle/>
          <a:p>
            <a:pPr>
              <a:spcAft>
                <a:spcPts val="250"/>
              </a:spcAft>
            </a:pPr>
            <a:r>
              <a:rPr sz="1600" dirty="0">
                <a:solidFill>
                  <a:srgbClr val="232323"/>
                </a:solidFill>
                <a:latin typeface="Aptos"/>
              </a:rPr>
              <a:t>• Ubuntu Linux</a:t>
            </a:r>
          </a:p>
          <a:p>
            <a:pPr>
              <a:spcAft>
                <a:spcPts val="250"/>
              </a:spcAft>
            </a:pPr>
            <a:r>
              <a:rPr sz="1600" dirty="0">
                <a:solidFill>
                  <a:srgbClr val="232323"/>
                </a:solidFill>
                <a:latin typeface="Aptos"/>
              </a:rPr>
              <a:t>• ROS 2</a:t>
            </a:r>
          </a:p>
          <a:p>
            <a:pPr>
              <a:spcAft>
                <a:spcPts val="250"/>
              </a:spcAft>
            </a:pPr>
            <a:r>
              <a:rPr sz="1600" dirty="0">
                <a:solidFill>
                  <a:srgbClr val="232323"/>
                </a:solidFill>
                <a:latin typeface="Aptos"/>
              </a:rPr>
              <a:t>• Python / C++</a:t>
            </a:r>
          </a:p>
          <a:p>
            <a:pPr>
              <a:spcAft>
                <a:spcPts val="250"/>
              </a:spcAft>
            </a:pPr>
            <a:r>
              <a:rPr sz="1600" dirty="0">
                <a:solidFill>
                  <a:srgbClr val="232323"/>
                </a:solidFill>
                <a:latin typeface="Aptos"/>
              </a:rPr>
              <a:t>• ROS 2 workspace &amp; package system</a:t>
            </a:r>
          </a:p>
        </p:txBody>
      </p:sp>
      <p:sp>
        <p:nvSpPr>
          <p:cNvPr id="103" name="TextBox 102">
            <a:extLst>
              <a:ext uri="{FF2B5EF4-FFF2-40B4-BE49-F238E27FC236}">
                <a16:creationId xmlns:a16="http://schemas.microsoft.com/office/drawing/2014/main" id="{66F24F2F-DB8C-C3A7-8369-C712764C0DEB}"/>
              </a:ext>
            </a:extLst>
          </p:cNvPr>
          <p:cNvSpPr txBox="1"/>
          <p:nvPr/>
        </p:nvSpPr>
        <p:spPr>
          <a:xfrm>
            <a:off x="1081241" y="2002347"/>
            <a:ext cx="4708187" cy="523220"/>
          </a:xfrm>
          <a:prstGeom prst="rect">
            <a:avLst/>
          </a:prstGeom>
          <a:noFill/>
        </p:spPr>
        <p:txBody>
          <a:bodyPr wrap="square" anchor="t">
            <a:spAutoFit/>
          </a:bodyPr>
          <a:lstStyle/>
          <a:p>
            <a:pPr algn="l"/>
            <a:r>
              <a:rPr sz="1400" b="1" dirty="0">
                <a:solidFill>
                  <a:srgbClr val="2D2D2D"/>
                </a:solidFill>
                <a:latin typeface="Aptos"/>
              </a:rPr>
              <a:t>Provides the common runtime and development environment for robot-side and edge-node applications.</a:t>
            </a:r>
          </a:p>
        </p:txBody>
      </p:sp>
      <p:sp>
        <p:nvSpPr>
          <p:cNvPr id="105" name="Shape 8">
            <a:extLst>
              <a:ext uri="{FF2B5EF4-FFF2-40B4-BE49-F238E27FC236}">
                <a16:creationId xmlns:a16="http://schemas.microsoft.com/office/drawing/2014/main" id="{6E24F6A4-3BE4-AB5F-21BD-734B982645CA}"/>
              </a:ext>
            </a:extLst>
          </p:cNvPr>
          <p:cNvSpPr/>
          <p:nvPr/>
        </p:nvSpPr>
        <p:spPr>
          <a:xfrm>
            <a:off x="6518201" y="1590760"/>
            <a:ext cx="5007049" cy="2226433"/>
          </a:xfrm>
          <a:prstGeom prst="roundRect">
            <a:avLst>
              <a:gd name="adj" fmla="val 5714"/>
            </a:avLst>
          </a:prstGeom>
          <a:solidFill>
            <a:srgbClr val="FFFFFF"/>
          </a:solidFill>
          <a:ln w="12700">
            <a:solidFill>
              <a:srgbClr val="D7E3F7"/>
            </a:solidFill>
            <a:prstDash val="solid"/>
          </a:ln>
        </p:spPr>
        <p:txBody>
          <a:bodyPr/>
          <a:lstStyle/>
          <a:p>
            <a:endParaRPr lang="zh-CN" altLang="en-US"/>
          </a:p>
        </p:txBody>
      </p:sp>
      <p:sp>
        <p:nvSpPr>
          <p:cNvPr id="107" name="Text 5">
            <a:extLst>
              <a:ext uri="{FF2B5EF4-FFF2-40B4-BE49-F238E27FC236}">
                <a16:creationId xmlns:a16="http://schemas.microsoft.com/office/drawing/2014/main" id="{4CD425CC-4F11-800D-C6C5-2DAD2BB42B9B}"/>
              </a:ext>
            </a:extLst>
          </p:cNvPr>
          <p:cNvSpPr/>
          <p:nvPr/>
        </p:nvSpPr>
        <p:spPr>
          <a:xfrm>
            <a:off x="6682384" y="1590760"/>
            <a:ext cx="3063684" cy="492517"/>
          </a:xfrm>
          <a:prstGeom prst="rect">
            <a:avLst/>
          </a:prstGeom>
          <a:noFill/>
          <a:ln/>
        </p:spPr>
        <p:txBody>
          <a:bodyPr wrap="square" lIns="0" tIns="0" rIns="0" bIns="0" rtlCol="0" anchor="ctr"/>
          <a:lstStyle/>
          <a:p>
            <a:pPr marL="0" indent="0">
              <a:buNone/>
            </a:pPr>
            <a:r>
              <a:rPr lang="en-US" altLang="zh-CN" b="1" dirty="0">
                <a:solidFill>
                  <a:schemeClr val="accent2">
                    <a:lumMod val="75000"/>
                  </a:schemeClr>
                </a:solidFill>
              </a:rPr>
              <a:t>2. Simulation environment</a:t>
            </a:r>
            <a:endParaRPr lang="en-US" dirty="0">
              <a:solidFill>
                <a:schemeClr val="accent2">
                  <a:lumMod val="75000"/>
                </a:schemeClr>
              </a:solidFill>
            </a:endParaRPr>
          </a:p>
        </p:txBody>
      </p:sp>
      <p:sp>
        <p:nvSpPr>
          <p:cNvPr id="109" name="TextBox 108">
            <a:extLst>
              <a:ext uri="{FF2B5EF4-FFF2-40B4-BE49-F238E27FC236}">
                <a16:creationId xmlns:a16="http://schemas.microsoft.com/office/drawing/2014/main" id="{60751255-AD3C-DB88-EC44-64C150F03CD2}"/>
              </a:ext>
            </a:extLst>
          </p:cNvPr>
          <p:cNvSpPr txBox="1"/>
          <p:nvPr/>
        </p:nvSpPr>
        <p:spPr>
          <a:xfrm>
            <a:off x="6682384" y="2557918"/>
            <a:ext cx="3990755" cy="1192634"/>
          </a:xfrm>
          <a:prstGeom prst="rect">
            <a:avLst/>
          </a:prstGeom>
          <a:noFill/>
        </p:spPr>
        <p:txBody>
          <a:bodyPr wrap="square">
            <a:spAutoFit/>
          </a:bodyPr>
          <a:lstStyle/>
          <a:p>
            <a:pPr>
              <a:spcAft>
                <a:spcPts val="250"/>
              </a:spcAft>
            </a:pPr>
            <a:r>
              <a:rPr sz="1600" dirty="0">
                <a:solidFill>
                  <a:srgbClr val="232323"/>
                </a:solidFill>
                <a:latin typeface="Aptos"/>
              </a:rPr>
              <a:t>• </a:t>
            </a:r>
            <a:r>
              <a:rPr lang="en-US" sz="1600" dirty="0">
                <a:solidFill>
                  <a:srgbClr val="232323"/>
                </a:solidFill>
                <a:latin typeface="Aptos"/>
              </a:rPr>
              <a:t>Gazebo</a:t>
            </a:r>
            <a:endParaRPr sz="1600" dirty="0">
              <a:solidFill>
                <a:srgbClr val="232323"/>
              </a:solidFill>
              <a:latin typeface="Aptos"/>
            </a:endParaRPr>
          </a:p>
          <a:p>
            <a:pPr>
              <a:spcAft>
                <a:spcPts val="250"/>
              </a:spcAft>
            </a:pPr>
            <a:r>
              <a:rPr sz="1600" dirty="0">
                <a:solidFill>
                  <a:srgbClr val="232323"/>
                </a:solidFill>
                <a:latin typeface="Aptos"/>
              </a:rPr>
              <a:t>• </a:t>
            </a:r>
            <a:r>
              <a:rPr lang="en-US" sz="1600" dirty="0">
                <a:solidFill>
                  <a:srgbClr val="232323"/>
                </a:solidFill>
                <a:latin typeface="Aptos"/>
              </a:rPr>
              <a:t>Simulated robot model</a:t>
            </a:r>
            <a:endParaRPr sz="1600" dirty="0">
              <a:solidFill>
                <a:srgbClr val="232323"/>
              </a:solidFill>
              <a:latin typeface="Aptos"/>
            </a:endParaRPr>
          </a:p>
          <a:p>
            <a:pPr>
              <a:spcAft>
                <a:spcPts val="250"/>
              </a:spcAft>
            </a:pPr>
            <a:r>
              <a:rPr sz="1600" dirty="0">
                <a:solidFill>
                  <a:srgbClr val="232323"/>
                </a:solidFill>
                <a:latin typeface="Aptos"/>
              </a:rPr>
              <a:t>• </a:t>
            </a:r>
            <a:r>
              <a:rPr lang="en-US" sz="1600" dirty="0">
                <a:solidFill>
                  <a:srgbClr val="232323"/>
                </a:solidFill>
                <a:latin typeface="Aptos"/>
              </a:rPr>
              <a:t>Simulated indoor competition arena</a:t>
            </a:r>
            <a:endParaRPr sz="1600" dirty="0">
              <a:solidFill>
                <a:srgbClr val="232323"/>
              </a:solidFill>
              <a:latin typeface="Aptos"/>
            </a:endParaRPr>
          </a:p>
          <a:p>
            <a:pPr>
              <a:spcAft>
                <a:spcPts val="250"/>
              </a:spcAft>
            </a:pPr>
            <a:r>
              <a:rPr sz="1600" dirty="0">
                <a:solidFill>
                  <a:srgbClr val="232323"/>
                </a:solidFill>
                <a:latin typeface="Aptos"/>
              </a:rPr>
              <a:t>• </a:t>
            </a:r>
            <a:r>
              <a:rPr lang="en-US" sz="1600" dirty="0">
                <a:solidFill>
                  <a:srgbClr val="232323"/>
                </a:solidFill>
                <a:latin typeface="Aptos"/>
              </a:rPr>
              <a:t>Simulated LiDAR/RGB-D sensors</a:t>
            </a:r>
            <a:endParaRPr sz="1600" dirty="0">
              <a:solidFill>
                <a:srgbClr val="232323"/>
              </a:solidFill>
              <a:latin typeface="Aptos"/>
            </a:endParaRPr>
          </a:p>
        </p:txBody>
      </p:sp>
      <p:sp>
        <p:nvSpPr>
          <p:cNvPr id="111" name="TextBox 110">
            <a:extLst>
              <a:ext uri="{FF2B5EF4-FFF2-40B4-BE49-F238E27FC236}">
                <a16:creationId xmlns:a16="http://schemas.microsoft.com/office/drawing/2014/main" id="{458FA121-75A7-7554-E174-5BB49DDE9F7B}"/>
              </a:ext>
            </a:extLst>
          </p:cNvPr>
          <p:cNvSpPr txBox="1"/>
          <p:nvPr/>
        </p:nvSpPr>
        <p:spPr>
          <a:xfrm>
            <a:off x="6682384" y="2002347"/>
            <a:ext cx="4708187" cy="523220"/>
          </a:xfrm>
          <a:prstGeom prst="rect">
            <a:avLst/>
          </a:prstGeom>
          <a:noFill/>
        </p:spPr>
        <p:txBody>
          <a:bodyPr wrap="square" anchor="t">
            <a:spAutoFit/>
          </a:bodyPr>
          <a:lstStyle/>
          <a:p>
            <a:r>
              <a:rPr lang="en-US" altLang="zh-CN" sz="1400" b="1" dirty="0">
                <a:solidFill>
                  <a:srgbClr val="2D2D2D"/>
                </a:solidFill>
                <a:latin typeface="Aptos"/>
              </a:rPr>
              <a:t>Enables autonomy and multi-robot behaviors to be developed and tested before physical deployment.</a:t>
            </a:r>
          </a:p>
        </p:txBody>
      </p:sp>
      <p:sp>
        <p:nvSpPr>
          <p:cNvPr id="115" name="Shape 8">
            <a:extLst>
              <a:ext uri="{FF2B5EF4-FFF2-40B4-BE49-F238E27FC236}">
                <a16:creationId xmlns:a16="http://schemas.microsoft.com/office/drawing/2014/main" id="{15F9081B-FB4B-8CC9-989F-07EC15BDAC30}"/>
              </a:ext>
            </a:extLst>
          </p:cNvPr>
          <p:cNvSpPr/>
          <p:nvPr/>
        </p:nvSpPr>
        <p:spPr>
          <a:xfrm>
            <a:off x="915995" y="3961821"/>
            <a:ext cx="5007049" cy="2226433"/>
          </a:xfrm>
          <a:prstGeom prst="roundRect">
            <a:avLst>
              <a:gd name="adj" fmla="val 5714"/>
            </a:avLst>
          </a:prstGeom>
          <a:solidFill>
            <a:srgbClr val="FFFFFF"/>
          </a:solidFill>
          <a:ln w="12700">
            <a:solidFill>
              <a:srgbClr val="D7E3F7"/>
            </a:solidFill>
            <a:prstDash val="solid"/>
          </a:ln>
        </p:spPr>
        <p:txBody>
          <a:bodyPr/>
          <a:lstStyle/>
          <a:p>
            <a:endParaRPr lang="zh-CN" altLang="en-US"/>
          </a:p>
        </p:txBody>
      </p:sp>
      <p:sp>
        <p:nvSpPr>
          <p:cNvPr id="117" name="Text 5">
            <a:extLst>
              <a:ext uri="{FF2B5EF4-FFF2-40B4-BE49-F238E27FC236}">
                <a16:creationId xmlns:a16="http://schemas.microsoft.com/office/drawing/2014/main" id="{D926B795-093C-0F78-E09C-839E201765C0}"/>
              </a:ext>
            </a:extLst>
          </p:cNvPr>
          <p:cNvSpPr/>
          <p:nvPr/>
        </p:nvSpPr>
        <p:spPr>
          <a:xfrm>
            <a:off x="1080178" y="3961821"/>
            <a:ext cx="3063684" cy="492517"/>
          </a:xfrm>
          <a:prstGeom prst="rect">
            <a:avLst/>
          </a:prstGeom>
          <a:noFill/>
          <a:ln/>
        </p:spPr>
        <p:txBody>
          <a:bodyPr wrap="square" lIns="0" tIns="0" rIns="0" bIns="0" rtlCol="0" anchor="ctr"/>
          <a:lstStyle/>
          <a:p>
            <a:pPr marL="0" indent="0">
              <a:buNone/>
            </a:pPr>
            <a:r>
              <a:rPr lang="en-US" altLang="zh-CN" b="1" dirty="0">
                <a:solidFill>
                  <a:schemeClr val="accent6">
                    <a:lumMod val="75000"/>
                  </a:schemeClr>
                </a:solidFill>
              </a:rPr>
              <a:t>3. Communication environment</a:t>
            </a:r>
            <a:endParaRPr lang="en-US" dirty="0">
              <a:solidFill>
                <a:schemeClr val="accent6">
                  <a:lumMod val="75000"/>
                </a:schemeClr>
              </a:solidFill>
            </a:endParaRPr>
          </a:p>
        </p:txBody>
      </p:sp>
      <p:sp>
        <p:nvSpPr>
          <p:cNvPr id="119" name="TextBox 118">
            <a:extLst>
              <a:ext uri="{FF2B5EF4-FFF2-40B4-BE49-F238E27FC236}">
                <a16:creationId xmlns:a16="http://schemas.microsoft.com/office/drawing/2014/main" id="{651E51A2-5ADC-CE67-DC44-91E21A6BC1BE}"/>
              </a:ext>
            </a:extLst>
          </p:cNvPr>
          <p:cNvSpPr txBox="1"/>
          <p:nvPr/>
        </p:nvSpPr>
        <p:spPr>
          <a:xfrm>
            <a:off x="1081241" y="4980339"/>
            <a:ext cx="3990755" cy="1192634"/>
          </a:xfrm>
          <a:prstGeom prst="rect">
            <a:avLst/>
          </a:prstGeom>
          <a:noFill/>
        </p:spPr>
        <p:txBody>
          <a:bodyPr wrap="square">
            <a:spAutoFit/>
          </a:bodyPr>
          <a:lstStyle/>
          <a:p>
            <a:pPr>
              <a:spcAft>
                <a:spcPts val="250"/>
              </a:spcAft>
            </a:pPr>
            <a:r>
              <a:rPr sz="1600" dirty="0">
                <a:solidFill>
                  <a:srgbClr val="232323"/>
                </a:solidFill>
                <a:latin typeface="Aptos"/>
              </a:rPr>
              <a:t>• </a:t>
            </a:r>
            <a:r>
              <a:rPr lang="en-US" sz="1600" dirty="0">
                <a:solidFill>
                  <a:srgbClr val="232323"/>
                </a:solidFill>
                <a:latin typeface="Aptos"/>
              </a:rPr>
              <a:t>Local Wi-Fi/LAN</a:t>
            </a:r>
            <a:endParaRPr sz="1600" dirty="0">
              <a:solidFill>
                <a:srgbClr val="232323"/>
              </a:solidFill>
              <a:latin typeface="Aptos"/>
            </a:endParaRPr>
          </a:p>
          <a:p>
            <a:pPr>
              <a:spcAft>
                <a:spcPts val="250"/>
              </a:spcAft>
            </a:pPr>
            <a:r>
              <a:rPr sz="1600" dirty="0">
                <a:solidFill>
                  <a:srgbClr val="232323"/>
                </a:solidFill>
                <a:latin typeface="Aptos"/>
              </a:rPr>
              <a:t>• ROS 2</a:t>
            </a:r>
            <a:r>
              <a:rPr lang="en-US" sz="1600" dirty="0">
                <a:solidFill>
                  <a:srgbClr val="232323"/>
                </a:solidFill>
                <a:latin typeface="Aptos"/>
              </a:rPr>
              <a:t> DDS communication</a:t>
            </a:r>
            <a:endParaRPr sz="1600" dirty="0">
              <a:solidFill>
                <a:srgbClr val="232323"/>
              </a:solidFill>
              <a:latin typeface="Aptos"/>
            </a:endParaRPr>
          </a:p>
          <a:p>
            <a:pPr>
              <a:spcAft>
                <a:spcPts val="250"/>
              </a:spcAft>
            </a:pPr>
            <a:r>
              <a:rPr sz="1600" dirty="0">
                <a:solidFill>
                  <a:srgbClr val="232323"/>
                </a:solidFill>
                <a:latin typeface="Aptos"/>
              </a:rPr>
              <a:t>• </a:t>
            </a:r>
            <a:r>
              <a:rPr lang="en-US" sz="1600" dirty="0">
                <a:solidFill>
                  <a:srgbClr val="232323"/>
                </a:solidFill>
                <a:latin typeface="Aptos"/>
              </a:rPr>
              <a:t>Topics / services / actions</a:t>
            </a:r>
            <a:endParaRPr sz="1600" dirty="0">
              <a:solidFill>
                <a:srgbClr val="232323"/>
              </a:solidFill>
              <a:latin typeface="Aptos"/>
            </a:endParaRPr>
          </a:p>
          <a:p>
            <a:pPr>
              <a:spcAft>
                <a:spcPts val="250"/>
              </a:spcAft>
            </a:pPr>
            <a:r>
              <a:rPr sz="1600" dirty="0">
                <a:solidFill>
                  <a:srgbClr val="232323"/>
                </a:solidFill>
                <a:latin typeface="Aptos"/>
              </a:rPr>
              <a:t>• </a:t>
            </a:r>
            <a:r>
              <a:rPr lang="en-US" sz="1600" dirty="0">
                <a:solidFill>
                  <a:srgbClr val="232323"/>
                </a:solidFill>
                <a:latin typeface="Aptos"/>
              </a:rPr>
              <a:t>Robot IDs and namespaces</a:t>
            </a:r>
            <a:endParaRPr sz="1600" dirty="0">
              <a:solidFill>
                <a:srgbClr val="232323"/>
              </a:solidFill>
              <a:latin typeface="Aptos"/>
            </a:endParaRPr>
          </a:p>
        </p:txBody>
      </p:sp>
      <p:sp>
        <p:nvSpPr>
          <p:cNvPr id="121" name="TextBox 120">
            <a:extLst>
              <a:ext uri="{FF2B5EF4-FFF2-40B4-BE49-F238E27FC236}">
                <a16:creationId xmlns:a16="http://schemas.microsoft.com/office/drawing/2014/main" id="{012AC470-5E96-F4A5-A485-49A594C91645}"/>
              </a:ext>
            </a:extLst>
          </p:cNvPr>
          <p:cNvSpPr txBox="1"/>
          <p:nvPr/>
        </p:nvSpPr>
        <p:spPr>
          <a:xfrm>
            <a:off x="1080178" y="4314819"/>
            <a:ext cx="4964786" cy="738664"/>
          </a:xfrm>
          <a:prstGeom prst="rect">
            <a:avLst/>
          </a:prstGeom>
          <a:noFill/>
        </p:spPr>
        <p:txBody>
          <a:bodyPr wrap="square" anchor="t">
            <a:spAutoFit/>
          </a:bodyPr>
          <a:lstStyle/>
          <a:p>
            <a:r>
              <a:rPr lang="zh-CN" altLang="zh-CN" sz="1400" b="1" dirty="0">
                <a:solidFill>
                  <a:srgbClr val="2D2D2D"/>
                </a:solidFill>
                <a:latin typeface="Aptos"/>
              </a:rPr>
              <a:t>Supports communication between robots, the edge node, and the operator, including task dispatching, state sharing, feedback, and coordination.</a:t>
            </a:r>
            <a:endParaRPr sz="1400" b="1" dirty="0">
              <a:solidFill>
                <a:srgbClr val="2D2D2D"/>
              </a:solidFill>
              <a:latin typeface="Aptos"/>
            </a:endParaRPr>
          </a:p>
        </p:txBody>
      </p:sp>
      <p:sp>
        <p:nvSpPr>
          <p:cNvPr id="123" name="Shape 8">
            <a:extLst>
              <a:ext uri="{FF2B5EF4-FFF2-40B4-BE49-F238E27FC236}">
                <a16:creationId xmlns:a16="http://schemas.microsoft.com/office/drawing/2014/main" id="{DB5338F9-4A6F-0BA9-83D9-B1586188082D}"/>
              </a:ext>
            </a:extLst>
          </p:cNvPr>
          <p:cNvSpPr/>
          <p:nvPr/>
        </p:nvSpPr>
        <p:spPr>
          <a:xfrm>
            <a:off x="6517138" y="3961821"/>
            <a:ext cx="5007049" cy="2226433"/>
          </a:xfrm>
          <a:prstGeom prst="roundRect">
            <a:avLst>
              <a:gd name="adj" fmla="val 5714"/>
            </a:avLst>
          </a:prstGeom>
          <a:solidFill>
            <a:srgbClr val="FFFFFF"/>
          </a:solidFill>
          <a:ln w="12700">
            <a:solidFill>
              <a:srgbClr val="D7E3F7"/>
            </a:solidFill>
            <a:prstDash val="solid"/>
          </a:ln>
        </p:spPr>
        <p:txBody>
          <a:bodyPr/>
          <a:lstStyle/>
          <a:p>
            <a:endParaRPr lang="zh-CN" altLang="en-US"/>
          </a:p>
        </p:txBody>
      </p:sp>
      <p:sp>
        <p:nvSpPr>
          <p:cNvPr id="125" name="Text 5">
            <a:extLst>
              <a:ext uri="{FF2B5EF4-FFF2-40B4-BE49-F238E27FC236}">
                <a16:creationId xmlns:a16="http://schemas.microsoft.com/office/drawing/2014/main" id="{B659A454-6B0F-0042-8500-C86AF397D1FF}"/>
              </a:ext>
            </a:extLst>
          </p:cNvPr>
          <p:cNvSpPr/>
          <p:nvPr/>
        </p:nvSpPr>
        <p:spPr>
          <a:xfrm>
            <a:off x="6681321" y="3961821"/>
            <a:ext cx="3063684" cy="492517"/>
          </a:xfrm>
          <a:prstGeom prst="rect">
            <a:avLst/>
          </a:prstGeom>
          <a:noFill/>
          <a:ln/>
        </p:spPr>
        <p:txBody>
          <a:bodyPr wrap="square" lIns="0" tIns="0" rIns="0" bIns="0" rtlCol="0" anchor="ctr"/>
          <a:lstStyle/>
          <a:p>
            <a:pPr marL="0" indent="0">
              <a:buNone/>
            </a:pPr>
            <a:r>
              <a:rPr lang="en-US" altLang="zh-CN" b="1" dirty="0">
                <a:solidFill>
                  <a:schemeClr val="accent5">
                    <a:lumMod val="75000"/>
                  </a:schemeClr>
                </a:solidFill>
              </a:rPr>
              <a:t>4. Development &amp; Debugging</a:t>
            </a:r>
            <a:endParaRPr lang="en-US" dirty="0">
              <a:solidFill>
                <a:schemeClr val="accent5">
                  <a:lumMod val="75000"/>
                </a:schemeClr>
              </a:solidFill>
            </a:endParaRPr>
          </a:p>
        </p:txBody>
      </p:sp>
      <p:sp>
        <p:nvSpPr>
          <p:cNvPr id="127" name="TextBox 126">
            <a:extLst>
              <a:ext uri="{FF2B5EF4-FFF2-40B4-BE49-F238E27FC236}">
                <a16:creationId xmlns:a16="http://schemas.microsoft.com/office/drawing/2014/main" id="{ABBD6663-880C-7141-6609-512AE14EBAB0}"/>
              </a:ext>
            </a:extLst>
          </p:cNvPr>
          <p:cNvSpPr txBox="1"/>
          <p:nvPr/>
        </p:nvSpPr>
        <p:spPr>
          <a:xfrm>
            <a:off x="6693237" y="4895258"/>
            <a:ext cx="3990755" cy="1192634"/>
          </a:xfrm>
          <a:prstGeom prst="rect">
            <a:avLst/>
          </a:prstGeom>
          <a:noFill/>
        </p:spPr>
        <p:txBody>
          <a:bodyPr wrap="square">
            <a:spAutoFit/>
          </a:bodyPr>
          <a:lstStyle/>
          <a:p>
            <a:pPr>
              <a:spcAft>
                <a:spcPts val="250"/>
              </a:spcAft>
            </a:pPr>
            <a:r>
              <a:rPr sz="1600" dirty="0">
                <a:solidFill>
                  <a:srgbClr val="232323"/>
                </a:solidFill>
                <a:latin typeface="Aptos"/>
              </a:rPr>
              <a:t>• </a:t>
            </a:r>
            <a:r>
              <a:rPr lang="en-US" sz="1600" dirty="0">
                <a:solidFill>
                  <a:srgbClr val="232323"/>
                </a:solidFill>
                <a:latin typeface="Aptos"/>
              </a:rPr>
              <a:t>RViz</a:t>
            </a:r>
            <a:endParaRPr sz="1600" dirty="0">
              <a:solidFill>
                <a:srgbClr val="232323"/>
              </a:solidFill>
              <a:latin typeface="Aptos"/>
            </a:endParaRPr>
          </a:p>
          <a:p>
            <a:pPr>
              <a:spcAft>
                <a:spcPts val="250"/>
              </a:spcAft>
            </a:pPr>
            <a:r>
              <a:rPr sz="1600" dirty="0">
                <a:solidFill>
                  <a:srgbClr val="232323"/>
                </a:solidFill>
                <a:latin typeface="Aptos"/>
              </a:rPr>
              <a:t>• </a:t>
            </a:r>
            <a:r>
              <a:rPr lang="en-US" sz="1600" dirty="0">
                <a:solidFill>
                  <a:srgbClr val="232323"/>
                </a:solidFill>
                <a:latin typeface="Aptos"/>
              </a:rPr>
              <a:t>ROS 2 CLI &amp; </a:t>
            </a:r>
            <a:r>
              <a:rPr lang="en-US" sz="1600" dirty="0" err="1">
                <a:solidFill>
                  <a:srgbClr val="232323"/>
                </a:solidFill>
                <a:latin typeface="Aptos"/>
              </a:rPr>
              <a:t>colcon</a:t>
            </a:r>
            <a:endParaRPr sz="1600" dirty="0">
              <a:solidFill>
                <a:srgbClr val="232323"/>
              </a:solidFill>
              <a:latin typeface="Aptos"/>
            </a:endParaRPr>
          </a:p>
          <a:p>
            <a:pPr>
              <a:spcAft>
                <a:spcPts val="250"/>
              </a:spcAft>
            </a:pPr>
            <a:r>
              <a:rPr sz="1600" dirty="0">
                <a:solidFill>
                  <a:srgbClr val="232323"/>
                </a:solidFill>
                <a:latin typeface="Aptos"/>
              </a:rPr>
              <a:t>• </a:t>
            </a:r>
            <a:r>
              <a:rPr lang="en-US" sz="1600" dirty="0" err="1">
                <a:solidFill>
                  <a:srgbClr val="232323"/>
                </a:solidFill>
                <a:latin typeface="Aptos"/>
              </a:rPr>
              <a:t>rosbag</a:t>
            </a:r>
            <a:endParaRPr sz="1600" dirty="0">
              <a:solidFill>
                <a:srgbClr val="232323"/>
              </a:solidFill>
              <a:latin typeface="Aptos"/>
            </a:endParaRPr>
          </a:p>
          <a:p>
            <a:pPr>
              <a:spcAft>
                <a:spcPts val="250"/>
              </a:spcAft>
            </a:pPr>
            <a:r>
              <a:rPr sz="1600" dirty="0">
                <a:solidFill>
                  <a:srgbClr val="232323"/>
                </a:solidFill>
                <a:latin typeface="Aptos"/>
              </a:rPr>
              <a:t>• </a:t>
            </a:r>
            <a:r>
              <a:rPr lang="en-US" sz="1600" dirty="0">
                <a:solidFill>
                  <a:srgbClr val="232323"/>
                </a:solidFill>
                <a:latin typeface="Aptos"/>
              </a:rPr>
              <a:t>Git / VS C</a:t>
            </a:r>
            <a:r>
              <a:rPr lang="en-US" altLang="zh-CN" sz="1600" dirty="0">
                <a:solidFill>
                  <a:srgbClr val="232323"/>
                </a:solidFill>
                <a:latin typeface="Aptos"/>
              </a:rPr>
              <a:t>ode / terminal tools…</a:t>
            </a:r>
            <a:endParaRPr sz="1600" dirty="0">
              <a:solidFill>
                <a:srgbClr val="232323"/>
              </a:solidFill>
              <a:latin typeface="Aptos"/>
            </a:endParaRPr>
          </a:p>
        </p:txBody>
      </p:sp>
      <p:sp>
        <p:nvSpPr>
          <p:cNvPr id="129" name="TextBox 128">
            <a:extLst>
              <a:ext uri="{FF2B5EF4-FFF2-40B4-BE49-F238E27FC236}">
                <a16:creationId xmlns:a16="http://schemas.microsoft.com/office/drawing/2014/main" id="{C1BEF2DF-AABA-C18A-9671-95E68CF4785C}"/>
              </a:ext>
            </a:extLst>
          </p:cNvPr>
          <p:cNvSpPr txBox="1"/>
          <p:nvPr/>
        </p:nvSpPr>
        <p:spPr>
          <a:xfrm>
            <a:off x="6682384" y="4329268"/>
            <a:ext cx="4708187" cy="523220"/>
          </a:xfrm>
          <a:prstGeom prst="rect">
            <a:avLst/>
          </a:prstGeom>
          <a:noFill/>
        </p:spPr>
        <p:txBody>
          <a:bodyPr wrap="square" anchor="t">
            <a:spAutoFit/>
          </a:bodyPr>
          <a:lstStyle/>
          <a:p>
            <a:r>
              <a:rPr lang="en-US" altLang="zh-CN" sz="1400" b="1" dirty="0">
                <a:solidFill>
                  <a:srgbClr val="2D2D2D"/>
                </a:solidFill>
                <a:latin typeface="Aptos"/>
              </a:rPr>
              <a:t>Supports visualization, debugging, data recording, software integration, and team collaboration.</a:t>
            </a:r>
          </a:p>
        </p:txBody>
      </p:sp>
      <p:sp>
        <p:nvSpPr>
          <p:cNvPr id="131" name="TextBox 130">
            <a:extLst>
              <a:ext uri="{FF2B5EF4-FFF2-40B4-BE49-F238E27FC236}">
                <a16:creationId xmlns:a16="http://schemas.microsoft.com/office/drawing/2014/main" id="{2C57E68A-6801-065F-9FAE-761FFF819B45}"/>
              </a:ext>
            </a:extLst>
          </p:cNvPr>
          <p:cNvSpPr txBox="1"/>
          <p:nvPr/>
        </p:nvSpPr>
        <p:spPr>
          <a:xfrm>
            <a:off x="915995" y="6355651"/>
            <a:ext cx="10652760" cy="338554"/>
          </a:xfrm>
          <a:prstGeom prst="rect">
            <a:avLst/>
          </a:prstGeom>
          <a:noFill/>
        </p:spPr>
        <p:txBody>
          <a:bodyPr wrap="square" anchor="ctr">
            <a:spAutoFit/>
          </a:bodyPr>
          <a:lstStyle/>
          <a:p>
            <a:pPr algn="ctr"/>
            <a:r>
              <a:rPr sz="1600" b="1" dirty="0">
                <a:solidFill>
                  <a:srgbClr val="173047"/>
                </a:solidFill>
                <a:latin typeface="Aptos"/>
              </a:rPr>
              <a:t>Task 2B add-on: LLM inference runtime and model on the edge node — exact backend/model to be specified later.</a:t>
            </a:r>
          </a:p>
        </p:txBody>
      </p:sp>
    </p:spTree>
    <p:extLst>
      <p:ext uri="{BB962C8B-B14F-4D97-AF65-F5344CB8AC3E}">
        <p14:creationId xmlns:p14="http://schemas.microsoft.com/office/powerpoint/2010/main" val="41698089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BD5C6-9983-A9D5-6234-FACC302B9579}"/>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0D30D2B2-CC96-D280-C337-4B832EEDE87C}"/>
              </a:ext>
            </a:extLst>
          </p:cNvPr>
          <p:cNvSpPr>
            <a:spLocks noGrp="1"/>
          </p:cNvSpPr>
          <p:nvPr/>
        </p:nvSpPr>
        <p:spPr>
          <a:xfrm>
            <a:off x="571500" y="409575"/>
            <a:ext cx="10953750" cy="762000"/>
          </a:xfrm>
          <a:prstGeom prst="rect">
            <a:avLst/>
          </a:prstGeom>
          <a:noFill/>
          <a:ln w="9525">
            <a:noFill/>
          </a:ln>
        </p:spPr>
        <p:txBody>
          <a:bodyPr>
            <a:noAutofit/>
          </a:bodyPr>
          <a:lstStyle/>
          <a:p>
            <a:pPr>
              <a:defRPr sz="3000" b="1">
                <a:solidFill>
                  <a:srgbClr val="12283B"/>
                </a:solidFill>
                <a:latin typeface="Arial"/>
                <a:ea typeface="Arial"/>
                <a:cs typeface="Arial"/>
              </a:defRPr>
            </a:pPr>
            <a:r>
              <a:rPr lang="en-US" sz="3000" b="1" dirty="0">
                <a:solidFill>
                  <a:srgbClr val="12283B"/>
                </a:solidFill>
                <a:latin typeface="Arial"/>
                <a:ea typeface="Arial"/>
                <a:cs typeface="Arial"/>
              </a:rPr>
              <a:t>What we provide vs. What teams develop</a:t>
            </a:r>
            <a:endParaRPr sz="3000" b="1" dirty="0">
              <a:solidFill>
                <a:srgbClr val="12283B"/>
              </a:solidFill>
              <a:latin typeface="Arial"/>
              <a:ea typeface="Arial"/>
              <a:cs typeface="Arial"/>
            </a:endParaRPr>
          </a:p>
        </p:txBody>
      </p:sp>
      <p:sp>
        <p:nvSpPr>
          <p:cNvPr id="13" name="Shape 2">
            <a:extLst>
              <a:ext uri="{FF2B5EF4-FFF2-40B4-BE49-F238E27FC236}">
                <a16:creationId xmlns:a16="http://schemas.microsoft.com/office/drawing/2014/main" id="{38F707EB-CDF1-26E7-74C4-DF431AD0E379}"/>
              </a:ext>
            </a:extLst>
          </p:cNvPr>
          <p:cNvSpPr/>
          <p:nvPr/>
        </p:nvSpPr>
        <p:spPr>
          <a:xfrm>
            <a:off x="502920" y="1033272"/>
            <a:ext cx="11155680" cy="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133" name="Rounded Rectangle 4">
            <a:extLst>
              <a:ext uri="{FF2B5EF4-FFF2-40B4-BE49-F238E27FC236}">
                <a16:creationId xmlns:a16="http://schemas.microsoft.com/office/drawing/2014/main" id="{7C6BAACA-8334-DA53-D5AE-A53D534FB984}"/>
              </a:ext>
            </a:extLst>
          </p:cNvPr>
          <p:cNvSpPr/>
          <p:nvPr/>
        </p:nvSpPr>
        <p:spPr>
          <a:xfrm>
            <a:off x="460249" y="1346861"/>
            <a:ext cx="5532120" cy="4526280"/>
          </a:xfrm>
          <a:prstGeom prst="roundRect">
            <a:avLst/>
          </a:prstGeom>
          <a:solidFill>
            <a:srgbClr val="F6F9FC"/>
          </a:solidFill>
          <a:ln w="13970">
            <a:solidFill>
              <a:srgbClr val="CD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5" name="Rounded Rectangle 5">
            <a:extLst>
              <a:ext uri="{FF2B5EF4-FFF2-40B4-BE49-F238E27FC236}">
                <a16:creationId xmlns:a16="http://schemas.microsoft.com/office/drawing/2014/main" id="{D51AE516-C1F4-7D08-4727-23C8A0DC0533}"/>
              </a:ext>
            </a:extLst>
          </p:cNvPr>
          <p:cNvSpPr/>
          <p:nvPr/>
        </p:nvSpPr>
        <p:spPr>
          <a:xfrm>
            <a:off x="6199632" y="1356005"/>
            <a:ext cx="5394960" cy="4526280"/>
          </a:xfrm>
          <a:prstGeom prst="roundRect">
            <a:avLst/>
          </a:prstGeom>
          <a:solidFill>
            <a:srgbClr val="F9FAFC"/>
          </a:solidFill>
          <a:ln w="13970">
            <a:solidFill>
              <a:srgbClr val="CD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136">
            <a:extLst>
              <a:ext uri="{FF2B5EF4-FFF2-40B4-BE49-F238E27FC236}">
                <a16:creationId xmlns:a16="http://schemas.microsoft.com/office/drawing/2014/main" id="{184ACC91-8800-2D28-EDE3-E9713BEFCDD4}"/>
              </a:ext>
            </a:extLst>
          </p:cNvPr>
          <p:cNvSpPr txBox="1"/>
          <p:nvPr/>
        </p:nvSpPr>
        <p:spPr>
          <a:xfrm>
            <a:off x="758952" y="1538885"/>
            <a:ext cx="2880360" cy="320040"/>
          </a:xfrm>
          <a:prstGeom prst="rect">
            <a:avLst/>
          </a:prstGeom>
          <a:noFill/>
        </p:spPr>
        <p:txBody>
          <a:bodyPr wrap="square" anchor="ctr">
            <a:spAutoFit/>
          </a:bodyPr>
          <a:lstStyle/>
          <a:p>
            <a:pPr algn="l"/>
            <a:r>
              <a:rPr sz="1950" b="1">
                <a:solidFill>
                  <a:srgbClr val="1F5D7D"/>
                </a:solidFill>
                <a:latin typeface="Aptos"/>
              </a:rPr>
              <a:t>Organizer Provides</a:t>
            </a:r>
          </a:p>
        </p:txBody>
      </p:sp>
      <p:sp>
        <p:nvSpPr>
          <p:cNvPr id="139" name="TextBox 138">
            <a:extLst>
              <a:ext uri="{FF2B5EF4-FFF2-40B4-BE49-F238E27FC236}">
                <a16:creationId xmlns:a16="http://schemas.microsoft.com/office/drawing/2014/main" id="{FF67879F-0031-D38E-BF2A-13649214FA69}"/>
              </a:ext>
            </a:extLst>
          </p:cNvPr>
          <p:cNvSpPr txBox="1"/>
          <p:nvPr/>
        </p:nvSpPr>
        <p:spPr>
          <a:xfrm>
            <a:off x="6464808" y="1538885"/>
            <a:ext cx="3017520" cy="320040"/>
          </a:xfrm>
          <a:prstGeom prst="rect">
            <a:avLst/>
          </a:prstGeom>
          <a:noFill/>
        </p:spPr>
        <p:txBody>
          <a:bodyPr wrap="square" anchor="ctr">
            <a:spAutoFit/>
          </a:bodyPr>
          <a:lstStyle/>
          <a:p>
            <a:pPr algn="l"/>
            <a:r>
              <a:rPr sz="1950" b="1">
                <a:solidFill>
                  <a:srgbClr val="1F5D7D"/>
                </a:solidFill>
                <a:latin typeface="Aptos"/>
              </a:rPr>
              <a:t>Teams Develop</a:t>
            </a:r>
          </a:p>
        </p:txBody>
      </p:sp>
      <p:sp>
        <p:nvSpPr>
          <p:cNvPr id="141" name="TextBox 140">
            <a:extLst>
              <a:ext uri="{FF2B5EF4-FFF2-40B4-BE49-F238E27FC236}">
                <a16:creationId xmlns:a16="http://schemas.microsoft.com/office/drawing/2014/main" id="{BAD78097-2736-E710-27AB-45FA67A480BC}"/>
              </a:ext>
            </a:extLst>
          </p:cNvPr>
          <p:cNvSpPr txBox="1"/>
          <p:nvPr/>
        </p:nvSpPr>
        <p:spPr>
          <a:xfrm>
            <a:off x="758952" y="1950365"/>
            <a:ext cx="713232" cy="256032"/>
          </a:xfrm>
          <a:prstGeom prst="rect">
            <a:avLst/>
          </a:prstGeom>
          <a:noFill/>
        </p:spPr>
        <p:txBody>
          <a:bodyPr wrap="square" anchor="ctr">
            <a:spAutoFit/>
          </a:bodyPr>
          <a:lstStyle/>
          <a:p>
            <a:pPr algn="l"/>
            <a:r>
              <a:rPr sz="1180" b="1">
                <a:solidFill>
                  <a:srgbClr val="505050"/>
                </a:solidFill>
                <a:latin typeface="Aptos"/>
              </a:rPr>
              <a:t>Status:</a:t>
            </a:r>
          </a:p>
        </p:txBody>
      </p:sp>
      <p:sp>
        <p:nvSpPr>
          <p:cNvPr id="143" name="Rounded Rectangle 9">
            <a:extLst>
              <a:ext uri="{FF2B5EF4-FFF2-40B4-BE49-F238E27FC236}">
                <a16:creationId xmlns:a16="http://schemas.microsoft.com/office/drawing/2014/main" id="{AA71D1EB-5B0B-F392-0AFE-FA21D2096D2B}"/>
              </a:ext>
            </a:extLst>
          </p:cNvPr>
          <p:cNvSpPr/>
          <p:nvPr/>
        </p:nvSpPr>
        <p:spPr>
          <a:xfrm>
            <a:off x="1399032" y="1941221"/>
            <a:ext cx="1024128" cy="274320"/>
          </a:xfrm>
          <a:prstGeom prst="roundRect">
            <a:avLst/>
          </a:prstGeom>
          <a:solidFill>
            <a:srgbClr val="ECF8F0"/>
          </a:solidFill>
          <a:ln w="13970">
            <a:solidFill>
              <a:srgbClr val="2C80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TextBox 144">
            <a:extLst>
              <a:ext uri="{FF2B5EF4-FFF2-40B4-BE49-F238E27FC236}">
                <a16:creationId xmlns:a16="http://schemas.microsoft.com/office/drawing/2014/main" id="{19478D7F-1A7C-5774-DA05-6FA8CE72D49D}"/>
              </a:ext>
            </a:extLst>
          </p:cNvPr>
          <p:cNvSpPr txBox="1"/>
          <p:nvPr/>
        </p:nvSpPr>
        <p:spPr>
          <a:xfrm>
            <a:off x="1399032" y="1941221"/>
            <a:ext cx="1024128" cy="274320"/>
          </a:xfrm>
          <a:prstGeom prst="rect">
            <a:avLst/>
          </a:prstGeom>
          <a:noFill/>
        </p:spPr>
        <p:txBody>
          <a:bodyPr wrap="square" anchor="ctr">
            <a:spAutoFit/>
          </a:bodyPr>
          <a:lstStyle/>
          <a:p>
            <a:pPr algn="ctr"/>
            <a:r>
              <a:rPr sz="1050" b="1">
                <a:solidFill>
                  <a:srgbClr val="2C8052"/>
                </a:solidFill>
                <a:latin typeface="Aptos"/>
              </a:rPr>
              <a:t>Available</a:t>
            </a:r>
          </a:p>
        </p:txBody>
      </p:sp>
      <p:sp>
        <p:nvSpPr>
          <p:cNvPr id="147" name="Rounded Rectangle 11">
            <a:extLst>
              <a:ext uri="{FF2B5EF4-FFF2-40B4-BE49-F238E27FC236}">
                <a16:creationId xmlns:a16="http://schemas.microsoft.com/office/drawing/2014/main" id="{5A6253C5-7A81-3904-8244-724EF8AF8CA8}"/>
              </a:ext>
            </a:extLst>
          </p:cNvPr>
          <p:cNvSpPr/>
          <p:nvPr/>
        </p:nvSpPr>
        <p:spPr>
          <a:xfrm>
            <a:off x="2642616" y="1941221"/>
            <a:ext cx="1024128" cy="274320"/>
          </a:xfrm>
          <a:prstGeom prst="roundRect">
            <a:avLst/>
          </a:prstGeom>
          <a:solidFill>
            <a:srgbClr val="FFF7E7"/>
          </a:solidFill>
          <a:ln w="13970">
            <a:solidFill>
              <a:srgbClr val="B16F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TextBox 148">
            <a:extLst>
              <a:ext uri="{FF2B5EF4-FFF2-40B4-BE49-F238E27FC236}">
                <a16:creationId xmlns:a16="http://schemas.microsoft.com/office/drawing/2014/main" id="{0BE35935-FAD6-7F87-889F-4259DA4699A2}"/>
              </a:ext>
            </a:extLst>
          </p:cNvPr>
          <p:cNvSpPr txBox="1"/>
          <p:nvPr/>
        </p:nvSpPr>
        <p:spPr>
          <a:xfrm>
            <a:off x="2642616" y="1941221"/>
            <a:ext cx="1024128" cy="274320"/>
          </a:xfrm>
          <a:prstGeom prst="rect">
            <a:avLst/>
          </a:prstGeom>
          <a:noFill/>
        </p:spPr>
        <p:txBody>
          <a:bodyPr wrap="square" anchor="ctr">
            <a:spAutoFit/>
          </a:bodyPr>
          <a:lstStyle/>
          <a:p>
            <a:pPr algn="ctr"/>
            <a:r>
              <a:rPr sz="1050" b="1">
                <a:solidFill>
                  <a:srgbClr val="B16F16"/>
                </a:solidFill>
                <a:latin typeface="Aptos"/>
              </a:rPr>
              <a:t>Partial</a:t>
            </a:r>
          </a:p>
        </p:txBody>
      </p:sp>
      <p:sp>
        <p:nvSpPr>
          <p:cNvPr id="151" name="Rounded Rectangle 13">
            <a:extLst>
              <a:ext uri="{FF2B5EF4-FFF2-40B4-BE49-F238E27FC236}">
                <a16:creationId xmlns:a16="http://schemas.microsoft.com/office/drawing/2014/main" id="{279315BD-D4DC-0DCB-90D8-35BFF9F3E991}"/>
              </a:ext>
            </a:extLst>
          </p:cNvPr>
          <p:cNvSpPr/>
          <p:nvPr/>
        </p:nvSpPr>
        <p:spPr>
          <a:xfrm>
            <a:off x="3886200" y="1941221"/>
            <a:ext cx="1024128" cy="274320"/>
          </a:xfrm>
          <a:prstGeom prst="roundRect">
            <a:avLst/>
          </a:prstGeom>
          <a:solidFill>
            <a:srgbClr val="F0F2F4"/>
          </a:solidFill>
          <a:ln w="13970">
            <a:solidFill>
              <a:srgbClr val="6067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TextBox 152">
            <a:extLst>
              <a:ext uri="{FF2B5EF4-FFF2-40B4-BE49-F238E27FC236}">
                <a16:creationId xmlns:a16="http://schemas.microsoft.com/office/drawing/2014/main" id="{715615DF-0194-473C-D7F0-AC08857A0194}"/>
              </a:ext>
            </a:extLst>
          </p:cNvPr>
          <p:cNvSpPr txBox="1"/>
          <p:nvPr/>
        </p:nvSpPr>
        <p:spPr>
          <a:xfrm>
            <a:off x="3886200" y="1941221"/>
            <a:ext cx="1024128" cy="274320"/>
          </a:xfrm>
          <a:prstGeom prst="rect">
            <a:avLst/>
          </a:prstGeom>
          <a:noFill/>
        </p:spPr>
        <p:txBody>
          <a:bodyPr wrap="square" anchor="ctr">
            <a:spAutoFit/>
          </a:bodyPr>
          <a:lstStyle/>
          <a:p>
            <a:pPr algn="ctr"/>
            <a:r>
              <a:rPr sz="1050" b="1">
                <a:solidFill>
                  <a:srgbClr val="606770"/>
                </a:solidFill>
                <a:latin typeface="Aptos"/>
              </a:rPr>
              <a:t>To do</a:t>
            </a:r>
          </a:p>
        </p:txBody>
      </p:sp>
      <p:sp>
        <p:nvSpPr>
          <p:cNvPr id="155" name="Rounded Rectangle 15">
            <a:extLst>
              <a:ext uri="{FF2B5EF4-FFF2-40B4-BE49-F238E27FC236}">
                <a16:creationId xmlns:a16="http://schemas.microsoft.com/office/drawing/2014/main" id="{C77D4CDA-8F71-6C67-7764-3C102B65C0C6}"/>
              </a:ext>
            </a:extLst>
          </p:cNvPr>
          <p:cNvSpPr/>
          <p:nvPr/>
        </p:nvSpPr>
        <p:spPr>
          <a:xfrm>
            <a:off x="777240" y="2361845"/>
            <a:ext cx="1325880" cy="310896"/>
          </a:xfrm>
          <a:prstGeom prst="roundRect">
            <a:avLst/>
          </a:prstGeom>
          <a:solidFill>
            <a:srgbClr val="ECF8F0"/>
          </a:solidFill>
          <a:ln w="13970">
            <a:solidFill>
              <a:srgbClr val="2C80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TextBox 156">
            <a:extLst>
              <a:ext uri="{FF2B5EF4-FFF2-40B4-BE49-F238E27FC236}">
                <a16:creationId xmlns:a16="http://schemas.microsoft.com/office/drawing/2014/main" id="{153365EE-2200-C308-7B2F-2D73FC336AD5}"/>
              </a:ext>
            </a:extLst>
          </p:cNvPr>
          <p:cNvSpPr txBox="1"/>
          <p:nvPr/>
        </p:nvSpPr>
        <p:spPr>
          <a:xfrm>
            <a:off x="777240" y="2361845"/>
            <a:ext cx="1325880" cy="310896"/>
          </a:xfrm>
          <a:prstGeom prst="rect">
            <a:avLst/>
          </a:prstGeom>
          <a:noFill/>
        </p:spPr>
        <p:txBody>
          <a:bodyPr wrap="square" anchor="ctr">
            <a:spAutoFit/>
          </a:bodyPr>
          <a:lstStyle/>
          <a:p>
            <a:pPr algn="ctr"/>
            <a:r>
              <a:rPr sz="1130" b="1">
                <a:solidFill>
                  <a:srgbClr val="2C8052"/>
                </a:solidFill>
                <a:latin typeface="Aptos"/>
              </a:rPr>
              <a:t>Available</a:t>
            </a:r>
          </a:p>
        </p:txBody>
      </p:sp>
      <p:sp>
        <p:nvSpPr>
          <p:cNvPr id="159" name="TextBox 158">
            <a:extLst>
              <a:ext uri="{FF2B5EF4-FFF2-40B4-BE49-F238E27FC236}">
                <a16:creationId xmlns:a16="http://schemas.microsoft.com/office/drawing/2014/main" id="{4CB79B5A-A4EB-D7AE-F5E3-0C0CB82F1BC4}"/>
              </a:ext>
            </a:extLst>
          </p:cNvPr>
          <p:cNvSpPr txBox="1"/>
          <p:nvPr/>
        </p:nvSpPr>
        <p:spPr>
          <a:xfrm>
            <a:off x="2258568" y="2334413"/>
            <a:ext cx="3502152" cy="384048"/>
          </a:xfrm>
          <a:prstGeom prst="rect">
            <a:avLst/>
          </a:prstGeom>
          <a:noFill/>
        </p:spPr>
        <p:txBody>
          <a:bodyPr wrap="square" anchor="ctr">
            <a:spAutoFit/>
          </a:bodyPr>
          <a:lstStyle/>
          <a:p>
            <a:pPr algn="l"/>
            <a:r>
              <a:rPr sz="1300" b="0">
                <a:solidFill>
                  <a:srgbClr val="282828"/>
                </a:solidFill>
                <a:latin typeface="Aptos"/>
              </a:rPr>
              <a:t>Robot platform &amp; onboard hardware</a:t>
            </a:r>
          </a:p>
        </p:txBody>
      </p:sp>
      <p:sp>
        <p:nvSpPr>
          <p:cNvPr id="161" name="Rounded Rectangle 18">
            <a:extLst>
              <a:ext uri="{FF2B5EF4-FFF2-40B4-BE49-F238E27FC236}">
                <a16:creationId xmlns:a16="http://schemas.microsoft.com/office/drawing/2014/main" id="{58B732B0-967B-8BC4-0C4B-F0747E9B85D5}"/>
              </a:ext>
            </a:extLst>
          </p:cNvPr>
          <p:cNvSpPr/>
          <p:nvPr/>
        </p:nvSpPr>
        <p:spPr>
          <a:xfrm>
            <a:off x="777240" y="2732176"/>
            <a:ext cx="1325880" cy="310896"/>
          </a:xfrm>
          <a:prstGeom prst="roundRect">
            <a:avLst/>
          </a:prstGeom>
          <a:solidFill>
            <a:srgbClr val="ECF8F0"/>
          </a:solidFill>
          <a:ln w="13970">
            <a:solidFill>
              <a:srgbClr val="2C80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TextBox 162">
            <a:extLst>
              <a:ext uri="{FF2B5EF4-FFF2-40B4-BE49-F238E27FC236}">
                <a16:creationId xmlns:a16="http://schemas.microsoft.com/office/drawing/2014/main" id="{848CADCF-95C4-96DD-0635-810A1FB24DB4}"/>
              </a:ext>
            </a:extLst>
          </p:cNvPr>
          <p:cNvSpPr txBox="1"/>
          <p:nvPr/>
        </p:nvSpPr>
        <p:spPr>
          <a:xfrm>
            <a:off x="777240" y="2732176"/>
            <a:ext cx="1325880" cy="310896"/>
          </a:xfrm>
          <a:prstGeom prst="rect">
            <a:avLst/>
          </a:prstGeom>
          <a:noFill/>
        </p:spPr>
        <p:txBody>
          <a:bodyPr wrap="square" anchor="ctr">
            <a:spAutoFit/>
          </a:bodyPr>
          <a:lstStyle/>
          <a:p>
            <a:pPr algn="ctr"/>
            <a:r>
              <a:rPr sz="1130" b="1">
                <a:solidFill>
                  <a:srgbClr val="2C8052"/>
                </a:solidFill>
                <a:latin typeface="Aptos"/>
              </a:rPr>
              <a:t>Available</a:t>
            </a:r>
          </a:p>
        </p:txBody>
      </p:sp>
      <p:sp>
        <p:nvSpPr>
          <p:cNvPr id="165" name="TextBox 164">
            <a:extLst>
              <a:ext uri="{FF2B5EF4-FFF2-40B4-BE49-F238E27FC236}">
                <a16:creationId xmlns:a16="http://schemas.microsoft.com/office/drawing/2014/main" id="{62223BCD-3041-C691-4DDB-CF935FFA1E15}"/>
              </a:ext>
            </a:extLst>
          </p:cNvPr>
          <p:cNvSpPr txBox="1"/>
          <p:nvPr/>
        </p:nvSpPr>
        <p:spPr>
          <a:xfrm>
            <a:off x="2258568" y="2704745"/>
            <a:ext cx="3502152" cy="384048"/>
          </a:xfrm>
          <a:prstGeom prst="rect">
            <a:avLst/>
          </a:prstGeom>
          <a:noFill/>
        </p:spPr>
        <p:txBody>
          <a:bodyPr wrap="square" anchor="ctr">
            <a:spAutoFit/>
          </a:bodyPr>
          <a:lstStyle/>
          <a:p>
            <a:pPr algn="l"/>
            <a:r>
              <a:rPr sz="1300" b="0" dirty="0">
                <a:solidFill>
                  <a:srgbClr val="282828"/>
                </a:solidFill>
                <a:latin typeface="Aptos"/>
              </a:rPr>
              <a:t>ROS 2 / Gazebo development environment</a:t>
            </a:r>
          </a:p>
        </p:txBody>
      </p:sp>
      <p:sp>
        <p:nvSpPr>
          <p:cNvPr id="167" name="Rounded Rectangle 21">
            <a:extLst>
              <a:ext uri="{FF2B5EF4-FFF2-40B4-BE49-F238E27FC236}">
                <a16:creationId xmlns:a16="http://schemas.microsoft.com/office/drawing/2014/main" id="{64D90BC5-76FD-D238-EFDA-93E67CC99D72}"/>
              </a:ext>
            </a:extLst>
          </p:cNvPr>
          <p:cNvSpPr/>
          <p:nvPr/>
        </p:nvSpPr>
        <p:spPr>
          <a:xfrm>
            <a:off x="777240" y="3102509"/>
            <a:ext cx="1325880" cy="310896"/>
          </a:xfrm>
          <a:prstGeom prst="roundRect">
            <a:avLst/>
          </a:prstGeom>
          <a:solidFill>
            <a:srgbClr val="ECF8F0"/>
          </a:solidFill>
          <a:ln w="13970">
            <a:solidFill>
              <a:srgbClr val="2C80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TextBox 168">
            <a:extLst>
              <a:ext uri="{FF2B5EF4-FFF2-40B4-BE49-F238E27FC236}">
                <a16:creationId xmlns:a16="http://schemas.microsoft.com/office/drawing/2014/main" id="{CF7FAC01-805B-3C7B-0885-7E3CC2DC6ACD}"/>
              </a:ext>
            </a:extLst>
          </p:cNvPr>
          <p:cNvSpPr txBox="1"/>
          <p:nvPr/>
        </p:nvSpPr>
        <p:spPr>
          <a:xfrm>
            <a:off x="777240" y="3102509"/>
            <a:ext cx="1325880" cy="310896"/>
          </a:xfrm>
          <a:prstGeom prst="rect">
            <a:avLst/>
          </a:prstGeom>
          <a:noFill/>
        </p:spPr>
        <p:txBody>
          <a:bodyPr wrap="square" anchor="ctr">
            <a:spAutoFit/>
          </a:bodyPr>
          <a:lstStyle/>
          <a:p>
            <a:pPr algn="ctr"/>
            <a:r>
              <a:rPr sz="1130" b="1">
                <a:solidFill>
                  <a:srgbClr val="2C8052"/>
                </a:solidFill>
                <a:latin typeface="Aptos"/>
              </a:rPr>
              <a:t>Available</a:t>
            </a:r>
          </a:p>
        </p:txBody>
      </p:sp>
      <p:sp>
        <p:nvSpPr>
          <p:cNvPr id="171" name="TextBox 170">
            <a:extLst>
              <a:ext uri="{FF2B5EF4-FFF2-40B4-BE49-F238E27FC236}">
                <a16:creationId xmlns:a16="http://schemas.microsoft.com/office/drawing/2014/main" id="{FF0A4BCF-F552-E091-50F3-5EA7424D8B64}"/>
              </a:ext>
            </a:extLst>
          </p:cNvPr>
          <p:cNvSpPr txBox="1"/>
          <p:nvPr/>
        </p:nvSpPr>
        <p:spPr>
          <a:xfrm>
            <a:off x="2258568" y="3120907"/>
            <a:ext cx="3502152" cy="292388"/>
          </a:xfrm>
          <a:prstGeom prst="rect">
            <a:avLst/>
          </a:prstGeom>
          <a:noFill/>
        </p:spPr>
        <p:txBody>
          <a:bodyPr wrap="square" anchor="ctr">
            <a:spAutoFit/>
          </a:bodyPr>
          <a:lstStyle/>
          <a:p>
            <a:pPr algn="l"/>
            <a:r>
              <a:rPr sz="1300" b="0" dirty="0">
                <a:solidFill>
                  <a:srgbClr val="282828"/>
                </a:solidFill>
                <a:latin typeface="Aptos"/>
              </a:rPr>
              <a:t>Basic robot model </a:t>
            </a:r>
            <a:r>
              <a:rPr lang="en-US" sz="1300" dirty="0">
                <a:solidFill>
                  <a:srgbClr val="282828"/>
                </a:solidFill>
                <a:latin typeface="Aptos"/>
              </a:rPr>
              <a:t>for Gazebo simulation</a:t>
            </a:r>
            <a:endParaRPr sz="1300" b="0" dirty="0">
              <a:solidFill>
                <a:srgbClr val="282828"/>
              </a:solidFill>
              <a:latin typeface="Aptos"/>
            </a:endParaRPr>
          </a:p>
        </p:txBody>
      </p:sp>
      <p:sp>
        <p:nvSpPr>
          <p:cNvPr id="173" name="Rounded Rectangle 24">
            <a:extLst>
              <a:ext uri="{FF2B5EF4-FFF2-40B4-BE49-F238E27FC236}">
                <a16:creationId xmlns:a16="http://schemas.microsoft.com/office/drawing/2014/main" id="{F1FFECBA-D83D-5A8E-FAB0-F65B4F76B0F9}"/>
              </a:ext>
            </a:extLst>
          </p:cNvPr>
          <p:cNvSpPr/>
          <p:nvPr/>
        </p:nvSpPr>
        <p:spPr>
          <a:xfrm>
            <a:off x="777240" y="3472840"/>
            <a:ext cx="1325880" cy="310896"/>
          </a:xfrm>
          <a:prstGeom prst="roundRect">
            <a:avLst/>
          </a:prstGeom>
          <a:solidFill>
            <a:srgbClr val="ECF8F0"/>
          </a:solidFill>
          <a:ln w="13970">
            <a:solidFill>
              <a:srgbClr val="2C80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TextBox 174">
            <a:extLst>
              <a:ext uri="{FF2B5EF4-FFF2-40B4-BE49-F238E27FC236}">
                <a16:creationId xmlns:a16="http://schemas.microsoft.com/office/drawing/2014/main" id="{88D83C04-8B0B-FE62-A751-F0319C2E3FD4}"/>
              </a:ext>
            </a:extLst>
          </p:cNvPr>
          <p:cNvSpPr txBox="1"/>
          <p:nvPr/>
        </p:nvSpPr>
        <p:spPr>
          <a:xfrm>
            <a:off x="777240" y="3472840"/>
            <a:ext cx="1325880" cy="310896"/>
          </a:xfrm>
          <a:prstGeom prst="rect">
            <a:avLst/>
          </a:prstGeom>
          <a:noFill/>
        </p:spPr>
        <p:txBody>
          <a:bodyPr wrap="square" anchor="ctr">
            <a:spAutoFit/>
          </a:bodyPr>
          <a:lstStyle/>
          <a:p>
            <a:pPr algn="ctr"/>
            <a:r>
              <a:rPr sz="1130" b="1">
                <a:solidFill>
                  <a:srgbClr val="2C8052"/>
                </a:solidFill>
                <a:latin typeface="Aptos"/>
              </a:rPr>
              <a:t>Available</a:t>
            </a:r>
          </a:p>
        </p:txBody>
      </p:sp>
      <p:sp>
        <p:nvSpPr>
          <p:cNvPr id="177" name="TextBox 176">
            <a:extLst>
              <a:ext uri="{FF2B5EF4-FFF2-40B4-BE49-F238E27FC236}">
                <a16:creationId xmlns:a16="http://schemas.microsoft.com/office/drawing/2014/main" id="{FF13D799-501B-0473-1276-7350742B0FC4}"/>
              </a:ext>
            </a:extLst>
          </p:cNvPr>
          <p:cNvSpPr txBox="1"/>
          <p:nvPr/>
        </p:nvSpPr>
        <p:spPr>
          <a:xfrm>
            <a:off x="2258568" y="3491239"/>
            <a:ext cx="3638958" cy="292388"/>
          </a:xfrm>
          <a:prstGeom prst="rect">
            <a:avLst/>
          </a:prstGeom>
          <a:noFill/>
        </p:spPr>
        <p:txBody>
          <a:bodyPr wrap="square" anchor="ctr">
            <a:spAutoFit/>
          </a:bodyPr>
          <a:lstStyle/>
          <a:p>
            <a:pPr algn="l"/>
            <a:r>
              <a:rPr lang="en-US" sz="1300" b="0" dirty="0">
                <a:solidFill>
                  <a:srgbClr val="282828"/>
                </a:solidFill>
                <a:latin typeface="Aptos"/>
              </a:rPr>
              <a:t>Simulated sensor / </a:t>
            </a:r>
            <a:r>
              <a:rPr sz="1300" b="0" dirty="0">
                <a:solidFill>
                  <a:srgbClr val="282828"/>
                </a:solidFill>
                <a:latin typeface="Aptos"/>
              </a:rPr>
              <a:t>Single-robot SLAM baseline</a:t>
            </a:r>
          </a:p>
        </p:txBody>
      </p:sp>
      <p:sp>
        <p:nvSpPr>
          <p:cNvPr id="179" name="Rounded Rectangle 27">
            <a:extLst>
              <a:ext uri="{FF2B5EF4-FFF2-40B4-BE49-F238E27FC236}">
                <a16:creationId xmlns:a16="http://schemas.microsoft.com/office/drawing/2014/main" id="{E2A3727D-A378-53A8-DC76-7F5A6DD50622}"/>
              </a:ext>
            </a:extLst>
          </p:cNvPr>
          <p:cNvSpPr/>
          <p:nvPr/>
        </p:nvSpPr>
        <p:spPr>
          <a:xfrm>
            <a:off x="777240" y="3843173"/>
            <a:ext cx="1325880" cy="310896"/>
          </a:xfrm>
          <a:prstGeom prst="roundRect">
            <a:avLst/>
          </a:prstGeom>
          <a:solidFill>
            <a:srgbClr val="FFF7E7"/>
          </a:solidFill>
          <a:ln w="13970">
            <a:solidFill>
              <a:srgbClr val="B16F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TextBox 180">
            <a:extLst>
              <a:ext uri="{FF2B5EF4-FFF2-40B4-BE49-F238E27FC236}">
                <a16:creationId xmlns:a16="http://schemas.microsoft.com/office/drawing/2014/main" id="{63A55B7A-C377-F508-0DA6-EBF8753C4590}"/>
              </a:ext>
            </a:extLst>
          </p:cNvPr>
          <p:cNvSpPr txBox="1"/>
          <p:nvPr/>
        </p:nvSpPr>
        <p:spPr>
          <a:xfrm>
            <a:off x="777240" y="3843173"/>
            <a:ext cx="1325880" cy="310896"/>
          </a:xfrm>
          <a:prstGeom prst="rect">
            <a:avLst/>
          </a:prstGeom>
          <a:noFill/>
        </p:spPr>
        <p:txBody>
          <a:bodyPr wrap="square" anchor="ctr">
            <a:spAutoFit/>
          </a:bodyPr>
          <a:lstStyle/>
          <a:p>
            <a:pPr algn="ctr"/>
            <a:r>
              <a:rPr sz="1130" b="1">
                <a:solidFill>
                  <a:srgbClr val="B16F16"/>
                </a:solidFill>
                <a:latin typeface="Aptos"/>
              </a:rPr>
              <a:t>Partial</a:t>
            </a:r>
          </a:p>
        </p:txBody>
      </p:sp>
      <p:sp>
        <p:nvSpPr>
          <p:cNvPr id="183" name="TextBox 182">
            <a:extLst>
              <a:ext uri="{FF2B5EF4-FFF2-40B4-BE49-F238E27FC236}">
                <a16:creationId xmlns:a16="http://schemas.microsoft.com/office/drawing/2014/main" id="{06D85656-08B1-D320-F2B1-A2747ECE53D1}"/>
              </a:ext>
            </a:extLst>
          </p:cNvPr>
          <p:cNvSpPr txBox="1"/>
          <p:nvPr/>
        </p:nvSpPr>
        <p:spPr>
          <a:xfrm>
            <a:off x="2258568" y="3861571"/>
            <a:ext cx="3502152" cy="292388"/>
          </a:xfrm>
          <a:prstGeom prst="rect">
            <a:avLst/>
          </a:prstGeom>
          <a:noFill/>
        </p:spPr>
        <p:txBody>
          <a:bodyPr wrap="square" anchor="ctr">
            <a:spAutoFit/>
          </a:bodyPr>
          <a:lstStyle/>
          <a:p>
            <a:pPr algn="l"/>
            <a:r>
              <a:rPr lang="en-US" sz="1300" b="0" dirty="0">
                <a:solidFill>
                  <a:srgbClr val="282828"/>
                </a:solidFill>
                <a:latin typeface="Aptos"/>
              </a:rPr>
              <a:t>Basic setup/ simulation tutorial</a:t>
            </a:r>
            <a:endParaRPr sz="1300" b="0" dirty="0">
              <a:solidFill>
                <a:srgbClr val="282828"/>
              </a:solidFill>
              <a:latin typeface="Aptos"/>
            </a:endParaRPr>
          </a:p>
        </p:txBody>
      </p:sp>
      <p:sp>
        <p:nvSpPr>
          <p:cNvPr id="185" name="Rounded Rectangle 30">
            <a:extLst>
              <a:ext uri="{FF2B5EF4-FFF2-40B4-BE49-F238E27FC236}">
                <a16:creationId xmlns:a16="http://schemas.microsoft.com/office/drawing/2014/main" id="{D2CC4B8C-04E3-3F9F-8E14-DC6CF3A1F779}"/>
              </a:ext>
            </a:extLst>
          </p:cNvPr>
          <p:cNvSpPr/>
          <p:nvPr/>
        </p:nvSpPr>
        <p:spPr>
          <a:xfrm>
            <a:off x="777240" y="4213505"/>
            <a:ext cx="1325880" cy="310896"/>
          </a:xfrm>
          <a:prstGeom prst="roundRect">
            <a:avLst/>
          </a:prstGeom>
          <a:solidFill>
            <a:srgbClr val="FFF7E7"/>
          </a:solidFill>
          <a:ln w="13970">
            <a:solidFill>
              <a:srgbClr val="B16F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TextBox 186">
            <a:extLst>
              <a:ext uri="{FF2B5EF4-FFF2-40B4-BE49-F238E27FC236}">
                <a16:creationId xmlns:a16="http://schemas.microsoft.com/office/drawing/2014/main" id="{A3BE6B7F-1924-2D65-5592-0EAFF15548BC}"/>
              </a:ext>
            </a:extLst>
          </p:cNvPr>
          <p:cNvSpPr txBox="1"/>
          <p:nvPr/>
        </p:nvSpPr>
        <p:spPr>
          <a:xfrm>
            <a:off x="777240" y="4213505"/>
            <a:ext cx="1325880" cy="310896"/>
          </a:xfrm>
          <a:prstGeom prst="rect">
            <a:avLst/>
          </a:prstGeom>
          <a:noFill/>
        </p:spPr>
        <p:txBody>
          <a:bodyPr wrap="square" anchor="ctr">
            <a:spAutoFit/>
          </a:bodyPr>
          <a:lstStyle/>
          <a:p>
            <a:pPr algn="ctr"/>
            <a:r>
              <a:rPr sz="1130" b="1">
                <a:solidFill>
                  <a:srgbClr val="B16F16"/>
                </a:solidFill>
                <a:latin typeface="Aptos"/>
              </a:rPr>
              <a:t>Partial</a:t>
            </a:r>
          </a:p>
        </p:txBody>
      </p:sp>
      <p:sp>
        <p:nvSpPr>
          <p:cNvPr id="189" name="TextBox 188">
            <a:extLst>
              <a:ext uri="{FF2B5EF4-FFF2-40B4-BE49-F238E27FC236}">
                <a16:creationId xmlns:a16="http://schemas.microsoft.com/office/drawing/2014/main" id="{467E50F7-162D-4268-E0AE-94E120A58CF4}"/>
              </a:ext>
            </a:extLst>
          </p:cNvPr>
          <p:cNvSpPr txBox="1"/>
          <p:nvPr/>
        </p:nvSpPr>
        <p:spPr>
          <a:xfrm>
            <a:off x="2258568" y="4231903"/>
            <a:ext cx="3502152" cy="292388"/>
          </a:xfrm>
          <a:prstGeom prst="rect">
            <a:avLst/>
          </a:prstGeom>
          <a:noFill/>
        </p:spPr>
        <p:txBody>
          <a:bodyPr wrap="square" anchor="ctr">
            <a:spAutoFit/>
          </a:bodyPr>
          <a:lstStyle/>
          <a:p>
            <a:pPr algn="l"/>
            <a:r>
              <a:rPr lang="en-US" sz="1300" b="0" dirty="0">
                <a:solidFill>
                  <a:srgbClr val="282828"/>
                </a:solidFill>
                <a:latin typeface="Aptos"/>
              </a:rPr>
              <a:t>Competition task/ arena / target specification</a:t>
            </a:r>
            <a:endParaRPr sz="1300" b="0" dirty="0">
              <a:solidFill>
                <a:srgbClr val="282828"/>
              </a:solidFill>
              <a:latin typeface="Aptos"/>
            </a:endParaRPr>
          </a:p>
        </p:txBody>
      </p:sp>
      <p:sp>
        <p:nvSpPr>
          <p:cNvPr id="195" name="TextBox 194">
            <a:extLst>
              <a:ext uri="{FF2B5EF4-FFF2-40B4-BE49-F238E27FC236}">
                <a16:creationId xmlns:a16="http://schemas.microsoft.com/office/drawing/2014/main" id="{DF00EFFF-B0A7-FE1E-2D7E-BF837B51C54A}"/>
              </a:ext>
            </a:extLst>
          </p:cNvPr>
          <p:cNvSpPr txBox="1"/>
          <p:nvPr/>
        </p:nvSpPr>
        <p:spPr>
          <a:xfrm>
            <a:off x="2258568" y="4602235"/>
            <a:ext cx="3502152" cy="292388"/>
          </a:xfrm>
          <a:prstGeom prst="rect">
            <a:avLst/>
          </a:prstGeom>
          <a:noFill/>
        </p:spPr>
        <p:txBody>
          <a:bodyPr wrap="square" anchor="ctr">
            <a:spAutoFit/>
          </a:bodyPr>
          <a:lstStyle/>
          <a:p>
            <a:pPr algn="l"/>
            <a:r>
              <a:rPr lang="en-US" sz="1300" b="0" dirty="0">
                <a:solidFill>
                  <a:srgbClr val="282828"/>
                </a:solidFill>
                <a:latin typeface="Aptos"/>
              </a:rPr>
              <a:t>Real-robot ROS 2 I/O interface</a:t>
            </a:r>
            <a:endParaRPr sz="1300" b="0" dirty="0">
              <a:solidFill>
                <a:srgbClr val="282828"/>
              </a:solidFill>
              <a:latin typeface="Aptos"/>
            </a:endParaRPr>
          </a:p>
        </p:txBody>
      </p:sp>
      <p:sp>
        <p:nvSpPr>
          <p:cNvPr id="201" name="TextBox 200">
            <a:extLst>
              <a:ext uri="{FF2B5EF4-FFF2-40B4-BE49-F238E27FC236}">
                <a16:creationId xmlns:a16="http://schemas.microsoft.com/office/drawing/2014/main" id="{A1326E66-E049-CF55-00DF-9FF01F9095CC}"/>
              </a:ext>
            </a:extLst>
          </p:cNvPr>
          <p:cNvSpPr txBox="1"/>
          <p:nvPr/>
        </p:nvSpPr>
        <p:spPr>
          <a:xfrm>
            <a:off x="2258568" y="4972567"/>
            <a:ext cx="3502152" cy="292388"/>
          </a:xfrm>
          <a:prstGeom prst="rect">
            <a:avLst/>
          </a:prstGeom>
          <a:noFill/>
        </p:spPr>
        <p:txBody>
          <a:bodyPr wrap="square" anchor="ctr">
            <a:spAutoFit/>
          </a:bodyPr>
          <a:lstStyle/>
          <a:p>
            <a:pPr algn="l"/>
            <a:r>
              <a:rPr lang="en-US" sz="1300" b="0" dirty="0">
                <a:solidFill>
                  <a:srgbClr val="282828"/>
                </a:solidFill>
                <a:latin typeface="Aptos"/>
              </a:rPr>
              <a:t>Robot-edge basic network connectivity</a:t>
            </a:r>
            <a:endParaRPr sz="1300" b="0" dirty="0">
              <a:solidFill>
                <a:srgbClr val="282828"/>
              </a:solidFill>
              <a:latin typeface="Aptos"/>
            </a:endParaRPr>
          </a:p>
        </p:txBody>
      </p:sp>
      <p:sp>
        <p:nvSpPr>
          <p:cNvPr id="203" name="Rounded Rectangle 39">
            <a:extLst>
              <a:ext uri="{FF2B5EF4-FFF2-40B4-BE49-F238E27FC236}">
                <a16:creationId xmlns:a16="http://schemas.microsoft.com/office/drawing/2014/main" id="{9B82D76D-558A-245A-BAB8-B64C14DECC19}"/>
              </a:ext>
            </a:extLst>
          </p:cNvPr>
          <p:cNvSpPr/>
          <p:nvPr/>
        </p:nvSpPr>
        <p:spPr>
          <a:xfrm>
            <a:off x="781812" y="5356615"/>
            <a:ext cx="1325880" cy="310896"/>
          </a:xfrm>
          <a:prstGeom prst="roundRect">
            <a:avLst/>
          </a:prstGeom>
          <a:solidFill>
            <a:srgbClr val="F0F2F4"/>
          </a:solidFill>
          <a:ln w="13970">
            <a:solidFill>
              <a:srgbClr val="6067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TextBox 204">
            <a:extLst>
              <a:ext uri="{FF2B5EF4-FFF2-40B4-BE49-F238E27FC236}">
                <a16:creationId xmlns:a16="http://schemas.microsoft.com/office/drawing/2014/main" id="{B57F3F0F-4EED-8B49-163C-E04CB03C03FD}"/>
              </a:ext>
            </a:extLst>
          </p:cNvPr>
          <p:cNvSpPr txBox="1"/>
          <p:nvPr/>
        </p:nvSpPr>
        <p:spPr>
          <a:xfrm>
            <a:off x="781812" y="5356615"/>
            <a:ext cx="1325880" cy="310896"/>
          </a:xfrm>
          <a:prstGeom prst="rect">
            <a:avLst/>
          </a:prstGeom>
          <a:noFill/>
        </p:spPr>
        <p:txBody>
          <a:bodyPr wrap="square" anchor="ctr">
            <a:spAutoFit/>
          </a:bodyPr>
          <a:lstStyle/>
          <a:p>
            <a:pPr algn="ctr"/>
            <a:r>
              <a:rPr sz="1130" b="1">
                <a:solidFill>
                  <a:srgbClr val="606770"/>
                </a:solidFill>
                <a:latin typeface="Aptos"/>
              </a:rPr>
              <a:t>To do</a:t>
            </a:r>
          </a:p>
        </p:txBody>
      </p:sp>
      <p:sp>
        <p:nvSpPr>
          <p:cNvPr id="207" name="TextBox 206">
            <a:extLst>
              <a:ext uri="{FF2B5EF4-FFF2-40B4-BE49-F238E27FC236}">
                <a16:creationId xmlns:a16="http://schemas.microsoft.com/office/drawing/2014/main" id="{D8DACB7B-599C-C163-5AB2-3EE2B01F2624}"/>
              </a:ext>
            </a:extLst>
          </p:cNvPr>
          <p:cNvSpPr txBox="1"/>
          <p:nvPr/>
        </p:nvSpPr>
        <p:spPr>
          <a:xfrm>
            <a:off x="2258568" y="5297069"/>
            <a:ext cx="3502152" cy="384048"/>
          </a:xfrm>
          <a:prstGeom prst="rect">
            <a:avLst/>
          </a:prstGeom>
          <a:noFill/>
        </p:spPr>
        <p:txBody>
          <a:bodyPr wrap="square" anchor="ctr">
            <a:spAutoFit/>
          </a:bodyPr>
          <a:lstStyle/>
          <a:p>
            <a:pPr algn="l"/>
            <a:r>
              <a:rPr sz="1300" b="0">
                <a:solidFill>
                  <a:srgbClr val="282828"/>
                </a:solidFill>
                <a:latin typeface="Aptos"/>
              </a:rPr>
              <a:t>Edge-node base runtime / LLM environment</a:t>
            </a:r>
          </a:p>
        </p:txBody>
      </p:sp>
      <p:sp>
        <p:nvSpPr>
          <p:cNvPr id="209" name="TextBox 208">
            <a:extLst>
              <a:ext uri="{FF2B5EF4-FFF2-40B4-BE49-F238E27FC236}">
                <a16:creationId xmlns:a16="http://schemas.microsoft.com/office/drawing/2014/main" id="{9A70A8FC-2D4A-776F-247C-2E015C6E4EC9}"/>
              </a:ext>
            </a:extLst>
          </p:cNvPr>
          <p:cNvSpPr txBox="1"/>
          <p:nvPr/>
        </p:nvSpPr>
        <p:spPr>
          <a:xfrm>
            <a:off x="6501384" y="2087525"/>
            <a:ext cx="4663440" cy="411480"/>
          </a:xfrm>
          <a:prstGeom prst="rect">
            <a:avLst/>
          </a:prstGeom>
          <a:noFill/>
        </p:spPr>
        <p:txBody>
          <a:bodyPr wrap="none">
            <a:spAutoFit/>
          </a:bodyPr>
          <a:lstStyle/>
          <a:p>
            <a:pPr>
              <a:spcAft>
                <a:spcPts val="0"/>
              </a:spcAft>
            </a:pPr>
            <a:r>
              <a:rPr sz="1310" b="1">
                <a:solidFill>
                  <a:srgbClr val="1F5D7D"/>
                </a:solidFill>
                <a:latin typeface="Aptos"/>
              </a:rPr>
              <a:t>• </a:t>
            </a:r>
            <a:r>
              <a:rPr sz="1310">
                <a:solidFill>
                  <a:srgbClr val="282828"/>
                </a:solidFill>
                <a:latin typeface="Aptos"/>
              </a:rPr>
              <a:t>Autonomous exploration and navigation integration</a:t>
            </a:r>
          </a:p>
        </p:txBody>
      </p:sp>
      <p:sp>
        <p:nvSpPr>
          <p:cNvPr id="211" name="TextBox 210">
            <a:extLst>
              <a:ext uri="{FF2B5EF4-FFF2-40B4-BE49-F238E27FC236}">
                <a16:creationId xmlns:a16="http://schemas.microsoft.com/office/drawing/2014/main" id="{2F4BE7A7-1BBA-4063-3FD9-26C7274C30BC}"/>
              </a:ext>
            </a:extLst>
          </p:cNvPr>
          <p:cNvSpPr txBox="1"/>
          <p:nvPr/>
        </p:nvSpPr>
        <p:spPr>
          <a:xfrm>
            <a:off x="6501384" y="2480717"/>
            <a:ext cx="4663440" cy="411480"/>
          </a:xfrm>
          <a:prstGeom prst="rect">
            <a:avLst/>
          </a:prstGeom>
          <a:noFill/>
        </p:spPr>
        <p:txBody>
          <a:bodyPr wrap="none">
            <a:spAutoFit/>
          </a:bodyPr>
          <a:lstStyle/>
          <a:p>
            <a:pPr>
              <a:spcAft>
                <a:spcPts val="0"/>
              </a:spcAft>
            </a:pPr>
            <a:r>
              <a:rPr sz="1310" b="1">
                <a:solidFill>
                  <a:srgbClr val="1F5D7D"/>
                </a:solidFill>
                <a:latin typeface="Aptos"/>
              </a:rPr>
              <a:t>• </a:t>
            </a:r>
            <a:r>
              <a:rPr sz="1310">
                <a:solidFill>
                  <a:srgbClr val="282828"/>
                </a:solidFill>
                <a:latin typeface="Aptos"/>
              </a:rPr>
              <a:t>Target detection and localization</a:t>
            </a:r>
          </a:p>
        </p:txBody>
      </p:sp>
      <p:sp>
        <p:nvSpPr>
          <p:cNvPr id="213" name="TextBox 212">
            <a:extLst>
              <a:ext uri="{FF2B5EF4-FFF2-40B4-BE49-F238E27FC236}">
                <a16:creationId xmlns:a16="http://schemas.microsoft.com/office/drawing/2014/main" id="{524C88EF-2E40-43E6-EAAC-3E49F88DB798}"/>
              </a:ext>
            </a:extLst>
          </p:cNvPr>
          <p:cNvSpPr txBox="1"/>
          <p:nvPr/>
        </p:nvSpPr>
        <p:spPr>
          <a:xfrm>
            <a:off x="6501384" y="2873909"/>
            <a:ext cx="4663440" cy="411480"/>
          </a:xfrm>
          <a:prstGeom prst="rect">
            <a:avLst/>
          </a:prstGeom>
          <a:noFill/>
        </p:spPr>
        <p:txBody>
          <a:bodyPr wrap="none">
            <a:spAutoFit/>
          </a:bodyPr>
          <a:lstStyle/>
          <a:p>
            <a:pPr>
              <a:spcAft>
                <a:spcPts val="0"/>
              </a:spcAft>
            </a:pPr>
            <a:r>
              <a:rPr sz="1310" b="1">
                <a:solidFill>
                  <a:srgbClr val="1F5D7D"/>
                </a:solidFill>
                <a:latin typeface="Aptos"/>
              </a:rPr>
              <a:t>• </a:t>
            </a:r>
            <a:r>
              <a:rPr sz="1310">
                <a:solidFill>
                  <a:srgbClr val="282828"/>
                </a:solidFill>
                <a:latin typeface="Aptos"/>
              </a:rPr>
              <a:t>Robot–edge communication and information sharing</a:t>
            </a:r>
          </a:p>
        </p:txBody>
      </p:sp>
      <p:sp>
        <p:nvSpPr>
          <p:cNvPr id="215" name="TextBox 214">
            <a:extLst>
              <a:ext uri="{FF2B5EF4-FFF2-40B4-BE49-F238E27FC236}">
                <a16:creationId xmlns:a16="http://schemas.microsoft.com/office/drawing/2014/main" id="{041C8963-C0A3-82E8-FF65-0501F5682D42}"/>
              </a:ext>
            </a:extLst>
          </p:cNvPr>
          <p:cNvSpPr txBox="1"/>
          <p:nvPr/>
        </p:nvSpPr>
        <p:spPr>
          <a:xfrm>
            <a:off x="6501384" y="3267101"/>
            <a:ext cx="4663440" cy="411480"/>
          </a:xfrm>
          <a:prstGeom prst="rect">
            <a:avLst/>
          </a:prstGeom>
          <a:noFill/>
        </p:spPr>
        <p:txBody>
          <a:bodyPr wrap="none">
            <a:spAutoFit/>
          </a:bodyPr>
          <a:lstStyle/>
          <a:p>
            <a:pPr>
              <a:spcAft>
                <a:spcPts val="0"/>
              </a:spcAft>
            </a:pPr>
            <a:r>
              <a:rPr sz="1310" b="1">
                <a:solidFill>
                  <a:srgbClr val="1F5D7D"/>
                </a:solidFill>
                <a:latin typeface="Aptos"/>
              </a:rPr>
              <a:t>• </a:t>
            </a:r>
            <a:r>
              <a:rPr sz="1310">
                <a:solidFill>
                  <a:srgbClr val="282828"/>
                </a:solidFill>
                <a:latin typeface="Aptos"/>
              </a:rPr>
              <a:t>Global robot / target / task-state management</a:t>
            </a:r>
          </a:p>
        </p:txBody>
      </p:sp>
      <p:sp>
        <p:nvSpPr>
          <p:cNvPr id="217" name="TextBox 216">
            <a:extLst>
              <a:ext uri="{FF2B5EF4-FFF2-40B4-BE49-F238E27FC236}">
                <a16:creationId xmlns:a16="http://schemas.microsoft.com/office/drawing/2014/main" id="{5E8B3D48-7343-DFAF-145C-D4ABB565DAA0}"/>
              </a:ext>
            </a:extLst>
          </p:cNvPr>
          <p:cNvSpPr txBox="1"/>
          <p:nvPr/>
        </p:nvSpPr>
        <p:spPr>
          <a:xfrm>
            <a:off x="6501384" y="3660293"/>
            <a:ext cx="4663440" cy="411480"/>
          </a:xfrm>
          <a:prstGeom prst="rect">
            <a:avLst/>
          </a:prstGeom>
          <a:noFill/>
        </p:spPr>
        <p:txBody>
          <a:bodyPr wrap="none">
            <a:spAutoFit/>
          </a:bodyPr>
          <a:lstStyle/>
          <a:p>
            <a:pPr>
              <a:spcAft>
                <a:spcPts val="0"/>
              </a:spcAft>
            </a:pPr>
            <a:r>
              <a:rPr sz="1310" b="1">
                <a:solidFill>
                  <a:srgbClr val="1F5D7D"/>
                </a:solidFill>
                <a:latin typeface="Aptos"/>
              </a:rPr>
              <a:t>• </a:t>
            </a:r>
            <a:r>
              <a:rPr sz="1310">
                <a:solidFill>
                  <a:srgbClr val="282828"/>
                </a:solidFill>
                <a:latin typeface="Aptos"/>
              </a:rPr>
              <a:t>Task planning and robot allocation</a:t>
            </a:r>
          </a:p>
        </p:txBody>
      </p:sp>
      <p:sp>
        <p:nvSpPr>
          <p:cNvPr id="219" name="TextBox 218">
            <a:extLst>
              <a:ext uri="{FF2B5EF4-FFF2-40B4-BE49-F238E27FC236}">
                <a16:creationId xmlns:a16="http://schemas.microsoft.com/office/drawing/2014/main" id="{05E12D8D-7EB5-79CF-8980-5308674FDB9F}"/>
              </a:ext>
            </a:extLst>
          </p:cNvPr>
          <p:cNvSpPr txBox="1"/>
          <p:nvPr/>
        </p:nvSpPr>
        <p:spPr>
          <a:xfrm>
            <a:off x="6501384" y="4053485"/>
            <a:ext cx="4663440" cy="411480"/>
          </a:xfrm>
          <a:prstGeom prst="rect">
            <a:avLst/>
          </a:prstGeom>
          <a:noFill/>
        </p:spPr>
        <p:txBody>
          <a:bodyPr wrap="none">
            <a:spAutoFit/>
          </a:bodyPr>
          <a:lstStyle/>
          <a:p>
            <a:pPr>
              <a:spcAft>
                <a:spcPts val="0"/>
              </a:spcAft>
            </a:pPr>
            <a:r>
              <a:rPr sz="1310" b="1">
                <a:solidFill>
                  <a:srgbClr val="1F5D7D"/>
                </a:solidFill>
                <a:latin typeface="Aptos"/>
              </a:rPr>
              <a:t>• </a:t>
            </a:r>
            <a:r>
              <a:rPr sz="1310">
                <a:solidFill>
                  <a:srgbClr val="282828"/>
                </a:solidFill>
                <a:latin typeface="Aptos"/>
              </a:rPr>
              <a:t>Multi-robot coordination and cooperative rescue</a:t>
            </a:r>
          </a:p>
        </p:txBody>
      </p:sp>
      <p:sp>
        <p:nvSpPr>
          <p:cNvPr id="221" name="TextBox 220">
            <a:extLst>
              <a:ext uri="{FF2B5EF4-FFF2-40B4-BE49-F238E27FC236}">
                <a16:creationId xmlns:a16="http://schemas.microsoft.com/office/drawing/2014/main" id="{16191131-6A1B-850D-F19B-1A017E238712}"/>
              </a:ext>
            </a:extLst>
          </p:cNvPr>
          <p:cNvSpPr txBox="1"/>
          <p:nvPr/>
        </p:nvSpPr>
        <p:spPr>
          <a:xfrm>
            <a:off x="6501384" y="4446677"/>
            <a:ext cx="4663440" cy="411480"/>
          </a:xfrm>
          <a:prstGeom prst="rect">
            <a:avLst/>
          </a:prstGeom>
          <a:noFill/>
        </p:spPr>
        <p:txBody>
          <a:bodyPr wrap="none">
            <a:spAutoFit/>
          </a:bodyPr>
          <a:lstStyle/>
          <a:p>
            <a:pPr>
              <a:spcAft>
                <a:spcPts val="0"/>
              </a:spcAft>
            </a:pPr>
            <a:r>
              <a:rPr sz="1310" b="1">
                <a:solidFill>
                  <a:srgbClr val="1F5D7D"/>
                </a:solidFill>
                <a:latin typeface="Aptos"/>
              </a:rPr>
              <a:t>• </a:t>
            </a:r>
            <a:r>
              <a:rPr sz="1310">
                <a:solidFill>
                  <a:srgbClr val="282828"/>
                </a:solidFill>
                <a:latin typeface="Aptos"/>
              </a:rPr>
              <a:t>Feedback, failure handling, and replanning</a:t>
            </a:r>
          </a:p>
        </p:txBody>
      </p:sp>
      <p:sp>
        <p:nvSpPr>
          <p:cNvPr id="223" name="TextBox 222">
            <a:extLst>
              <a:ext uri="{FF2B5EF4-FFF2-40B4-BE49-F238E27FC236}">
                <a16:creationId xmlns:a16="http://schemas.microsoft.com/office/drawing/2014/main" id="{916B5DBC-C5A9-6C22-65EC-AE8ABFE1391F}"/>
              </a:ext>
            </a:extLst>
          </p:cNvPr>
          <p:cNvSpPr txBox="1"/>
          <p:nvPr/>
        </p:nvSpPr>
        <p:spPr>
          <a:xfrm>
            <a:off x="6501384" y="4839869"/>
            <a:ext cx="4663440" cy="411480"/>
          </a:xfrm>
          <a:prstGeom prst="rect">
            <a:avLst/>
          </a:prstGeom>
          <a:noFill/>
        </p:spPr>
        <p:txBody>
          <a:bodyPr wrap="none">
            <a:spAutoFit/>
          </a:bodyPr>
          <a:lstStyle/>
          <a:p>
            <a:pPr>
              <a:spcAft>
                <a:spcPts val="0"/>
              </a:spcAft>
            </a:pPr>
            <a:r>
              <a:rPr sz="1310" b="1">
                <a:solidFill>
                  <a:srgbClr val="1F5D7D"/>
                </a:solidFill>
                <a:latin typeface="Aptos"/>
              </a:rPr>
              <a:t>• </a:t>
            </a:r>
            <a:r>
              <a:rPr sz="1310">
                <a:solidFill>
                  <a:srgbClr val="282828"/>
                </a:solidFill>
                <a:latin typeface="Aptos"/>
              </a:rPr>
              <a:t>LLM mission interpretation and integration for Task 2B</a:t>
            </a:r>
          </a:p>
        </p:txBody>
      </p:sp>
      <p:sp>
        <p:nvSpPr>
          <p:cNvPr id="225" name="TextBox 224">
            <a:extLst>
              <a:ext uri="{FF2B5EF4-FFF2-40B4-BE49-F238E27FC236}">
                <a16:creationId xmlns:a16="http://schemas.microsoft.com/office/drawing/2014/main" id="{321C1A0C-6D7E-AB12-FCA1-FC7975B65CCD}"/>
              </a:ext>
            </a:extLst>
          </p:cNvPr>
          <p:cNvSpPr txBox="1"/>
          <p:nvPr/>
        </p:nvSpPr>
        <p:spPr>
          <a:xfrm>
            <a:off x="6501384" y="5233061"/>
            <a:ext cx="4663440" cy="411480"/>
          </a:xfrm>
          <a:prstGeom prst="rect">
            <a:avLst/>
          </a:prstGeom>
          <a:noFill/>
        </p:spPr>
        <p:txBody>
          <a:bodyPr wrap="none">
            <a:spAutoFit/>
          </a:bodyPr>
          <a:lstStyle/>
          <a:p>
            <a:pPr>
              <a:spcAft>
                <a:spcPts val="0"/>
              </a:spcAft>
            </a:pPr>
            <a:r>
              <a:rPr sz="1310" b="1">
                <a:solidFill>
                  <a:srgbClr val="1F5D7D"/>
                </a:solidFill>
                <a:latin typeface="Aptos"/>
              </a:rPr>
              <a:t>• </a:t>
            </a:r>
            <a:r>
              <a:rPr sz="1310">
                <a:solidFill>
                  <a:srgbClr val="282828"/>
                </a:solidFill>
                <a:latin typeface="Aptos"/>
              </a:rPr>
              <a:t>Overall system integration and testing</a:t>
            </a:r>
          </a:p>
        </p:txBody>
      </p:sp>
      <p:sp>
        <p:nvSpPr>
          <p:cNvPr id="239" name="Rounded Rectangle 39">
            <a:extLst>
              <a:ext uri="{FF2B5EF4-FFF2-40B4-BE49-F238E27FC236}">
                <a16:creationId xmlns:a16="http://schemas.microsoft.com/office/drawing/2014/main" id="{AC8B430E-634A-3809-A1A2-ACAD64A86210}"/>
              </a:ext>
            </a:extLst>
          </p:cNvPr>
          <p:cNvSpPr/>
          <p:nvPr/>
        </p:nvSpPr>
        <p:spPr>
          <a:xfrm>
            <a:off x="777240" y="4597553"/>
            <a:ext cx="1325880" cy="310896"/>
          </a:xfrm>
          <a:prstGeom prst="roundRect">
            <a:avLst/>
          </a:prstGeom>
          <a:solidFill>
            <a:srgbClr val="F0F2F4"/>
          </a:solidFill>
          <a:ln w="13970">
            <a:solidFill>
              <a:srgbClr val="6067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 name="TextBox 240">
            <a:extLst>
              <a:ext uri="{FF2B5EF4-FFF2-40B4-BE49-F238E27FC236}">
                <a16:creationId xmlns:a16="http://schemas.microsoft.com/office/drawing/2014/main" id="{72046231-53EE-C0B6-6A48-FF0E9405665F}"/>
              </a:ext>
            </a:extLst>
          </p:cNvPr>
          <p:cNvSpPr txBox="1"/>
          <p:nvPr/>
        </p:nvSpPr>
        <p:spPr>
          <a:xfrm>
            <a:off x="777240" y="4597553"/>
            <a:ext cx="1325880" cy="310896"/>
          </a:xfrm>
          <a:prstGeom prst="rect">
            <a:avLst/>
          </a:prstGeom>
          <a:noFill/>
        </p:spPr>
        <p:txBody>
          <a:bodyPr wrap="square" anchor="ctr">
            <a:spAutoFit/>
          </a:bodyPr>
          <a:lstStyle/>
          <a:p>
            <a:pPr algn="ctr"/>
            <a:r>
              <a:rPr sz="1130" b="1">
                <a:solidFill>
                  <a:srgbClr val="606770"/>
                </a:solidFill>
                <a:latin typeface="Aptos"/>
              </a:rPr>
              <a:t>To do</a:t>
            </a:r>
          </a:p>
        </p:txBody>
      </p:sp>
      <p:sp>
        <p:nvSpPr>
          <p:cNvPr id="243" name="Rounded Rectangle 39">
            <a:extLst>
              <a:ext uri="{FF2B5EF4-FFF2-40B4-BE49-F238E27FC236}">
                <a16:creationId xmlns:a16="http://schemas.microsoft.com/office/drawing/2014/main" id="{D98E0CC7-91A8-7E66-3D03-04154DEA1362}"/>
              </a:ext>
            </a:extLst>
          </p:cNvPr>
          <p:cNvSpPr/>
          <p:nvPr/>
        </p:nvSpPr>
        <p:spPr>
          <a:xfrm>
            <a:off x="772774" y="4972567"/>
            <a:ext cx="1325880" cy="310896"/>
          </a:xfrm>
          <a:prstGeom prst="roundRect">
            <a:avLst/>
          </a:prstGeom>
          <a:solidFill>
            <a:srgbClr val="F0F2F4"/>
          </a:solidFill>
          <a:ln w="13970">
            <a:solidFill>
              <a:srgbClr val="6067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 name="TextBox 244">
            <a:extLst>
              <a:ext uri="{FF2B5EF4-FFF2-40B4-BE49-F238E27FC236}">
                <a16:creationId xmlns:a16="http://schemas.microsoft.com/office/drawing/2014/main" id="{24B9C8A9-E71E-EEC2-32BB-DBEFF81C82E3}"/>
              </a:ext>
            </a:extLst>
          </p:cNvPr>
          <p:cNvSpPr txBox="1"/>
          <p:nvPr/>
        </p:nvSpPr>
        <p:spPr>
          <a:xfrm>
            <a:off x="772774" y="4972567"/>
            <a:ext cx="1325880" cy="310896"/>
          </a:xfrm>
          <a:prstGeom prst="rect">
            <a:avLst/>
          </a:prstGeom>
          <a:noFill/>
        </p:spPr>
        <p:txBody>
          <a:bodyPr wrap="square" anchor="ctr">
            <a:spAutoFit/>
          </a:bodyPr>
          <a:lstStyle/>
          <a:p>
            <a:pPr algn="ctr"/>
            <a:r>
              <a:rPr sz="1130" b="1">
                <a:solidFill>
                  <a:srgbClr val="606770"/>
                </a:solidFill>
                <a:latin typeface="Aptos"/>
              </a:rPr>
              <a:t>To do</a:t>
            </a:r>
          </a:p>
        </p:txBody>
      </p:sp>
    </p:spTree>
    <p:extLst>
      <p:ext uri="{BB962C8B-B14F-4D97-AF65-F5344CB8AC3E}">
        <p14:creationId xmlns:p14="http://schemas.microsoft.com/office/powerpoint/2010/main" val="33906035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56FF894-081E-4189-9B12-882CE010839B}"/>
              </a:ext>
            </a:extLst>
          </p:cNvPr>
          <p:cNvSpPr>
            <a:spLocks noGrp="1"/>
          </p:cNvSpPr>
          <p:nvPr/>
        </p:nvSpPr>
        <p:spPr>
          <a:xfrm>
            <a:off x="571500" y="409575"/>
            <a:ext cx="10953750" cy="762000"/>
          </a:xfrm>
          <a:prstGeom prst="rect">
            <a:avLst/>
          </a:prstGeom>
          <a:noFill/>
          <a:ln w="9525">
            <a:noFill/>
          </a:ln>
        </p:spPr>
        <p:txBody>
          <a:bodyPr>
            <a:noAutofit/>
          </a:bodyPr>
          <a:lstStyle/>
          <a:p>
            <a:pPr>
              <a:defRPr sz="3000" b="1">
                <a:solidFill>
                  <a:srgbClr val="12283B"/>
                </a:solidFill>
                <a:latin typeface="Arial"/>
                <a:ea typeface="Arial"/>
                <a:cs typeface="Arial"/>
              </a:defRPr>
            </a:pPr>
            <a:r>
              <a:rPr sz="3000" b="1">
                <a:solidFill>
                  <a:srgbClr val="12283B"/>
                </a:solidFill>
                <a:latin typeface="Arial"/>
                <a:ea typeface="Arial"/>
                <a:cs typeface="Arial"/>
              </a:rPr>
              <a:t>Milestone and development timeline</a:t>
            </a:r>
          </a:p>
        </p:txBody>
      </p:sp>
      <p:sp>
        <p:nvSpPr>
          <p:cNvPr id="3" name="Rectangle 2">
            <a:extLst>
              <a:ext uri="{FF2B5EF4-FFF2-40B4-BE49-F238E27FC236}">
                <a16:creationId xmlns:a16="http://schemas.microsoft.com/office/drawing/2014/main" id="{6378196F-8E87-4B5A-8D76-FDCD246F9F0C}"/>
              </a:ext>
            </a:extLst>
          </p:cNvPr>
          <p:cNvSpPr>
            <a:spLocks noGrp="1"/>
          </p:cNvSpPr>
          <p:nvPr/>
        </p:nvSpPr>
        <p:spPr>
          <a:xfrm>
            <a:off x="11075670" y="5987016"/>
            <a:ext cx="571500" cy="238125"/>
          </a:xfrm>
          <a:prstGeom prst="rect">
            <a:avLst/>
          </a:prstGeom>
          <a:noFill/>
          <a:ln w="9525">
            <a:noFill/>
          </a:ln>
        </p:spPr>
        <p:txBody>
          <a:bodyPr>
            <a:noAutofit/>
          </a:bodyPr>
          <a:lstStyle/>
          <a:p>
            <a:pPr>
              <a:defRPr sz="1125" b="0">
                <a:solidFill>
                  <a:srgbClr val="4E6473"/>
                </a:solidFill>
                <a:latin typeface="Arial"/>
                <a:ea typeface="Arial"/>
                <a:cs typeface="Arial"/>
              </a:defRPr>
            </a:pPr>
            <a:r>
              <a:rPr sz="1125" b="0">
                <a:solidFill>
                  <a:srgbClr val="4E6473"/>
                </a:solidFill>
                <a:latin typeface="Arial"/>
                <a:ea typeface="Arial"/>
                <a:cs typeface="Arial"/>
              </a:rPr>
              <a:t>13</a:t>
            </a:r>
          </a:p>
        </p:txBody>
      </p:sp>
      <p:sp>
        <p:nvSpPr>
          <p:cNvPr id="15" name="Rectangle 14">
            <a:extLst>
              <a:ext uri="{FF2B5EF4-FFF2-40B4-BE49-F238E27FC236}">
                <a16:creationId xmlns:a16="http://schemas.microsoft.com/office/drawing/2014/main" id="{B77CB745-B65B-48D8-855F-7656AE880D1D}"/>
              </a:ext>
            </a:extLst>
          </p:cNvPr>
          <p:cNvSpPr>
            <a:spLocks noGrp="1"/>
          </p:cNvSpPr>
          <p:nvPr/>
        </p:nvSpPr>
        <p:spPr>
          <a:xfrm>
            <a:off x="502920" y="1183124"/>
            <a:ext cx="9279034" cy="345144"/>
          </a:xfrm>
          <a:prstGeom prst="rect">
            <a:avLst/>
          </a:prstGeom>
          <a:noFill/>
          <a:ln w="9525">
            <a:noFill/>
          </a:ln>
        </p:spPr>
        <p:txBody>
          <a:bodyPr>
            <a:noAutofit/>
          </a:bodyPr>
          <a:lstStyle/>
          <a:p>
            <a:pPr>
              <a:defRPr sz="2400" b="1">
                <a:solidFill>
                  <a:srgbClr val="12283B"/>
                </a:solidFill>
                <a:latin typeface="Arial"/>
                <a:ea typeface="Arial"/>
                <a:cs typeface="Arial"/>
              </a:defRPr>
            </a:pPr>
            <a:r>
              <a:rPr sz="2000" b="1" dirty="0">
                <a:solidFill>
                  <a:srgbClr val="12283B"/>
                </a:solidFill>
                <a:latin typeface="Arial"/>
                <a:ea typeface="Arial"/>
                <a:cs typeface="Arial"/>
              </a:rPr>
              <a:t>End-to-end autonomous rescue baseline</a:t>
            </a:r>
            <a:r>
              <a:rPr lang="en-US" sz="2000" b="1" dirty="0">
                <a:solidFill>
                  <a:srgbClr val="12283B"/>
                </a:solidFill>
                <a:latin typeface="Arial"/>
                <a:ea typeface="Arial"/>
                <a:cs typeface="Arial"/>
              </a:rPr>
              <a:t> (simulation demo is sufficient)</a:t>
            </a:r>
            <a:endParaRPr sz="2000" b="1" dirty="0">
              <a:solidFill>
                <a:srgbClr val="12283B"/>
              </a:solidFill>
              <a:latin typeface="Arial"/>
              <a:ea typeface="Arial"/>
              <a:cs typeface="Arial"/>
            </a:endParaRPr>
          </a:p>
        </p:txBody>
      </p:sp>
      <p:sp>
        <p:nvSpPr>
          <p:cNvPr id="21" name="Shape 2">
            <a:extLst>
              <a:ext uri="{FF2B5EF4-FFF2-40B4-BE49-F238E27FC236}">
                <a16:creationId xmlns:a16="http://schemas.microsoft.com/office/drawing/2014/main" id="{2491759D-77C4-C5DE-F29D-FFA381AF3523}"/>
              </a:ext>
            </a:extLst>
          </p:cNvPr>
          <p:cNvSpPr/>
          <p:nvPr/>
        </p:nvSpPr>
        <p:spPr>
          <a:xfrm>
            <a:off x="502920" y="1033272"/>
            <a:ext cx="11155680" cy="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3" name="Rectangle 22">
            <a:extLst>
              <a:ext uri="{FF2B5EF4-FFF2-40B4-BE49-F238E27FC236}">
                <a16:creationId xmlns:a16="http://schemas.microsoft.com/office/drawing/2014/main" id="{661CE05B-C037-8A6B-EB0C-956D0A328C57}"/>
              </a:ext>
            </a:extLst>
          </p:cNvPr>
          <p:cNvSpPr>
            <a:spLocks noGrp="1"/>
          </p:cNvSpPr>
          <p:nvPr/>
        </p:nvSpPr>
        <p:spPr>
          <a:xfrm>
            <a:off x="502920" y="1559088"/>
            <a:ext cx="8734735" cy="2208856"/>
          </a:xfrm>
          <a:prstGeom prst="rect">
            <a:avLst/>
          </a:prstGeom>
          <a:noFill/>
          <a:ln w="9525">
            <a:noFill/>
          </a:ln>
        </p:spPr>
        <p:txBody>
          <a:bodyPr>
            <a:noAutofit/>
          </a:bodyPr>
          <a:lstStyle/>
          <a:p>
            <a:pPr marL="285750" indent="-285750" algn="just">
              <a:spcAft>
                <a:spcPts val="600"/>
              </a:spcAft>
              <a:buFont typeface="Wingdings" panose="05000000000000000000" pitchFamily="2" charset="2"/>
              <a:buChar char="l"/>
            </a:pPr>
            <a:r>
              <a:rPr lang="en-US" altLang="zh-CN" sz="1600" dirty="0">
                <a:latin typeface="Arial"/>
                <a:ea typeface="Arial"/>
                <a:cs typeface="Arial"/>
              </a:rPr>
              <a:t>Autonomous exploration, </a:t>
            </a:r>
            <a:r>
              <a:rPr lang="en-US" altLang="zh-CN" sz="1600" dirty="0" err="1">
                <a:latin typeface="Arial"/>
                <a:ea typeface="Arial"/>
                <a:cs typeface="Arial"/>
              </a:rPr>
              <a:t>ArUco</a:t>
            </a:r>
            <a:r>
              <a:rPr lang="en-US" altLang="zh-CN" sz="1600" dirty="0">
                <a:latin typeface="Arial"/>
                <a:ea typeface="Arial"/>
                <a:cs typeface="Arial"/>
              </a:rPr>
              <a:t> detection and localization</a:t>
            </a:r>
          </a:p>
          <a:p>
            <a:pPr marL="285750" indent="-285750" algn="just">
              <a:spcAft>
                <a:spcPts val="600"/>
              </a:spcAft>
              <a:buFont typeface="Wingdings" panose="05000000000000000000" pitchFamily="2" charset="2"/>
              <a:buChar char="l"/>
            </a:pPr>
            <a:r>
              <a:rPr lang="en-US" altLang="zh-CN" sz="1600" dirty="0">
                <a:latin typeface="Arial"/>
                <a:cs typeface="Arial"/>
              </a:rPr>
              <a:t>Autonomous map-based navigation</a:t>
            </a:r>
          </a:p>
          <a:p>
            <a:pPr marL="285750" indent="-285750" algn="just">
              <a:spcAft>
                <a:spcPts val="600"/>
              </a:spcAft>
              <a:buFont typeface="Wingdings" panose="05000000000000000000" pitchFamily="2" charset="2"/>
              <a:buChar char="l"/>
            </a:pPr>
            <a:r>
              <a:rPr lang="en-US" altLang="zh-CN" sz="1600" dirty="0">
                <a:latin typeface="Arial"/>
                <a:ea typeface="Arial"/>
                <a:cs typeface="Arial"/>
              </a:rPr>
              <a:t>At least two robots should connect, with their states available to the system</a:t>
            </a:r>
          </a:p>
          <a:p>
            <a:pPr marL="285750" indent="-285750" algn="just">
              <a:spcAft>
                <a:spcPts val="600"/>
              </a:spcAft>
              <a:buFont typeface="Wingdings" panose="05000000000000000000" pitchFamily="2" charset="2"/>
              <a:buChar char="l"/>
            </a:pPr>
            <a:r>
              <a:rPr lang="en-US" altLang="zh-CN" sz="1600" dirty="0">
                <a:latin typeface="Arial"/>
                <a:cs typeface="Arial"/>
              </a:rPr>
              <a:t>B</a:t>
            </a:r>
            <a:r>
              <a:rPr lang="zh-CN" altLang="zh-CN" sz="1600" dirty="0">
                <a:latin typeface="Arial"/>
                <a:cs typeface="Arial"/>
              </a:rPr>
              <a:t>asic robot–edge communication demonstrated</a:t>
            </a:r>
            <a:endParaRPr lang="en-US" altLang="zh-CN" sz="1600" dirty="0">
              <a:latin typeface="Arial"/>
              <a:cs typeface="Arial"/>
            </a:endParaRPr>
          </a:p>
          <a:p>
            <a:pPr marL="285750" indent="-285750" algn="just">
              <a:spcAft>
                <a:spcPts val="600"/>
              </a:spcAft>
              <a:buFont typeface="Wingdings" panose="05000000000000000000" pitchFamily="2" charset="2"/>
              <a:buChar char="l"/>
            </a:pPr>
            <a:r>
              <a:rPr lang="en-US" altLang="zh-CN" sz="1600" dirty="0">
                <a:latin typeface="Arial"/>
                <a:cs typeface="Arial"/>
              </a:rPr>
              <a:t>Basic task planning and robot allocation</a:t>
            </a:r>
          </a:p>
          <a:p>
            <a:pPr marL="285750" indent="-285750" algn="just">
              <a:spcAft>
                <a:spcPts val="600"/>
              </a:spcAft>
              <a:buFont typeface="Wingdings" panose="05000000000000000000" pitchFamily="2" charset="2"/>
              <a:buChar char="l"/>
            </a:pPr>
            <a:r>
              <a:rPr lang="en-US" altLang="zh-CN" sz="1600" dirty="0">
                <a:latin typeface="Arial"/>
                <a:cs typeface="Arial"/>
              </a:rPr>
              <a:t>At least one Normal Rescue and one Cooperative Rescue</a:t>
            </a:r>
          </a:p>
        </p:txBody>
      </p:sp>
      <p:sp>
        <p:nvSpPr>
          <p:cNvPr id="25" name="Rectangle 24">
            <a:extLst>
              <a:ext uri="{FF2B5EF4-FFF2-40B4-BE49-F238E27FC236}">
                <a16:creationId xmlns:a16="http://schemas.microsoft.com/office/drawing/2014/main" id="{9CB491C8-269C-011F-4A06-307A6D5A60A8}"/>
              </a:ext>
            </a:extLst>
          </p:cNvPr>
          <p:cNvSpPr>
            <a:spLocks noGrp="1"/>
          </p:cNvSpPr>
          <p:nvPr/>
        </p:nvSpPr>
        <p:spPr>
          <a:xfrm>
            <a:off x="1026795" y="4281255"/>
            <a:ext cx="9715500" cy="28575"/>
          </a:xfrm>
          <a:prstGeom prst="rect">
            <a:avLst/>
          </a:prstGeom>
          <a:solidFill>
            <a:srgbClr val="007F82"/>
          </a:solidFill>
          <a:ln w="9525">
            <a:solidFill>
              <a:srgbClr val="007F82"/>
            </a:solidFill>
          </a:ln>
        </p:spPr>
        <p:txBody>
          <a:bodyPr/>
          <a:lstStyle/>
          <a:p>
            <a:endParaRPr lang="zh-CN" altLang="en-US"/>
          </a:p>
        </p:txBody>
      </p:sp>
      <p:sp>
        <p:nvSpPr>
          <p:cNvPr id="27" name="Oval 26">
            <a:extLst>
              <a:ext uri="{FF2B5EF4-FFF2-40B4-BE49-F238E27FC236}">
                <a16:creationId xmlns:a16="http://schemas.microsoft.com/office/drawing/2014/main" id="{3A1140AC-CD62-BD57-3321-8DAE4D01F59F}"/>
              </a:ext>
            </a:extLst>
          </p:cNvPr>
          <p:cNvSpPr>
            <a:spLocks noGrp="1"/>
          </p:cNvSpPr>
          <p:nvPr/>
        </p:nvSpPr>
        <p:spPr>
          <a:xfrm>
            <a:off x="941070" y="4205055"/>
            <a:ext cx="190500" cy="190500"/>
          </a:xfrm>
          <a:prstGeom prst="ellipse">
            <a:avLst/>
          </a:prstGeom>
          <a:solidFill>
            <a:srgbClr val="007F82"/>
          </a:solidFill>
          <a:ln w="9525">
            <a:solidFill>
              <a:srgbClr val="007F82"/>
            </a:solidFill>
          </a:ln>
        </p:spPr>
        <p:txBody>
          <a:bodyPr/>
          <a:lstStyle/>
          <a:p>
            <a:endParaRPr lang="zh-CN" altLang="en-US"/>
          </a:p>
        </p:txBody>
      </p:sp>
      <p:sp>
        <p:nvSpPr>
          <p:cNvPr id="29" name="Rectangle 28">
            <a:extLst>
              <a:ext uri="{FF2B5EF4-FFF2-40B4-BE49-F238E27FC236}">
                <a16:creationId xmlns:a16="http://schemas.microsoft.com/office/drawing/2014/main" id="{7D5136B4-16CF-0887-4E24-24CFDC6747A5}"/>
              </a:ext>
            </a:extLst>
          </p:cNvPr>
          <p:cNvSpPr>
            <a:spLocks noGrp="1"/>
          </p:cNvSpPr>
          <p:nvPr/>
        </p:nvSpPr>
        <p:spPr>
          <a:xfrm>
            <a:off x="407670" y="3755481"/>
            <a:ext cx="1524000" cy="428625"/>
          </a:xfrm>
          <a:prstGeom prst="rect">
            <a:avLst/>
          </a:prstGeom>
          <a:noFill/>
          <a:ln w="9525">
            <a:noFill/>
          </a:ln>
        </p:spPr>
        <p:txBody>
          <a:bodyPr>
            <a:noAutofit/>
          </a:bodyPr>
          <a:lstStyle/>
          <a:p>
            <a:pPr>
              <a:defRPr sz="2025" b="1">
                <a:solidFill>
                  <a:srgbClr val="007F82"/>
                </a:solidFill>
                <a:latin typeface="Arial"/>
                <a:ea typeface="Arial"/>
                <a:cs typeface="Arial"/>
              </a:defRPr>
            </a:pPr>
            <a:r>
              <a:rPr b="1" dirty="0">
                <a:solidFill>
                  <a:srgbClr val="007F82"/>
                </a:solidFill>
                <a:latin typeface="Arial"/>
                <a:ea typeface="Arial"/>
                <a:cs typeface="Arial"/>
              </a:rPr>
              <a:t>Week 0</a:t>
            </a:r>
          </a:p>
        </p:txBody>
      </p:sp>
      <p:sp>
        <p:nvSpPr>
          <p:cNvPr id="31" name="Rectangle 30">
            <a:extLst>
              <a:ext uri="{FF2B5EF4-FFF2-40B4-BE49-F238E27FC236}">
                <a16:creationId xmlns:a16="http://schemas.microsoft.com/office/drawing/2014/main" id="{A93D9CCE-B67D-2834-2CA2-0DFE84E7E349}"/>
              </a:ext>
            </a:extLst>
          </p:cNvPr>
          <p:cNvSpPr>
            <a:spLocks noGrp="1"/>
          </p:cNvSpPr>
          <p:nvPr/>
        </p:nvSpPr>
        <p:spPr>
          <a:xfrm>
            <a:off x="502920" y="4460288"/>
            <a:ext cx="1203384" cy="428626"/>
          </a:xfrm>
          <a:prstGeom prst="rect">
            <a:avLst/>
          </a:prstGeom>
          <a:noFill/>
          <a:ln w="9525">
            <a:noFill/>
          </a:ln>
        </p:spPr>
        <p:txBody>
          <a:bodyPr>
            <a:noAutofit/>
          </a:bodyPr>
          <a:lstStyle/>
          <a:p>
            <a:pPr>
              <a:defRPr sz="1875" b="1">
                <a:solidFill>
                  <a:srgbClr val="12283B"/>
                </a:solidFill>
                <a:latin typeface="Arial"/>
                <a:ea typeface="Arial"/>
                <a:cs typeface="Arial"/>
              </a:defRPr>
            </a:pPr>
            <a:r>
              <a:rPr sz="1600" b="1" dirty="0">
                <a:solidFill>
                  <a:srgbClr val="12283B"/>
                </a:solidFill>
                <a:latin typeface="Arial"/>
                <a:ea typeface="Arial"/>
                <a:cs typeface="Arial"/>
              </a:rPr>
              <a:t>Kick-off</a:t>
            </a:r>
          </a:p>
        </p:txBody>
      </p:sp>
      <p:sp>
        <p:nvSpPr>
          <p:cNvPr id="33" name="Oval 32">
            <a:extLst>
              <a:ext uri="{FF2B5EF4-FFF2-40B4-BE49-F238E27FC236}">
                <a16:creationId xmlns:a16="http://schemas.microsoft.com/office/drawing/2014/main" id="{D58094E0-6AD0-FF24-3D91-C324ADAB8C43}"/>
              </a:ext>
            </a:extLst>
          </p:cNvPr>
          <p:cNvSpPr>
            <a:spLocks noGrp="1"/>
          </p:cNvSpPr>
          <p:nvPr/>
        </p:nvSpPr>
        <p:spPr>
          <a:xfrm>
            <a:off x="5798820" y="4205055"/>
            <a:ext cx="190500" cy="190500"/>
          </a:xfrm>
          <a:prstGeom prst="ellipse">
            <a:avLst/>
          </a:prstGeom>
          <a:solidFill>
            <a:srgbClr val="007F82"/>
          </a:solidFill>
          <a:ln w="9525">
            <a:solidFill>
              <a:srgbClr val="007F82"/>
            </a:solidFill>
          </a:ln>
        </p:spPr>
        <p:txBody>
          <a:bodyPr/>
          <a:lstStyle/>
          <a:p>
            <a:endParaRPr lang="zh-CN" altLang="en-US"/>
          </a:p>
        </p:txBody>
      </p:sp>
      <p:sp>
        <p:nvSpPr>
          <p:cNvPr id="35" name="Rectangle 34">
            <a:extLst>
              <a:ext uri="{FF2B5EF4-FFF2-40B4-BE49-F238E27FC236}">
                <a16:creationId xmlns:a16="http://schemas.microsoft.com/office/drawing/2014/main" id="{FE26A80C-0D0E-6A62-FB4F-233D8043ECF9}"/>
              </a:ext>
            </a:extLst>
          </p:cNvPr>
          <p:cNvSpPr>
            <a:spLocks noGrp="1"/>
          </p:cNvSpPr>
          <p:nvPr/>
        </p:nvSpPr>
        <p:spPr>
          <a:xfrm>
            <a:off x="5265420" y="3755481"/>
            <a:ext cx="1524000" cy="428625"/>
          </a:xfrm>
          <a:prstGeom prst="rect">
            <a:avLst/>
          </a:prstGeom>
          <a:noFill/>
          <a:ln w="9525">
            <a:noFill/>
          </a:ln>
        </p:spPr>
        <p:txBody>
          <a:bodyPr>
            <a:noAutofit/>
          </a:bodyPr>
          <a:lstStyle/>
          <a:p>
            <a:pPr>
              <a:defRPr sz="2025" b="1">
                <a:solidFill>
                  <a:srgbClr val="007F82"/>
                </a:solidFill>
                <a:latin typeface="Arial"/>
                <a:ea typeface="Arial"/>
                <a:cs typeface="Arial"/>
              </a:defRPr>
            </a:pPr>
            <a:r>
              <a:rPr b="1" dirty="0">
                <a:solidFill>
                  <a:srgbClr val="007F82"/>
                </a:solidFill>
                <a:latin typeface="Arial"/>
                <a:ea typeface="Arial"/>
                <a:cs typeface="Arial"/>
              </a:rPr>
              <a:t>Week 4</a:t>
            </a:r>
          </a:p>
        </p:txBody>
      </p:sp>
      <p:sp>
        <p:nvSpPr>
          <p:cNvPr id="37" name="Rectangle 36">
            <a:extLst>
              <a:ext uri="{FF2B5EF4-FFF2-40B4-BE49-F238E27FC236}">
                <a16:creationId xmlns:a16="http://schemas.microsoft.com/office/drawing/2014/main" id="{86E7AC28-B6E0-A00E-C24A-694988F144B6}"/>
              </a:ext>
            </a:extLst>
          </p:cNvPr>
          <p:cNvSpPr>
            <a:spLocks noGrp="1"/>
          </p:cNvSpPr>
          <p:nvPr/>
        </p:nvSpPr>
        <p:spPr>
          <a:xfrm>
            <a:off x="5211415" y="4481280"/>
            <a:ext cx="2190750" cy="447675"/>
          </a:xfrm>
          <a:prstGeom prst="rect">
            <a:avLst/>
          </a:prstGeom>
          <a:noFill/>
          <a:ln w="9525">
            <a:noFill/>
          </a:ln>
        </p:spPr>
        <p:txBody>
          <a:bodyPr>
            <a:noAutofit/>
          </a:bodyPr>
          <a:lstStyle/>
          <a:p>
            <a:pPr>
              <a:defRPr sz="1875" b="1">
                <a:solidFill>
                  <a:srgbClr val="12283B"/>
                </a:solidFill>
                <a:latin typeface="Arial"/>
                <a:ea typeface="Arial"/>
                <a:cs typeface="Arial"/>
              </a:defRPr>
            </a:pPr>
            <a:r>
              <a:rPr sz="1600" b="1" dirty="0">
                <a:solidFill>
                  <a:srgbClr val="12283B"/>
                </a:solidFill>
                <a:latin typeface="Arial"/>
                <a:ea typeface="Arial"/>
                <a:cs typeface="Arial"/>
              </a:rPr>
              <a:t>Mid-term milestone</a:t>
            </a:r>
          </a:p>
        </p:txBody>
      </p:sp>
      <p:sp>
        <p:nvSpPr>
          <p:cNvPr id="39" name="Oval 38">
            <a:extLst>
              <a:ext uri="{FF2B5EF4-FFF2-40B4-BE49-F238E27FC236}">
                <a16:creationId xmlns:a16="http://schemas.microsoft.com/office/drawing/2014/main" id="{A2140F38-215B-7145-73EA-D45B64DFFA61}"/>
              </a:ext>
            </a:extLst>
          </p:cNvPr>
          <p:cNvSpPr>
            <a:spLocks noGrp="1"/>
          </p:cNvSpPr>
          <p:nvPr/>
        </p:nvSpPr>
        <p:spPr>
          <a:xfrm>
            <a:off x="10656570" y="4205055"/>
            <a:ext cx="190500" cy="190500"/>
          </a:xfrm>
          <a:prstGeom prst="ellipse">
            <a:avLst/>
          </a:prstGeom>
          <a:solidFill>
            <a:srgbClr val="007F82"/>
          </a:solidFill>
          <a:ln w="9525">
            <a:solidFill>
              <a:srgbClr val="007F82"/>
            </a:solidFill>
          </a:ln>
        </p:spPr>
        <p:txBody>
          <a:bodyPr/>
          <a:lstStyle/>
          <a:p>
            <a:endParaRPr lang="zh-CN" altLang="en-US"/>
          </a:p>
        </p:txBody>
      </p:sp>
      <p:sp>
        <p:nvSpPr>
          <p:cNvPr id="41" name="Rectangle 40">
            <a:extLst>
              <a:ext uri="{FF2B5EF4-FFF2-40B4-BE49-F238E27FC236}">
                <a16:creationId xmlns:a16="http://schemas.microsoft.com/office/drawing/2014/main" id="{371CD819-4752-D214-DAD1-7B657A3443B8}"/>
              </a:ext>
            </a:extLst>
          </p:cNvPr>
          <p:cNvSpPr>
            <a:spLocks noGrp="1"/>
          </p:cNvSpPr>
          <p:nvPr/>
        </p:nvSpPr>
        <p:spPr>
          <a:xfrm>
            <a:off x="10123170" y="3807868"/>
            <a:ext cx="1524000" cy="428625"/>
          </a:xfrm>
          <a:prstGeom prst="rect">
            <a:avLst/>
          </a:prstGeom>
          <a:noFill/>
          <a:ln w="9525">
            <a:noFill/>
          </a:ln>
        </p:spPr>
        <p:txBody>
          <a:bodyPr>
            <a:noAutofit/>
          </a:bodyPr>
          <a:lstStyle/>
          <a:p>
            <a:pPr>
              <a:defRPr sz="2025" b="1">
                <a:solidFill>
                  <a:srgbClr val="007F82"/>
                </a:solidFill>
                <a:latin typeface="Arial"/>
                <a:ea typeface="Arial"/>
                <a:cs typeface="Arial"/>
              </a:defRPr>
            </a:pPr>
            <a:r>
              <a:rPr b="1" dirty="0">
                <a:solidFill>
                  <a:srgbClr val="007F82"/>
                </a:solidFill>
                <a:latin typeface="Arial"/>
                <a:ea typeface="Arial"/>
                <a:cs typeface="Arial"/>
              </a:rPr>
              <a:t>Week 8</a:t>
            </a:r>
          </a:p>
        </p:txBody>
      </p:sp>
      <p:sp>
        <p:nvSpPr>
          <p:cNvPr id="43" name="Rectangle 42">
            <a:extLst>
              <a:ext uri="{FF2B5EF4-FFF2-40B4-BE49-F238E27FC236}">
                <a16:creationId xmlns:a16="http://schemas.microsoft.com/office/drawing/2014/main" id="{F899FCB2-86A3-F8A4-5B8A-C9494C9030E1}"/>
              </a:ext>
            </a:extLst>
          </p:cNvPr>
          <p:cNvSpPr>
            <a:spLocks noGrp="1"/>
          </p:cNvSpPr>
          <p:nvPr/>
        </p:nvSpPr>
        <p:spPr>
          <a:xfrm>
            <a:off x="10431026" y="4521162"/>
            <a:ext cx="952500" cy="383632"/>
          </a:xfrm>
          <a:prstGeom prst="rect">
            <a:avLst/>
          </a:prstGeom>
          <a:noFill/>
          <a:ln w="9525">
            <a:noFill/>
          </a:ln>
        </p:spPr>
        <p:txBody>
          <a:bodyPr>
            <a:noAutofit/>
          </a:bodyPr>
          <a:lstStyle/>
          <a:p>
            <a:pPr>
              <a:defRPr sz="1875" b="1">
                <a:solidFill>
                  <a:srgbClr val="12283B"/>
                </a:solidFill>
                <a:latin typeface="Arial"/>
                <a:ea typeface="Arial"/>
                <a:cs typeface="Arial"/>
              </a:defRPr>
            </a:pPr>
            <a:r>
              <a:rPr sz="1600" b="1" dirty="0">
                <a:solidFill>
                  <a:srgbClr val="12283B"/>
                </a:solidFill>
                <a:latin typeface="Arial"/>
                <a:ea typeface="Arial"/>
                <a:cs typeface="Arial"/>
              </a:rPr>
              <a:t>Final</a:t>
            </a:r>
          </a:p>
        </p:txBody>
      </p:sp>
      <p:sp>
        <p:nvSpPr>
          <p:cNvPr id="45" name="Shape 8">
            <a:extLst>
              <a:ext uri="{FF2B5EF4-FFF2-40B4-BE49-F238E27FC236}">
                <a16:creationId xmlns:a16="http://schemas.microsoft.com/office/drawing/2014/main" id="{36807951-E99A-4C75-F60A-5AE7E5CDEDAD}"/>
              </a:ext>
            </a:extLst>
          </p:cNvPr>
          <p:cNvSpPr/>
          <p:nvPr/>
        </p:nvSpPr>
        <p:spPr>
          <a:xfrm>
            <a:off x="1297172" y="4830423"/>
            <a:ext cx="3968248" cy="1924796"/>
          </a:xfrm>
          <a:prstGeom prst="roundRect">
            <a:avLst>
              <a:gd name="adj" fmla="val 5714"/>
            </a:avLst>
          </a:prstGeom>
          <a:solidFill>
            <a:srgbClr val="FFFFFF"/>
          </a:solidFill>
          <a:ln w="12700">
            <a:solidFill>
              <a:srgbClr val="D7E3F7"/>
            </a:solidFill>
            <a:prstDash val="solid"/>
          </a:ln>
        </p:spPr>
        <p:txBody>
          <a:bodyPr/>
          <a:lstStyle/>
          <a:p>
            <a:endParaRPr lang="zh-CN" altLang="en-US"/>
          </a:p>
        </p:txBody>
      </p:sp>
      <p:sp>
        <p:nvSpPr>
          <p:cNvPr id="47" name="Shape 8">
            <a:extLst>
              <a:ext uri="{FF2B5EF4-FFF2-40B4-BE49-F238E27FC236}">
                <a16:creationId xmlns:a16="http://schemas.microsoft.com/office/drawing/2014/main" id="{95C92D3A-8EED-7055-FD9E-768FB5645CB6}"/>
              </a:ext>
            </a:extLst>
          </p:cNvPr>
          <p:cNvSpPr/>
          <p:nvPr/>
        </p:nvSpPr>
        <p:spPr>
          <a:xfrm>
            <a:off x="6774047" y="4830423"/>
            <a:ext cx="3968248" cy="1924796"/>
          </a:xfrm>
          <a:prstGeom prst="roundRect">
            <a:avLst>
              <a:gd name="adj" fmla="val 5714"/>
            </a:avLst>
          </a:prstGeom>
          <a:solidFill>
            <a:srgbClr val="FFFFFF"/>
          </a:solidFill>
          <a:ln w="12700">
            <a:solidFill>
              <a:srgbClr val="D7E3F7"/>
            </a:solidFill>
            <a:prstDash val="solid"/>
          </a:ln>
        </p:spPr>
        <p:txBody>
          <a:bodyPr/>
          <a:lstStyle/>
          <a:p>
            <a:endParaRPr lang="zh-CN" altLang="en-US"/>
          </a:p>
        </p:txBody>
      </p:sp>
      <p:sp>
        <p:nvSpPr>
          <p:cNvPr id="49" name="Text 5">
            <a:extLst>
              <a:ext uri="{FF2B5EF4-FFF2-40B4-BE49-F238E27FC236}">
                <a16:creationId xmlns:a16="http://schemas.microsoft.com/office/drawing/2014/main" id="{110DE7A3-779A-9221-58F2-44F3CE7EEBEB}"/>
              </a:ext>
            </a:extLst>
          </p:cNvPr>
          <p:cNvSpPr/>
          <p:nvPr/>
        </p:nvSpPr>
        <p:spPr>
          <a:xfrm>
            <a:off x="1420775" y="4796460"/>
            <a:ext cx="3063684" cy="492517"/>
          </a:xfrm>
          <a:prstGeom prst="rect">
            <a:avLst/>
          </a:prstGeom>
          <a:noFill/>
          <a:ln/>
        </p:spPr>
        <p:txBody>
          <a:bodyPr wrap="square" lIns="0" tIns="0" rIns="0" bIns="0" rtlCol="0" anchor="ctr"/>
          <a:lstStyle/>
          <a:p>
            <a:pPr marL="0" indent="0">
              <a:buNone/>
            </a:pPr>
            <a:r>
              <a:rPr lang="en-US" altLang="zh-CN" b="1" dirty="0"/>
              <a:t>Early Development Phase</a:t>
            </a:r>
            <a:endParaRPr lang="en-US" dirty="0"/>
          </a:p>
        </p:txBody>
      </p:sp>
      <p:sp>
        <p:nvSpPr>
          <p:cNvPr id="51" name="Text 5">
            <a:extLst>
              <a:ext uri="{FF2B5EF4-FFF2-40B4-BE49-F238E27FC236}">
                <a16:creationId xmlns:a16="http://schemas.microsoft.com/office/drawing/2014/main" id="{3DB9681F-E07D-C5D8-3F9A-41FAD851AD9E}"/>
              </a:ext>
            </a:extLst>
          </p:cNvPr>
          <p:cNvSpPr/>
          <p:nvPr/>
        </p:nvSpPr>
        <p:spPr>
          <a:xfrm>
            <a:off x="6954688" y="4785581"/>
            <a:ext cx="3701882" cy="492517"/>
          </a:xfrm>
          <a:prstGeom prst="rect">
            <a:avLst/>
          </a:prstGeom>
          <a:noFill/>
          <a:ln/>
        </p:spPr>
        <p:txBody>
          <a:bodyPr wrap="square" lIns="0" tIns="0" rIns="0" bIns="0" rtlCol="0" anchor="ctr"/>
          <a:lstStyle/>
          <a:p>
            <a:pPr marL="0" indent="0">
              <a:buNone/>
            </a:pPr>
            <a:r>
              <a:rPr lang="en-US" altLang="zh-CN" b="1" dirty="0"/>
              <a:t>Integration and real-robot validation</a:t>
            </a:r>
            <a:endParaRPr lang="en-US" dirty="0"/>
          </a:p>
        </p:txBody>
      </p:sp>
      <p:sp>
        <p:nvSpPr>
          <p:cNvPr id="53" name="TextBox 52">
            <a:extLst>
              <a:ext uri="{FF2B5EF4-FFF2-40B4-BE49-F238E27FC236}">
                <a16:creationId xmlns:a16="http://schemas.microsoft.com/office/drawing/2014/main" id="{426F2D17-1081-2550-C597-F6EFC7C39305}"/>
              </a:ext>
            </a:extLst>
          </p:cNvPr>
          <p:cNvSpPr txBox="1"/>
          <p:nvPr/>
        </p:nvSpPr>
        <p:spPr>
          <a:xfrm>
            <a:off x="1350599" y="5298912"/>
            <a:ext cx="3990755" cy="1400383"/>
          </a:xfrm>
          <a:prstGeom prst="rect">
            <a:avLst/>
          </a:prstGeom>
          <a:noFill/>
        </p:spPr>
        <p:txBody>
          <a:bodyPr wrap="square">
            <a:spAutoFit/>
          </a:bodyPr>
          <a:lstStyle/>
          <a:p>
            <a:pPr>
              <a:spcAft>
                <a:spcPts val="250"/>
              </a:spcAft>
            </a:pPr>
            <a:r>
              <a:rPr sz="1600" dirty="0">
                <a:solidFill>
                  <a:srgbClr val="232323"/>
                </a:solidFill>
                <a:latin typeface="Aptos"/>
              </a:rPr>
              <a:t>• </a:t>
            </a:r>
            <a:r>
              <a:rPr lang="en-US" sz="1600" dirty="0">
                <a:solidFill>
                  <a:srgbClr val="232323"/>
                </a:solidFill>
                <a:latin typeface="Aptos"/>
              </a:rPr>
              <a:t>Focus primarily on </a:t>
            </a:r>
            <a:r>
              <a:rPr lang="en-US" sz="1600" b="1" dirty="0">
                <a:solidFill>
                  <a:srgbClr val="232323"/>
                </a:solidFill>
                <a:latin typeface="Aptos"/>
              </a:rPr>
              <a:t>Gazebo simulation</a:t>
            </a:r>
            <a:endParaRPr sz="1600" b="1" dirty="0">
              <a:solidFill>
                <a:srgbClr val="232323"/>
              </a:solidFill>
              <a:latin typeface="Aptos"/>
            </a:endParaRPr>
          </a:p>
          <a:p>
            <a:pPr>
              <a:spcAft>
                <a:spcPts val="250"/>
              </a:spcAft>
            </a:pPr>
            <a:r>
              <a:rPr sz="1600" dirty="0">
                <a:solidFill>
                  <a:srgbClr val="232323"/>
                </a:solidFill>
                <a:latin typeface="Aptos"/>
              </a:rPr>
              <a:t>• </a:t>
            </a:r>
            <a:r>
              <a:rPr lang="en-US" sz="1600" dirty="0">
                <a:solidFill>
                  <a:srgbClr val="232323"/>
                </a:solidFill>
                <a:latin typeface="Aptos"/>
              </a:rPr>
              <a:t>Develop and test exploration, SLAM, navigation, multi-robot coordination…</a:t>
            </a:r>
            <a:endParaRPr sz="1600" dirty="0">
              <a:solidFill>
                <a:srgbClr val="232323"/>
              </a:solidFill>
              <a:latin typeface="Aptos"/>
            </a:endParaRPr>
          </a:p>
          <a:p>
            <a:pPr>
              <a:spcAft>
                <a:spcPts val="250"/>
              </a:spcAft>
            </a:pPr>
            <a:r>
              <a:rPr sz="1600" dirty="0">
                <a:solidFill>
                  <a:srgbClr val="232323"/>
                </a:solidFill>
                <a:latin typeface="Aptos"/>
              </a:rPr>
              <a:t>•</a:t>
            </a:r>
            <a:r>
              <a:rPr lang="en-US" sz="1600" dirty="0">
                <a:solidFill>
                  <a:srgbClr val="232323"/>
                </a:solidFill>
                <a:latin typeface="Aptos"/>
              </a:rPr>
              <a:t> Use simulation for rapid iteration and debugging </a:t>
            </a:r>
            <a:endParaRPr sz="1600" dirty="0">
              <a:solidFill>
                <a:srgbClr val="232323"/>
              </a:solidFill>
              <a:latin typeface="Aptos"/>
            </a:endParaRPr>
          </a:p>
        </p:txBody>
      </p:sp>
      <p:sp>
        <p:nvSpPr>
          <p:cNvPr id="55" name="TextBox 54">
            <a:extLst>
              <a:ext uri="{FF2B5EF4-FFF2-40B4-BE49-F238E27FC236}">
                <a16:creationId xmlns:a16="http://schemas.microsoft.com/office/drawing/2014/main" id="{F77C6614-F29D-59C2-1066-833B773133BC}"/>
              </a:ext>
            </a:extLst>
          </p:cNvPr>
          <p:cNvSpPr txBox="1"/>
          <p:nvPr/>
        </p:nvSpPr>
        <p:spPr>
          <a:xfrm>
            <a:off x="6850646" y="5260431"/>
            <a:ext cx="3990755" cy="1115690"/>
          </a:xfrm>
          <a:prstGeom prst="rect">
            <a:avLst/>
          </a:prstGeom>
          <a:noFill/>
        </p:spPr>
        <p:txBody>
          <a:bodyPr wrap="square">
            <a:spAutoFit/>
          </a:bodyPr>
          <a:lstStyle/>
          <a:p>
            <a:pPr>
              <a:spcAft>
                <a:spcPts val="250"/>
              </a:spcAft>
            </a:pPr>
            <a:r>
              <a:rPr sz="1600" dirty="0">
                <a:solidFill>
                  <a:srgbClr val="232323"/>
                </a:solidFill>
                <a:latin typeface="Aptos"/>
              </a:rPr>
              <a:t>• </a:t>
            </a:r>
            <a:r>
              <a:rPr lang="zh-CN" altLang="zh-CN" sz="1600" dirty="0"/>
              <a:t>Physical robots are used mainly for </a:t>
            </a:r>
            <a:r>
              <a:rPr lang="zh-CN" altLang="zh-CN" sz="1600" b="1" dirty="0"/>
              <a:t>validation and system integration</a:t>
            </a:r>
            <a:endParaRPr sz="1600" b="1" dirty="0">
              <a:solidFill>
                <a:srgbClr val="232323"/>
              </a:solidFill>
              <a:latin typeface="Aptos"/>
            </a:endParaRPr>
          </a:p>
          <a:p>
            <a:pPr>
              <a:spcAft>
                <a:spcPts val="250"/>
              </a:spcAft>
            </a:pPr>
            <a:r>
              <a:rPr sz="1600" dirty="0">
                <a:solidFill>
                  <a:srgbClr val="232323"/>
                </a:solidFill>
                <a:latin typeface="Aptos"/>
              </a:rPr>
              <a:t>• </a:t>
            </a:r>
            <a:r>
              <a:rPr lang="zh-CN" altLang="zh-CN" sz="1600" dirty="0"/>
              <a:t>Teams that need real-robot testing should </a:t>
            </a:r>
            <a:r>
              <a:rPr lang="zh-CN" altLang="zh-CN" sz="1600" b="1" dirty="0"/>
              <a:t>book a time slot in advance</a:t>
            </a:r>
            <a:endParaRPr sz="1600" dirty="0">
              <a:solidFill>
                <a:srgbClr val="232323"/>
              </a:solidFill>
              <a:latin typeface="Aptos"/>
            </a:endParaRPr>
          </a:p>
        </p:txBody>
      </p:sp>
    </p:spTree>
    <p:extLst>
      <p:ext uri="{BB962C8B-B14F-4D97-AF65-F5344CB8AC3E}">
        <p14:creationId xmlns:p14="http://schemas.microsoft.com/office/powerpoint/2010/main" val="20511790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2BDD91B-AEC1-423F-A587-D551DD29E21F}"/>
              </a:ext>
            </a:extLst>
          </p:cNvPr>
          <p:cNvSpPr>
            <a:spLocks noGrp="1"/>
          </p:cNvSpPr>
          <p:nvPr/>
        </p:nvSpPr>
        <p:spPr>
          <a:xfrm>
            <a:off x="571500" y="409575"/>
            <a:ext cx="10953750" cy="762000"/>
          </a:xfrm>
          <a:prstGeom prst="rect">
            <a:avLst/>
          </a:prstGeom>
          <a:noFill/>
          <a:ln w="9525">
            <a:noFill/>
          </a:ln>
        </p:spPr>
        <p:txBody>
          <a:bodyPr>
            <a:noAutofit/>
          </a:bodyPr>
          <a:lstStyle/>
          <a:p>
            <a:pPr>
              <a:defRPr sz="3000" b="1">
                <a:solidFill>
                  <a:srgbClr val="12283B"/>
                </a:solidFill>
                <a:latin typeface="Arial"/>
                <a:ea typeface="Arial"/>
                <a:cs typeface="Arial"/>
              </a:defRPr>
            </a:pPr>
            <a:r>
              <a:rPr sz="3000" b="1">
                <a:solidFill>
                  <a:srgbClr val="12283B"/>
                </a:solidFill>
                <a:latin typeface="Arial"/>
                <a:ea typeface="Arial"/>
                <a:cs typeface="Arial"/>
              </a:rPr>
              <a:t>Resources and next steps</a:t>
            </a:r>
          </a:p>
        </p:txBody>
      </p:sp>
      <p:sp>
        <p:nvSpPr>
          <p:cNvPr id="3" name="Rectangle 2">
            <a:extLst>
              <a:ext uri="{FF2B5EF4-FFF2-40B4-BE49-F238E27FC236}">
                <a16:creationId xmlns:a16="http://schemas.microsoft.com/office/drawing/2014/main" id="{FC5E71D9-49F0-4E4A-882A-93BDEC14107E}"/>
              </a:ext>
            </a:extLst>
          </p:cNvPr>
          <p:cNvSpPr>
            <a:spLocks noGrp="1"/>
          </p:cNvSpPr>
          <p:nvPr/>
        </p:nvSpPr>
        <p:spPr>
          <a:xfrm>
            <a:off x="11144250" y="6362700"/>
            <a:ext cx="571500" cy="238125"/>
          </a:xfrm>
          <a:prstGeom prst="rect">
            <a:avLst/>
          </a:prstGeom>
          <a:noFill/>
          <a:ln w="9525">
            <a:noFill/>
          </a:ln>
        </p:spPr>
        <p:txBody>
          <a:bodyPr>
            <a:noAutofit/>
          </a:bodyPr>
          <a:lstStyle/>
          <a:p>
            <a:pPr>
              <a:defRPr sz="1125" b="0">
                <a:solidFill>
                  <a:srgbClr val="4E6473"/>
                </a:solidFill>
                <a:latin typeface="Arial"/>
                <a:ea typeface="Arial"/>
                <a:cs typeface="Arial"/>
              </a:defRPr>
            </a:pPr>
            <a:r>
              <a:rPr sz="1125" b="0">
                <a:solidFill>
                  <a:srgbClr val="4E6473"/>
                </a:solidFill>
                <a:latin typeface="Arial"/>
                <a:ea typeface="Arial"/>
                <a:cs typeface="Arial"/>
              </a:rPr>
              <a:t>14</a:t>
            </a:r>
          </a:p>
        </p:txBody>
      </p:sp>
      <p:sp>
        <p:nvSpPr>
          <p:cNvPr id="4" name="Rectangle 3">
            <a:extLst>
              <a:ext uri="{FF2B5EF4-FFF2-40B4-BE49-F238E27FC236}">
                <a16:creationId xmlns:a16="http://schemas.microsoft.com/office/drawing/2014/main" id="{AD3397FB-E61E-4DE0-87D2-C0A2F39FA7BB}"/>
              </a:ext>
            </a:extLst>
          </p:cNvPr>
          <p:cNvSpPr>
            <a:spLocks noGrp="1"/>
          </p:cNvSpPr>
          <p:nvPr/>
        </p:nvSpPr>
        <p:spPr>
          <a:xfrm>
            <a:off x="619125" y="1366647"/>
            <a:ext cx="4286250" cy="428625"/>
          </a:xfrm>
          <a:prstGeom prst="rect">
            <a:avLst/>
          </a:prstGeom>
          <a:noFill/>
          <a:ln w="9525">
            <a:noFill/>
          </a:ln>
        </p:spPr>
        <p:txBody>
          <a:bodyPr>
            <a:noAutofit/>
          </a:bodyPr>
          <a:lstStyle/>
          <a:p>
            <a:pPr>
              <a:defRPr sz="2325" b="1">
                <a:solidFill>
                  <a:srgbClr val="007F82"/>
                </a:solidFill>
                <a:latin typeface="Arial"/>
                <a:ea typeface="Arial"/>
                <a:cs typeface="Arial"/>
              </a:defRPr>
            </a:pPr>
            <a:r>
              <a:rPr sz="2400" b="1" dirty="0">
                <a:solidFill>
                  <a:schemeClr val="tx1">
                    <a:lumMod val="95000"/>
                    <a:lumOff val="5000"/>
                  </a:schemeClr>
                </a:solidFill>
                <a:latin typeface="Arial"/>
                <a:ea typeface="Arial"/>
                <a:cs typeface="Arial"/>
              </a:rPr>
              <a:t>Resources</a:t>
            </a:r>
          </a:p>
        </p:txBody>
      </p:sp>
      <p:sp>
        <p:nvSpPr>
          <p:cNvPr id="5" name="Rectangle 4">
            <a:extLst>
              <a:ext uri="{FF2B5EF4-FFF2-40B4-BE49-F238E27FC236}">
                <a16:creationId xmlns:a16="http://schemas.microsoft.com/office/drawing/2014/main" id="{C5985960-6149-4F39-920A-9744D3B8C172}"/>
              </a:ext>
            </a:extLst>
          </p:cNvPr>
          <p:cNvSpPr>
            <a:spLocks noGrp="1"/>
          </p:cNvSpPr>
          <p:nvPr/>
        </p:nvSpPr>
        <p:spPr>
          <a:xfrm>
            <a:off x="619125" y="1925893"/>
            <a:ext cx="5238750" cy="1197270"/>
          </a:xfrm>
          <a:prstGeom prst="rect">
            <a:avLst/>
          </a:prstGeom>
          <a:noFill/>
          <a:ln w="9525">
            <a:noFill/>
          </a:ln>
        </p:spPr>
        <p:txBody>
          <a:bodyPr>
            <a:noAutofit/>
          </a:bodyPr>
          <a:lstStyle/>
          <a:p>
            <a:pPr>
              <a:defRPr sz="2025" b="0">
                <a:solidFill>
                  <a:srgbClr val="12283B"/>
                </a:solidFill>
                <a:latin typeface="Arial"/>
                <a:ea typeface="Arial"/>
                <a:cs typeface="Arial"/>
              </a:defRPr>
            </a:pPr>
            <a:r>
              <a:rPr sz="2025" b="0" dirty="0">
                <a:solidFill>
                  <a:srgbClr val="12283B"/>
                </a:solidFill>
                <a:latin typeface="Arial"/>
                <a:ea typeface="Arial"/>
                <a:cs typeface="Arial"/>
              </a:rPr>
              <a:t>Rulebook v0</a:t>
            </a:r>
          </a:p>
          <a:p>
            <a:pPr>
              <a:defRPr sz="2025" b="0">
                <a:solidFill>
                  <a:srgbClr val="12283B"/>
                </a:solidFill>
                <a:latin typeface="Arial"/>
                <a:ea typeface="Arial"/>
                <a:cs typeface="Arial"/>
              </a:defRPr>
            </a:pPr>
            <a:r>
              <a:rPr sz="2025" b="0" dirty="0">
                <a:solidFill>
                  <a:srgbClr val="12283B"/>
                </a:solidFill>
                <a:latin typeface="Arial"/>
                <a:ea typeface="Arial"/>
                <a:cs typeface="Arial"/>
              </a:rPr>
              <a:t>Robot Setup and Technical Tutorial</a:t>
            </a:r>
          </a:p>
          <a:p>
            <a:pPr>
              <a:defRPr sz="2025" b="0">
                <a:solidFill>
                  <a:srgbClr val="12283B"/>
                </a:solidFill>
                <a:latin typeface="Arial"/>
                <a:ea typeface="Arial"/>
                <a:cs typeface="Arial"/>
              </a:defRPr>
            </a:pPr>
            <a:r>
              <a:rPr sz="2025" b="0" dirty="0">
                <a:solidFill>
                  <a:srgbClr val="12283B"/>
                </a:solidFill>
                <a:latin typeface="Arial"/>
                <a:ea typeface="Arial"/>
                <a:cs typeface="Arial"/>
              </a:rPr>
              <a:t>ROS 2 workspace and Gazebo resources</a:t>
            </a:r>
          </a:p>
        </p:txBody>
      </p:sp>
      <p:sp>
        <p:nvSpPr>
          <p:cNvPr id="7" name="Rectangle 6">
            <a:extLst>
              <a:ext uri="{FF2B5EF4-FFF2-40B4-BE49-F238E27FC236}">
                <a16:creationId xmlns:a16="http://schemas.microsoft.com/office/drawing/2014/main" id="{C6FD7408-3E80-4A09-A8CA-7505AA69F427}"/>
              </a:ext>
            </a:extLst>
          </p:cNvPr>
          <p:cNvSpPr>
            <a:spLocks noGrp="1"/>
          </p:cNvSpPr>
          <p:nvPr/>
        </p:nvSpPr>
        <p:spPr>
          <a:xfrm>
            <a:off x="619125" y="3298228"/>
            <a:ext cx="4762500" cy="428625"/>
          </a:xfrm>
          <a:prstGeom prst="rect">
            <a:avLst/>
          </a:prstGeom>
          <a:noFill/>
          <a:ln w="9525">
            <a:noFill/>
          </a:ln>
        </p:spPr>
        <p:txBody>
          <a:bodyPr>
            <a:noAutofit/>
          </a:bodyPr>
          <a:lstStyle/>
          <a:p>
            <a:pPr>
              <a:defRPr sz="2325" b="1">
                <a:solidFill>
                  <a:srgbClr val="007F82"/>
                </a:solidFill>
                <a:latin typeface="Arial"/>
                <a:ea typeface="Arial"/>
                <a:cs typeface="Arial"/>
              </a:defRPr>
            </a:pPr>
            <a:r>
              <a:rPr sz="2325" b="1" dirty="0">
                <a:solidFill>
                  <a:schemeClr val="tx1">
                    <a:lumMod val="95000"/>
                    <a:lumOff val="5000"/>
                  </a:schemeClr>
                </a:solidFill>
                <a:latin typeface="Arial"/>
                <a:ea typeface="Arial"/>
                <a:cs typeface="Arial"/>
              </a:rPr>
              <a:t>After this meeting</a:t>
            </a:r>
          </a:p>
        </p:txBody>
      </p:sp>
      <p:sp>
        <p:nvSpPr>
          <p:cNvPr id="8" name="Rectangle 7">
            <a:extLst>
              <a:ext uri="{FF2B5EF4-FFF2-40B4-BE49-F238E27FC236}">
                <a16:creationId xmlns:a16="http://schemas.microsoft.com/office/drawing/2014/main" id="{A4158667-3DFF-4E68-A0DE-CFE552F03CD8}"/>
              </a:ext>
            </a:extLst>
          </p:cNvPr>
          <p:cNvSpPr>
            <a:spLocks noGrp="1"/>
          </p:cNvSpPr>
          <p:nvPr/>
        </p:nvSpPr>
        <p:spPr>
          <a:xfrm>
            <a:off x="619124" y="3886200"/>
            <a:ext cx="4973601" cy="1550581"/>
          </a:xfrm>
          <a:prstGeom prst="rect">
            <a:avLst/>
          </a:prstGeom>
          <a:noFill/>
          <a:ln w="9525">
            <a:noFill/>
          </a:ln>
        </p:spPr>
        <p:txBody>
          <a:bodyPr>
            <a:noAutofit/>
          </a:bodyPr>
          <a:lstStyle/>
          <a:p>
            <a:pPr>
              <a:defRPr sz="1950" b="0">
                <a:solidFill>
                  <a:srgbClr val="12283B"/>
                </a:solidFill>
                <a:latin typeface="Arial"/>
                <a:ea typeface="Arial"/>
                <a:cs typeface="Arial"/>
              </a:defRPr>
            </a:pPr>
            <a:r>
              <a:rPr sz="1950" b="0" dirty="0">
                <a:solidFill>
                  <a:srgbClr val="12283B"/>
                </a:solidFill>
                <a:latin typeface="Arial"/>
                <a:ea typeface="Arial"/>
                <a:cs typeface="Arial"/>
              </a:rPr>
              <a:t>1   Set up and run the simulation</a:t>
            </a:r>
          </a:p>
          <a:p>
            <a:pPr>
              <a:defRPr sz="1950" b="0">
                <a:solidFill>
                  <a:srgbClr val="12283B"/>
                </a:solidFill>
                <a:latin typeface="Arial"/>
                <a:ea typeface="Arial"/>
                <a:cs typeface="Arial"/>
              </a:defRPr>
            </a:pPr>
            <a:r>
              <a:rPr sz="1950" b="0" dirty="0">
                <a:solidFill>
                  <a:srgbClr val="12283B"/>
                </a:solidFill>
                <a:latin typeface="Arial"/>
                <a:ea typeface="Arial"/>
                <a:cs typeface="Arial"/>
              </a:rPr>
              <a:t>2   Check interfaces and SLAM</a:t>
            </a:r>
          </a:p>
          <a:p>
            <a:pPr>
              <a:defRPr sz="1950" b="0">
                <a:solidFill>
                  <a:srgbClr val="12283B"/>
                </a:solidFill>
                <a:latin typeface="Arial"/>
                <a:ea typeface="Arial"/>
                <a:cs typeface="Arial"/>
              </a:defRPr>
            </a:pPr>
            <a:r>
              <a:rPr sz="1950" b="0" dirty="0">
                <a:solidFill>
                  <a:srgbClr val="12283B"/>
                </a:solidFill>
                <a:latin typeface="Arial"/>
                <a:ea typeface="Arial"/>
                <a:cs typeface="Arial"/>
              </a:rPr>
              <a:t>3   Implement autonomous exploration</a:t>
            </a:r>
          </a:p>
          <a:p>
            <a:pPr>
              <a:defRPr sz="1950" b="0">
                <a:solidFill>
                  <a:srgbClr val="12283B"/>
                </a:solidFill>
                <a:latin typeface="Arial"/>
                <a:ea typeface="Arial"/>
                <a:cs typeface="Arial"/>
              </a:defRPr>
            </a:pPr>
            <a:r>
              <a:rPr sz="1950" b="0" dirty="0">
                <a:solidFill>
                  <a:srgbClr val="12283B"/>
                </a:solidFill>
                <a:latin typeface="Arial"/>
                <a:ea typeface="Arial"/>
                <a:cs typeface="Arial"/>
              </a:rPr>
              <a:t>4   Assign team responsibilities</a:t>
            </a:r>
          </a:p>
        </p:txBody>
      </p:sp>
      <p:sp>
        <p:nvSpPr>
          <p:cNvPr id="9" name="Rectangle 8">
            <a:extLst>
              <a:ext uri="{FF2B5EF4-FFF2-40B4-BE49-F238E27FC236}">
                <a16:creationId xmlns:a16="http://schemas.microsoft.com/office/drawing/2014/main" id="{5C29B9C3-A936-4AB6-8069-CBD371860018}"/>
              </a:ext>
            </a:extLst>
          </p:cNvPr>
          <p:cNvSpPr>
            <a:spLocks noGrp="1"/>
          </p:cNvSpPr>
          <p:nvPr/>
        </p:nvSpPr>
        <p:spPr>
          <a:xfrm>
            <a:off x="6721105" y="2979038"/>
            <a:ext cx="5030308" cy="571500"/>
          </a:xfrm>
          <a:prstGeom prst="rect">
            <a:avLst/>
          </a:prstGeom>
          <a:noFill/>
          <a:ln w="9525">
            <a:noFill/>
          </a:ln>
        </p:spPr>
        <p:txBody>
          <a:bodyPr>
            <a:noAutofit/>
          </a:bodyPr>
          <a:lstStyle/>
          <a:p>
            <a:pPr>
              <a:defRPr sz="2775" b="1">
                <a:solidFill>
                  <a:srgbClr val="12283B"/>
                </a:solidFill>
                <a:latin typeface="Arial"/>
                <a:ea typeface="Arial"/>
                <a:cs typeface="Arial"/>
              </a:defRPr>
            </a:pPr>
            <a:r>
              <a:rPr sz="2775" b="1" dirty="0">
                <a:solidFill>
                  <a:srgbClr val="12283B"/>
                </a:solidFill>
                <a:latin typeface="Arial"/>
                <a:ea typeface="Arial"/>
                <a:cs typeface="Arial"/>
              </a:rPr>
              <a:t>Questions and discussion</a:t>
            </a:r>
          </a:p>
        </p:txBody>
      </p:sp>
      <p:sp>
        <p:nvSpPr>
          <p:cNvPr id="12" name="Shape 2">
            <a:extLst>
              <a:ext uri="{FF2B5EF4-FFF2-40B4-BE49-F238E27FC236}">
                <a16:creationId xmlns:a16="http://schemas.microsoft.com/office/drawing/2014/main" id="{855BB31E-55EF-5AFF-38AE-B7F8AF942370}"/>
              </a:ext>
            </a:extLst>
          </p:cNvPr>
          <p:cNvSpPr/>
          <p:nvPr/>
        </p:nvSpPr>
        <p:spPr>
          <a:xfrm>
            <a:off x="502920" y="1033272"/>
            <a:ext cx="11155680" cy="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Tree>
    <p:extLst>
      <p:ext uri="{BB962C8B-B14F-4D97-AF65-F5344CB8AC3E}">
        <p14:creationId xmlns:p14="http://schemas.microsoft.com/office/powerpoint/2010/main" val="138774309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851</TotalTime>
  <Words>5995</Words>
  <Application>Microsoft Office PowerPoint</Application>
  <DocSecurity>0</DocSecurity>
  <PresentationFormat>Widescreen</PresentationFormat>
  <Paragraphs>375</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Calibri</vt:lpstr>
      <vt:lpstr>Wingdings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Jingwei DONG</cp:lastModifiedBy>
  <cp:revision>171</cp:revision>
  <dcterms:created xsi:type="dcterms:W3CDTF">2026-10-05T11:04:31Z</dcterms:created>
  <dcterms:modified xsi:type="dcterms:W3CDTF">2026-10-07T12:26:11Z</dcterms:modified>
</cp:coreProperties>
</file>